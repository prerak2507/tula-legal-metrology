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tula-legal-metrology.vercel.app" TargetMode="External"/><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lmdca.gujarat.gov.in/clmdca/documents/the-legal-metrology-act-2009.pdf" TargetMode="External"/><Relationship Id="rId5" Type="http://schemas.openxmlformats.org/officeDocument/2006/relationships/hyperlink" Target="https://weightnmeasures.delhi.gov.in/sites/default/files/inline-files/delhi_legal_metrology_enforcement_rules_2011_english.pdf" TargetMode="External"/><Relationship Id="rId6" Type="http://schemas.openxmlformats.org/officeDocument/2006/relationships/hyperlink" Target="https://lmdca.gujarat.gov.in/en/fee-structure" TargetMode="External"/><Relationship Id="rId7" Type="http://schemas.openxmlformats.org/officeDocument/2006/relationships/hyperlink" Target="https://weightnmeasures.delhi.gov.in/sites/default/files/inline-files/w_m_manual_17-faqs.pdf" TargetMode="External"/><Relationship Id="rId8" Type="http://schemas.openxmlformats.org/officeDocument/2006/relationships/hyperlink" Target="https://lm.doca.gov.in/modelapproval/Certificates.aspx" TargetMode="External"/><Relationship Id="rId9" Type="http://schemas.openxmlformats.org/officeDocument/2006/relationships/hyperlink" Target="https://www.oiml.org/en/files/pdf_r/r076-1-e06.pdf" TargetMode="External"/><Relationship Id="rId10" Type="http://schemas.openxmlformats.org/officeDocument/2006/relationships/hyperlink" Target="https://www.oiml.org/en/files/pdf_r/r117-1-e19.pdf" TargetMode="External"/><Relationship Id="rId11" Type="http://schemas.openxmlformats.org/officeDocument/2006/relationships/hyperlink" Target="https://tula-legal-metrology.vercel.app/sources" TargetMode="External"/><Relationship Id="rId12" Type="http://schemas.openxmlformats.org/officeDocument/2006/relationships/image" Target="../media/image10.png"/><Relationship Id="rId13" Type="http://schemas.openxmlformats.org/officeDocument/2006/relationships/hyperlink" Target="https://tula-legal-metrology.vercel.app/verify/DL%2FLM%2F2026%2F08913" TargetMode="External"/><Relationship Id="rId14"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30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200" b="1" i="0">
                <a:solidFill>
                  <a:srgbClr val="1E7B4A"/>
                </a:solidFill>
                <a:latin typeface="Calibri"/>
              </a:rPr>
              <a:t>Live prototype: </a:t>
            </a:r>
            <a:r>
              <a:rPr sz="1200" b="0" i="0" u="sng">
                <a:solidFill>
                  <a:srgbClr val="1E7B4A"/>
                </a:solidFill>
                <a:latin typeface="Calibri"/>
                <a:hlinkClick r:id="rId4"/>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0" i="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3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50" b="1" i="0">
                <a:solidFill>
                  <a:srgbClr val="1F3F6E"/>
                </a:solidFill>
                <a:latin typeface="Calibri"/>
              </a:rPr>
              <a:t>A live web + mobile platform: every instrument gets a permanent Digital ID, </a:t>
            </a:r>
            <a:r>
              <a:rPr sz="125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3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3F6E"/>
                </a:solidFill>
                <a:latin typeface="Calibri"/>
              </a:rPr>
              <a:t>Register</a:t>
            </a:r>
          </a:p>
          <a:p>
            <a:pPr algn="ctr"/>
            <a:r>
              <a:rPr sz="10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3F6E"/>
                </a:solidFill>
                <a:latin typeface="Calibri"/>
              </a:rPr>
              <a:t>Apply</a:t>
            </a:r>
          </a:p>
          <a:p>
            <a:pPr algn="ctr"/>
            <a:r>
              <a:rPr sz="100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6B3FA0"/>
                </a:solidFill>
                <a:latin typeface="Calibri"/>
              </a:rPr>
              <a:t>Scrutiny</a:t>
            </a:r>
          </a:p>
          <a:p>
            <a:pPr algn="ctr"/>
            <a:r>
              <a:rPr sz="100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3F6E"/>
                </a:solidFill>
                <a:latin typeface="Calibri"/>
              </a:rPr>
              <a:t>Assign</a:t>
            </a:r>
          </a:p>
          <a:p>
            <a:pPr algn="ctr"/>
            <a:r>
              <a:rPr sz="10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3F6E"/>
                </a:solidFill>
                <a:latin typeface="Calibri"/>
              </a:rPr>
              <a:t>Inspect</a:t>
            </a:r>
          </a:p>
          <a:p>
            <a:pPr algn="ctr"/>
            <a:r>
              <a:rPr sz="10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D9661F"/>
                </a:solidFill>
                <a:latin typeface="Calibri"/>
              </a:rPr>
              <a:t>Decide</a:t>
            </a:r>
          </a:p>
          <a:p>
            <a:pPr algn="ctr"/>
            <a:r>
              <a:rPr sz="10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E7B4A"/>
                </a:solidFill>
                <a:latin typeface="Calibri"/>
              </a:rPr>
              <a:t>Certificate</a:t>
            </a:r>
          </a:p>
          <a:p>
            <a:pPr algn="ctr"/>
            <a:r>
              <a:rPr sz="10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E7B4A"/>
                </a:solidFill>
                <a:latin typeface="Calibri"/>
              </a:rPr>
              <a:t>Verify</a:t>
            </a:r>
          </a:p>
          <a:p>
            <a:pPr algn="ctr"/>
            <a:r>
              <a:rPr sz="10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1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100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3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150" b="0" i="0">
                <a:solidFill>
                  <a:srgbClr val="5B6573"/>
                </a:solidFill>
                <a:latin typeface="Calibri"/>
              </a:rPr>
              <a:t>Paper records in isolated systems</a:t>
            </a:r>
          </a:p>
          <a:p>
            <a:pPr algn="l"/>
            <a:r>
              <a:rPr sz="12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150" b="0" i="0">
                <a:solidFill>
                  <a:srgbClr val="5B6573"/>
                </a:solidFill>
                <a:latin typeface="Calibri"/>
              </a:rPr>
              <a:t>Manual scheduling, pendency</a:t>
            </a:r>
          </a:p>
          <a:p>
            <a:pPr algn="l"/>
            <a:r>
              <a:rPr sz="12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150" b="0" i="0">
                <a:solidFill>
                  <a:srgbClr val="5B6573"/>
                </a:solidFill>
                <a:latin typeface="Calibri"/>
              </a:rPr>
              <a:t>Fake or copied certificates</a:t>
            </a:r>
          </a:p>
          <a:p>
            <a:pPr algn="l"/>
            <a:r>
              <a:rPr sz="12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150" b="0" i="0">
                <a:solidFill>
                  <a:srgbClr val="5B6573"/>
                </a:solidFill>
                <a:latin typeface="Calibri"/>
              </a:rPr>
              <a:t>Missed re-verification dates</a:t>
            </a:r>
          </a:p>
          <a:p>
            <a:pPr algn="l"/>
            <a:r>
              <a:rPr sz="12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3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50" b="1" i="0">
                <a:solidFill>
                  <a:srgbClr val="FFFFFF"/>
                </a:solidFill>
                <a:latin typeface="Calibri"/>
              </a:rPr>
              <a:t>Unfakeable QR</a:t>
            </a:r>
          </a:p>
          <a:p>
            <a:pPr algn="l"/>
            <a:r>
              <a:rPr sz="10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50" b="1" i="0">
                <a:solidFill>
                  <a:srgbClr val="FFFFFF"/>
                </a:solidFill>
                <a:latin typeface="Calibri"/>
              </a:rPr>
              <a:t>Offline field app</a:t>
            </a:r>
          </a:p>
          <a:p>
            <a:pPr algn="l"/>
            <a:r>
              <a:rPr sz="10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50" b="1" i="0">
                <a:solidFill>
                  <a:srgbClr val="FFFFFF"/>
                </a:solidFill>
                <a:latin typeface="Calibri"/>
              </a:rPr>
              <a:t>Computed verdict</a:t>
            </a:r>
          </a:p>
          <a:p>
            <a:pPr algn="l"/>
            <a:r>
              <a:rPr sz="10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50" b="1" i="0">
                <a:solidFill>
                  <a:srgbClr val="FFFFFF"/>
                </a:solidFill>
                <a:latin typeface="Calibri"/>
              </a:rPr>
              <a:t>Multi-State by design</a:t>
            </a:r>
          </a:p>
          <a:p>
            <a:pPr algn="l"/>
            <a:r>
              <a:rPr sz="10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50" b="1" i="0">
                <a:solidFill>
                  <a:srgbClr val="FFFFFF"/>
                </a:solidFill>
                <a:latin typeface="Calibri"/>
              </a:rPr>
              <a:t>AI copilot, human decides</a:t>
            </a:r>
          </a:p>
          <a:p>
            <a:pPr algn="l"/>
            <a:r>
              <a:rPr sz="10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0" i="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3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Trader</a:t>
            </a:r>
          </a:p>
          <a:p>
            <a:pPr algn="ctr"/>
            <a:r>
              <a:rPr sz="95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LMO / GATC</a:t>
            </a:r>
          </a:p>
          <a:p>
            <a:pPr algn="ctr"/>
            <a:r>
              <a:rPr sz="95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Controller</a:t>
            </a:r>
          </a:p>
          <a:p>
            <a:pPr algn="ctr"/>
            <a:r>
              <a:rPr sz="95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State admin</a:t>
            </a:r>
          </a:p>
          <a:p>
            <a:pPr algn="ctr"/>
            <a:r>
              <a:rPr sz="95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Citizen</a:t>
            </a:r>
          </a:p>
          <a:p>
            <a:pPr algn="ctr"/>
            <a:r>
              <a:rPr sz="95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3F6E"/>
                </a:solidFill>
                <a:latin typeface="Calibri"/>
              </a:rPr>
              <a:t>React PWA on Vercel</a:t>
            </a:r>
            <a:r>
              <a:rPr sz="10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6B3FA0"/>
                </a:solidFill>
                <a:latin typeface="Calibri"/>
              </a:rPr>
              <a:t>Vercel functions (keys stay here)</a:t>
            </a:r>
          </a:p>
          <a:p>
            <a:pPr algn="ctr"/>
            <a:r>
              <a:rPr sz="1000" b="0" i="0">
                <a:solidFill>
                  <a:srgbClr val="1F2937"/>
                </a:solidFill>
                <a:latin typeface="Calibri"/>
              </a:rPr>
              <a:t>/api/sign  ECDSA private key, checks officer</a:t>
            </a:r>
          </a:p>
          <a:p>
            <a:pPr algn="ctr"/>
            <a:r>
              <a:rPr sz="100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E7B4A"/>
                </a:solidFill>
                <a:latin typeface="Calibri"/>
              </a:rPr>
              <a:t>Supabase</a:t>
            </a:r>
          </a:p>
          <a:p>
            <a:pPr algn="ctr"/>
            <a:r>
              <a:rPr sz="1000" b="0" i="0">
                <a:solidFill>
                  <a:srgbClr val="1F2937"/>
                </a:solidFill>
                <a:latin typeface="Calibri"/>
              </a:rPr>
              <a:t>Auth · row-level security · realtime</a:t>
            </a:r>
          </a:p>
          <a:p>
            <a:pPr algn="ctr"/>
            <a:r>
              <a:rPr sz="100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F3F6E"/>
                </a:solidFill>
                <a:latin typeface="Calibri"/>
              </a:rPr>
              <a:t>Postgres</a:t>
            </a:r>
          </a:p>
          <a:p>
            <a:pPr algn="ctr"/>
            <a:r>
              <a:rPr sz="95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F3F6E"/>
                </a:solidFill>
                <a:latin typeface="Calibri"/>
              </a:rPr>
              <a:t>Append-only audit log</a:t>
            </a:r>
          </a:p>
          <a:p>
            <a:pPr algn="ctr"/>
            <a:r>
              <a:rPr sz="95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F3F6E"/>
                </a:solidFill>
                <a:latin typeface="Calibri"/>
              </a:rPr>
              <a:t>Rules per State</a:t>
            </a:r>
          </a:p>
          <a:p>
            <a:pPr algn="ctr"/>
            <a:r>
              <a:rPr sz="95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2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Officer passes</a:t>
            </a:r>
          </a:p>
          <a:p>
            <a:pPr algn="ctr"/>
            <a:r>
              <a:rPr sz="90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Server checks</a:t>
            </a:r>
          </a:p>
          <a:p>
            <a:pPr algn="ctr"/>
            <a:r>
              <a:rPr sz="90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Signs</a:t>
            </a:r>
          </a:p>
          <a:p>
            <a:pPr algn="ctr"/>
            <a:r>
              <a:rPr sz="90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QR carries</a:t>
            </a:r>
          </a:p>
          <a:p>
            <a:pPr algn="ctr"/>
            <a:r>
              <a:rPr sz="90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Any phone checks</a:t>
            </a:r>
          </a:p>
          <a:p>
            <a:pPr algn="ctr"/>
            <a:r>
              <a:rPr sz="90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1E7B4A"/>
                </a:solidFill>
                <a:latin typeface="Calibri"/>
              </a:rPr>
              <a:t>Result</a:t>
            </a:r>
          </a:p>
          <a:p>
            <a:pPr algn="ctr"/>
            <a:r>
              <a:rPr sz="90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2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No network</a:t>
            </a:r>
          </a:p>
          <a:p>
            <a:pPr algn="ctr"/>
            <a:r>
              <a:rPr sz="90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Inspect</a:t>
            </a:r>
          </a:p>
          <a:p>
            <a:pPr algn="ctr"/>
            <a:r>
              <a:rPr sz="90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Save</a:t>
            </a:r>
          </a:p>
          <a:p>
            <a:pPr algn="ctr"/>
            <a:r>
              <a:rPr sz="90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Back online</a:t>
            </a:r>
          </a:p>
          <a:p>
            <a:pPr algn="ctr"/>
            <a:r>
              <a:rPr sz="90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Certificate</a:t>
            </a:r>
          </a:p>
          <a:p>
            <a:pPr algn="ctr"/>
            <a:r>
              <a:rPr sz="90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D9661F"/>
                </a:solidFill>
                <a:latin typeface="Calibri"/>
              </a:rPr>
              <a:t>Owner told</a:t>
            </a:r>
          </a:p>
          <a:p>
            <a:pPr algn="ctr"/>
            <a:r>
              <a:rPr sz="90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30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1F3F6E"/>
                </a:solidFill>
                <a:latin typeface="Calibri"/>
              </a:rPr>
              <a:t>React 19 · TypeScript · Vite · Tailwind</a:t>
            </a:r>
            <a:r>
              <a:rPr sz="90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1F3F6E"/>
                </a:solidFill>
                <a:latin typeface="Calibri"/>
              </a:rPr>
              <a:t>Service worker · local store · sync queue</a:t>
            </a:r>
            <a:r>
              <a:rPr sz="90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1F3F6E"/>
                </a:solidFill>
                <a:latin typeface="Calibri"/>
              </a:rPr>
              <a:t>Supabase Postgres · RLS · Auth · Realtime</a:t>
            </a:r>
            <a:r>
              <a:rPr sz="90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1F3F6E"/>
                </a:solidFill>
                <a:latin typeface="Calibri"/>
              </a:rPr>
              <a:t>Vercel functions · ECDSA P-256 · jsQR</a:t>
            </a:r>
            <a:r>
              <a:rPr sz="900" b="0" i="0">
                <a:solidFill>
                  <a:srgbClr val="5B6573"/>
                </a:solidFill>
                <a:latin typeface="Calibri"/>
              </a:rPr>
              <a:t>  server signs, phone checks</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6B3FA0"/>
                </a:solidFill>
                <a:latin typeface="Calibri"/>
              </a:rPr>
              <a:t>Google Gemini (Flash)</a:t>
            </a:r>
            <a:r>
              <a:rPr sz="90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00" b="1" i="0">
                <a:solidFill>
                  <a:srgbClr val="1F3F6E"/>
                </a:solidFill>
                <a:latin typeface="Calibri"/>
              </a:rPr>
              <a:t>Resend · Twilio · jsPDF</a:t>
            </a:r>
            <a:r>
              <a:rPr sz="90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300" b="1" i="0">
                <a:solidFill>
                  <a:srgbClr val="1F3F6E"/>
                </a:solidFill>
                <a:latin typeface="Calibri"/>
              </a:rPr>
              <a:t>ON A PHONE, FROM THE LIVE PROTOTYPE</a:t>
            </a:r>
          </a:p>
        </p:txBody>
      </p:sp>
      <p:pic>
        <p:nvPicPr>
          <p:cNvPr id="17466" name="Picture 17465" descr="shot7_verify.jpg"/>
          <p:cNvPicPr>
            <a:picLocks noChangeAspect="1"/>
          </p:cNvPicPr>
          <p:nvPr/>
        </p:nvPicPr>
        <p:blipFill>
          <a:blip r:embed="rId4"/>
          <a:srcRect b="4398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950" b="1" i="0">
                <a:solidFill>
                  <a:srgbClr val="1F2937"/>
                </a:solidFill>
                <a:latin typeface="Calibri"/>
              </a:rPr>
              <a:t>Edited copy: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950" b="1" i="0">
                <a:solidFill>
                  <a:srgbClr val="1F2937"/>
                </a:solidFill>
                <a:latin typeface="Calibri"/>
              </a:rPr>
              <a:t>Over the limit: flagged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0" i="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3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2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D9661F"/>
                </a:solidFill>
                <a:latin typeface="Calibri"/>
              </a:rPr>
              <a:t>1 · Field trial</a:t>
            </a:r>
          </a:p>
          <a:p>
            <a:pPr algn="l"/>
            <a:r>
              <a:rPr sz="95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D9661F"/>
                </a:solidFill>
                <a:latin typeface="Calibri"/>
              </a:rPr>
              <a:t>2 · District pilot</a:t>
            </a:r>
          </a:p>
          <a:p>
            <a:pPr algn="l"/>
            <a:r>
              <a:rPr sz="95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D9661F"/>
                </a:solidFill>
                <a:latin typeface="Calibri"/>
              </a:rPr>
              <a:t>3 · State rollout</a:t>
            </a:r>
          </a:p>
          <a:p>
            <a:pPr algn="l"/>
            <a:r>
              <a:rPr sz="95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D9661F"/>
                </a:solidFill>
                <a:latin typeface="Calibri"/>
              </a:rPr>
              <a:t>4 · Multi-State</a:t>
            </a:r>
          </a:p>
          <a:p>
            <a:pPr algn="l"/>
            <a:r>
              <a:rPr sz="95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E7B4A"/>
                </a:solidFill>
                <a:latin typeface="Calibri"/>
              </a:rPr>
              <a:t>Grow in the market</a:t>
            </a:r>
          </a:p>
          <a:p>
            <a:pPr algn="l"/>
            <a:r>
              <a:rPr sz="90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E7B4A"/>
                </a:solidFill>
                <a:latin typeface="Calibri"/>
              </a:rPr>
              <a:t>Survive</a:t>
            </a:r>
          </a:p>
          <a:p>
            <a:pPr algn="l"/>
            <a:r>
              <a:rPr sz="900" b="0" i="0">
                <a:solidFill>
                  <a:srgbClr val="1F2937"/>
                </a:solidFill>
                <a:latin typeface="Calibri"/>
              </a:rPr>
              <a:t>No licence fee; pay-per-use cloud whose cost fits in the service charge States already add. No lock-in: public code, standard Postgres, moves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anchor="t" lIns="0" rIns="0" tIns="0" bIns="0">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anchor="t" lIns="0" rIns="0" tIns="0" bIns="0">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Row-level security, minimal public fields</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1" i="0">
                <a:solidFill>
                  <a:srgbClr val="D9661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00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1" name="Picture 17470" descr="image.png">
            <a:hlinkClick r:id="rId5"/>
          </p:cNvPr>
          <p:cNvPicPr>
            <a:picLocks noChangeAspect="1"/>
          </p:cNvPicPr>
          <p:nvPr/>
        </p:nvPicPr>
        <p:blipFill>
          <a:blip r:embed="rId4"/>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50" b="1" i="0">
                <a:solidFill>
                  <a:srgbClr val="1F3F6E"/>
                </a:solidFill>
                <a:latin typeface="Calibri"/>
              </a:rPr>
              <a:t>Complete live demo</a:t>
            </a:r>
          </a:p>
          <a:p>
            <a:pPr algn="l">
              <a:spcAft>
                <a:spcPts val="300"/>
              </a:spcAft>
            </a:pPr>
            <a:r>
              <a:rPr sz="10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050" b="1" i="0">
                <a:solidFill>
                  <a:srgbClr val="1F2937"/>
                </a:solidFill>
                <a:latin typeface="Calibri"/>
              </a:rPr>
              <a:t>Evaluator password: TulaDemo@2026</a:t>
            </a:r>
          </a:p>
          <a:p>
            <a:pPr algn="l">
              <a:spcAft>
                <a:spcPts val="300"/>
              </a:spcAft>
            </a:pPr>
            <a:r>
              <a:rPr sz="1100" b="1" i="0" u="sng">
                <a:solidFill>
                  <a:srgbClr val="0070C0"/>
                </a:solidFill>
                <a:latin typeface="Calibri"/>
                <a:hlinkClick r:id="rId5"/>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0" i="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3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100" b="0" i="0">
                <a:solidFill>
                  <a:srgbClr val="1F2937"/>
                </a:solidFill>
                <a:latin typeface="Calibri"/>
              </a:rPr>
              <a:t>•  Jobs on the phone, even offline</a:t>
            </a:r>
          </a:p>
          <a:p>
            <a:pPr algn="l">
              <a:spcAft>
                <a:spcPts val="200"/>
              </a:spcAft>
            </a:pPr>
            <a:r>
              <a:rPr sz="1100" b="0" i="0">
                <a:solidFill>
                  <a:srgbClr val="1F2937"/>
                </a:solidFill>
                <a:latin typeface="Calibri"/>
              </a:rPr>
              <a:t>•  Pass / fail calculated for them</a:t>
            </a:r>
          </a:p>
          <a:p>
            <a:pPr algn="l">
              <a:spcAft>
                <a:spcPts val="200"/>
              </a:spcAft>
            </a:pPr>
            <a:r>
              <a:rPr sz="11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100" b="0" i="0">
                <a:solidFill>
                  <a:srgbClr val="1F2937"/>
                </a:solidFill>
                <a:latin typeface="Calibri"/>
              </a:rPr>
              <a:t>•  Apply and pay without a visit</a:t>
            </a:r>
          </a:p>
          <a:p>
            <a:pPr algn="l">
              <a:spcAft>
                <a:spcPts val="200"/>
              </a:spcAft>
            </a:pPr>
            <a:r>
              <a:rPr sz="1100" b="0" i="0">
                <a:solidFill>
                  <a:srgbClr val="1F2937"/>
                </a:solidFill>
                <a:latin typeface="Calibri"/>
              </a:rPr>
              <a:t>•  SMS / email at every step</a:t>
            </a:r>
          </a:p>
          <a:p>
            <a:pPr algn="l">
              <a:spcAft>
                <a:spcPts val="200"/>
              </a:spcAft>
            </a:pPr>
            <a:r>
              <a:rPr sz="11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5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100" b="0" i="0">
                <a:solidFill>
                  <a:srgbClr val="1F2937"/>
                </a:solidFill>
                <a:latin typeface="Calibri"/>
              </a:rPr>
              <a:t>•  Scan any certificate QR</a:t>
            </a:r>
          </a:p>
          <a:p>
            <a:pPr algn="l">
              <a:spcAft>
                <a:spcPts val="200"/>
              </a:spcAft>
            </a:pPr>
            <a:r>
              <a:rPr sz="1100" b="0" i="0">
                <a:solidFill>
                  <a:srgbClr val="1F2937"/>
                </a:solidFill>
                <a:latin typeface="Calibri"/>
              </a:rPr>
              <a:t>•  Fakes and edits are rejected</a:t>
            </a:r>
          </a:p>
          <a:p>
            <a:pPr algn="l">
              <a:spcAft>
                <a:spcPts val="200"/>
              </a:spcAft>
            </a:pPr>
            <a:r>
              <a:rPr sz="11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100" b="0" i="0">
                <a:solidFill>
                  <a:srgbClr val="1F2937"/>
                </a:solidFill>
                <a:latin typeface="Calibri"/>
              </a:rPr>
              <a:t>•  Pending by stage, age, district</a:t>
            </a:r>
          </a:p>
          <a:p>
            <a:pPr algn="l">
              <a:spcAft>
                <a:spcPts val="200"/>
              </a:spcAft>
            </a:pPr>
            <a:r>
              <a:rPr sz="1100" b="0" i="0">
                <a:solidFill>
                  <a:srgbClr val="1F2937"/>
                </a:solidFill>
                <a:latin typeface="Calibri"/>
              </a:rPr>
              <a:t>•  Inspections due and overdue</a:t>
            </a:r>
          </a:p>
          <a:p>
            <a:pPr algn="l">
              <a:spcAft>
                <a:spcPts val="200"/>
              </a:spcAft>
            </a:pPr>
            <a:r>
              <a:rPr sz="11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3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10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10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10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10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3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10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10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10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10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3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0" i="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3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MPE limits come from OIML R 76 (scales) and R 117 (fuel dispensers).</a:t>
            </a:r>
          </a:p>
        </p:txBody>
      </p:sp>
      <p:cxnSp>
        <p:nvCxnSpPr>
          <p:cNvPr id="17431" name="Connector 17430"/>
          <p:cNvCxnSpPr/>
          <p:nvPr/>
        </p:nvCxnSpPr>
        <p:spPr>
          <a:xfrm>
            <a:off x="4059936" y="5065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Pass / fail computed from recorded readings,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103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8" name="TextBox 17437"/>
          <p:cNvSpPr txBox="1"/>
          <p:nvPr/>
        </p:nvSpPr>
        <p:spPr>
          <a:xfrm>
            <a:off x="7726680" y="1481328"/>
            <a:ext cx="3959352" cy="274320"/>
          </a:xfrm>
          <a:prstGeom prst="rect">
            <a:avLst/>
          </a:prstGeom>
          <a:noFill/>
        </p:spPr>
        <p:txBody>
          <a:bodyPr wrap="square" anchor="t" lIns="0" rIns="0" tIns="0" bIns="0">
            <a:spAutoFit/>
          </a:bodyPr>
          <a:lstStyle/>
          <a:p>
            <a:pPr algn="l"/>
            <a:r>
              <a:rPr sz="125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1000" b="1" i="0">
                <a:solidFill>
                  <a:srgbClr val="0070C0"/>
                </a:solidFill>
                <a:latin typeface="Calibri"/>
              </a:rPr>
              <a:t>1.  </a:t>
            </a:r>
            <a:r>
              <a:rPr sz="1000" b="0" i="0" u="sng">
                <a:solidFill>
                  <a:srgbClr val="1F3F6E"/>
                </a:solidFill>
                <a:latin typeface="Calibri"/>
                <a:hlinkClick r:id="rId4"/>
              </a:rPr>
              <a:t>Legal Metrology Act, 2009</a:t>
            </a:r>
          </a:p>
          <a:p>
            <a:pPr>
              <a:spcAft>
                <a:spcPts val="150"/>
              </a:spcAft>
            </a:pPr>
            <a:r>
              <a:rPr sz="1000" b="1" i="0">
                <a:solidFill>
                  <a:srgbClr val="0070C0"/>
                </a:solidFill>
                <a:latin typeface="Calibri"/>
              </a:rPr>
              <a:t>2.  </a:t>
            </a:r>
            <a:r>
              <a:rPr sz="1000" b="0" i="0" u="sng">
                <a:solidFill>
                  <a:srgbClr val="1F3F6E"/>
                </a:solidFill>
                <a:latin typeface="Calibri"/>
                <a:hlinkClick r:id="rId5"/>
              </a:rPr>
              <a:t>Delhi LM (Enforcement) Rules 2011: Sch. VIII, IX, XI</a:t>
            </a:r>
          </a:p>
          <a:p>
            <a:pPr>
              <a:spcAft>
                <a:spcPts val="150"/>
              </a:spcAft>
            </a:pPr>
            <a:r>
              <a:rPr sz="1000" b="1" i="0">
                <a:solidFill>
                  <a:srgbClr val="0070C0"/>
                </a:solidFill>
                <a:latin typeface="Calibri"/>
              </a:rPr>
              <a:t>3.  </a:t>
            </a:r>
            <a:r>
              <a:rPr sz="1000" b="0" i="0" u="sng">
                <a:solidFill>
                  <a:srgbClr val="1F3F6E"/>
                </a:solidFill>
                <a:latin typeface="Calibri"/>
                <a:hlinkClick r:id="rId6"/>
              </a:rPr>
              <a:t>Gujarat fee schedule (Schedule IX)</a:t>
            </a:r>
          </a:p>
          <a:p>
            <a:pPr>
              <a:spcAft>
                <a:spcPts val="150"/>
              </a:spcAft>
            </a:pPr>
            <a:r>
              <a:rPr sz="1000" b="1" i="0">
                <a:solidFill>
                  <a:srgbClr val="0070C0"/>
                </a:solidFill>
                <a:latin typeface="Calibri"/>
              </a:rPr>
              <a:t>4.  </a:t>
            </a:r>
            <a:r>
              <a:rPr sz="1000" b="0" i="0" u="sng">
                <a:solidFill>
                  <a:srgbClr val="1F3F6E"/>
                </a:solidFill>
                <a:latin typeface="Calibri"/>
                <a:hlinkClick r:id="rId7"/>
              </a:rPr>
              <a:t>Delhi W&amp;M FAQ: validity periods</a:t>
            </a:r>
          </a:p>
          <a:p>
            <a:pPr>
              <a:spcAft>
                <a:spcPts val="150"/>
              </a:spcAft>
            </a:pPr>
            <a:r>
              <a:rPr sz="1000" b="1" i="0">
                <a:solidFill>
                  <a:srgbClr val="0070C0"/>
                </a:solidFill>
                <a:latin typeface="Calibri"/>
              </a:rPr>
              <a:t>5.  </a:t>
            </a:r>
            <a:r>
              <a:rPr sz="1000" b="0" i="0" u="sng">
                <a:solidFill>
                  <a:srgbClr val="1F3F6E"/>
                </a:solidFill>
                <a:latin typeface="Calibri"/>
                <a:hlinkClick r:id="rId8"/>
              </a:rPr>
              <a:t>DoCA Model Approval register (10,050 entries)</a:t>
            </a:r>
          </a:p>
          <a:p>
            <a:pPr>
              <a:spcAft>
                <a:spcPts val="150"/>
              </a:spcAft>
            </a:pPr>
            <a:r>
              <a:rPr sz="1000" b="1" i="0">
                <a:solidFill>
                  <a:srgbClr val="0070C0"/>
                </a:solidFill>
                <a:latin typeface="Calibri"/>
              </a:rPr>
              <a:t>6.  </a:t>
            </a:r>
            <a:r>
              <a:rPr sz="1000" b="0" i="0" u="sng">
                <a:solidFill>
                  <a:srgbClr val="1F3F6E"/>
                </a:solidFill>
                <a:latin typeface="Calibri"/>
                <a:hlinkClick r:id="rId9"/>
              </a:rPr>
              <a:t>OIML R 76-1 (scales)</a:t>
            </a:r>
          </a:p>
          <a:p>
            <a:pPr>
              <a:spcAft>
                <a:spcPts val="150"/>
              </a:spcAft>
            </a:pPr>
            <a:r>
              <a:rPr sz="1000" b="1" i="0">
                <a:solidFill>
                  <a:srgbClr val="0070C0"/>
                </a:solidFill>
                <a:latin typeface="Calibri"/>
              </a:rPr>
              <a:t>7.  </a:t>
            </a:r>
            <a:r>
              <a:rPr sz="1000" b="0" i="0" u="sng">
                <a:solidFill>
                  <a:srgbClr val="1F3F6E"/>
                </a:solidFill>
                <a:latin typeface="Calibri"/>
                <a:hlinkClick r:id="rId10"/>
              </a:rPr>
              <a:t>OIML R 117-1 (fuel dispensers)</a:t>
            </a:r>
          </a:p>
          <a:p>
            <a:pPr>
              <a:spcAft>
                <a:spcPts val="150"/>
              </a:spcAft>
            </a:pPr>
            <a:r>
              <a:rPr sz="1000" b="1" i="0">
                <a:solidFill>
                  <a:srgbClr val="0070C0"/>
                </a:solidFill>
                <a:latin typeface="Calibri"/>
              </a:rPr>
              <a:t>8.  </a:t>
            </a:r>
            <a:r>
              <a:rPr sz="1000" b="0" i="0" u="sng">
                <a:solidFill>
                  <a:srgbClr val="1F3F6E"/>
                </a:solidFill>
                <a:latin typeface="Calibri"/>
                <a:hlinkClick r:id="rId11"/>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anchor="t" lIns="0" rIns="0" tIns="0" bIns="0">
            <a:spAutoFit/>
          </a:bodyPr>
          <a:lstStyle/>
          <a:p>
            <a:pPr algn="l"/>
            <a:r>
              <a:rPr sz="12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FFFFFF"/>
                </a:solidFill>
                <a:latin typeface="Calibri"/>
              </a:rPr>
              <a:t/>
            </a: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95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6" name="Picture 17465" descr="image.png">
            <a:hlinkClick r:id="rId13"/>
          </p:cNvPr>
          <p:cNvPicPr>
            <a:picLocks noChangeAspect="1"/>
          </p:cNvPicPr>
          <p:nvPr/>
        </p:nvPicPr>
        <p:blipFill>
          <a:blip r:embed="rId12"/>
          <a:stretch>
            <a:fillRect/>
          </a:stretch>
        </p:blipFill>
        <p:spPr>
          <a:xfrm>
            <a:off x="7680960" y="4965192"/>
            <a:ext cx="1188720" cy="1188720"/>
          </a:xfrm>
          <a:prstGeom prst="rect">
            <a:avLst/>
          </a:prstGeom>
        </p:spPr>
      </p:pic>
      <p:sp>
        <p:nvSpPr>
          <p:cNvPr id="17467" name="TextBox 17466"/>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50" b="1" i="0">
                <a:solidFill>
                  <a:srgbClr val="1E7B4A"/>
                </a:solidFill>
                <a:latin typeface="Calibri"/>
              </a:rPr>
              <a:t>Scan: a real certificate</a:t>
            </a:r>
          </a:p>
          <a:p>
            <a:pPr algn="l">
              <a:spcAft>
                <a:spcPts val="200"/>
              </a:spcAft>
            </a:pPr>
            <a:r>
              <a:rPr sz="1050" b="0" i="0">
                <a:solidFill>
                  <a:srgbClr val="1F2937"/>
                </a:solidFill>
                <a:latin typeface="Calibri"/>
              </a:rPr>
              <a:t>DL/LM/2026/08913, issued and signed on the live system on 30 Sep 2026. Your phone checks the signature.</a:t>
            </a:r>
          </a:p>
          <a:p>
            <a:pPr algn="l">
              <a:spcAft>
                <a:spcPts val="200"/>
              </a:spcAft>
            </a:pPr>
            <a:r>
              <a:rPr sz="1000" b="0" i="0">
                <a:solidFill>
                  <a:srgbClr val="5B6573"/>
                </a:solidFill>
                <a:latin typeface="Calibri"/>
              </a:rPr>
              <a:t>Code: </a:t>
            </a:r>
            <a:r>
              <a:rPr sz="1000" b="0" i="0" u="sng">
                <a:solidFill>
                  <a:srgbClr val="5B6573"/>
                </a:solidFill>
                <a:latin typeface="Calibri"/>
                <a:hlinkClick r:id="rId14"/>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