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no licence fee)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published rule; every reference is a clickable official document, checked on 1 Oct 2026.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tula-legal-metrology.vercel.app" TargetMode="External"/><Relationship Id="rId5"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hyperlink" Target="https://tula-legal-metrology.vercel.app/dem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lmdca.gujarat.gov.in/clmdca/documents/the-legal-metrology-act-2009.pdf" TargetMode="External"/><Relationship Id="rId5" Type="http://schemas.openxmlformats.org/officeDocument/2006/relationships/hyperlink" Target="https://weightnmeasures.delhi.gov.in/sites/default/files/inline-files/delhi_legal_metrology_enforcement_rules_2011_english.pdf" TargetMode="External"/><Relationship Id="rId6" Type="http://schemas.openxmlformats.org/officeDocument/2006/relationships/hyperlink" Target="https://lmdca.gujarat.gov.in/en/fee-structure" TargetMode="External"/><Relationship Id="rId7" Type="http://schemas.openxmlformats.org/officeDocument/2006/relationships/hyperlink" Target="https://weightnmeasures.delhi.gov.in/sites/default/files/inline-files/w_m_manual_17-faqs.pdf" TargetMode="External"/><Relationship Id="rId8" Type="http://schemas.openxmlformats.org/officeDocument/2006/relationships/hyperlink" Target="https://lm.doca.gov.in/modelapproval/Certificates.aspx" TargetMode="External"/><Relationship Id="rId9" Type="http://schemas.openxmlformats.org/officeDocument/2006/relationships/hyperlink" Target="https://www.oiml.org/en/files/pdf_r/r076-1-e06.pdf" TargetMode="External"/><Relationship Id="rId10" Type="http://schemas.openxmlformats.org/officeDocument/2006/relationships/hyperlink" Target="https://www.oiml.org/en/files/pdf_r/r117-1-e19.pdf" TargetMode="External"/><Relationship Id="rId11" Type="http://schemas.openxmlformats.org/officeDocument/2006/relationships/hyperlink" Target="https://tula-legal-metrology.vercel.app/sources" TargetMode="External"/><Relationship Id="rId12" Type="http://schemas.openxmlformats.org/officeDocument/2006/relationships/image" Target="../media/image10.png"/><Relationship Id="rId13" Type="http://schemas.openxmlformats.org/officeDocument/2006/relationships/hyperlink" Target="https://tula-legal-metrology.vercel.app/verify/DL%2FLM%2F2026%2F08913" TargetMode="External"/><Relationship Id="rId14" Type="http://schemas.openxmlformats.org/officeDocument/2006/relationships/hyperlink" Target="https://github.com/prerak2507/tula-legal-metrolo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sz="2600" b="1" i="0">
                <a:solidFill>
                  <a:srgbClr val="FFFFFF"/>
                </a:solidFill>
                <a:latin typeface="Calibri"/>
              </a:rPr>
              <a:t>TULA  </a:t>
            </a:r>
            <a:r>
              <a:rPr sz="130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760720"/>
            <a:ext cx="6035040" cy="274320"/>
          </a:xfrm>
          <a:prstGeom prst="rect">
            <a:avLst/>
          </a:prstGeom>
          <a:noFill/>
        </p:spPr>
        <p:txBody>
          <a:bodyPr wrap="square" anchor="t" lIns="0" rIns="0" tIns="0" bIns="0">
            <a:spAutoFit/>
          </a:bodyPr>
          <a:lstStyle/>
          <a:p>
            <a:pPr algn="l"/>
            <a:r>
              <a:rPr sz="1250" b="1" i="1">
                <a:solidFill>
                  <a:srgbClr val="0070C0"/>
                </a:solidFill>
                <a:latin typeface="Calibri"/>
              </a:rPr>
              <a:t>One instrument → one digital ID → one certificate anyone can check</a:t>
            </a:r>
          </a:p>
        </p:txBody>
      </p:sp>
      <p:sp>
        <p:nvSpPr>
          <p:cNvPr id="41" name="TextBox 40"/>
          <p:cNvSpPr txBox="1"/>
          <p:nvPr/>
        </p:nvSpPr>
        <p:spPr>
          <a:xfrm>
            <a:off x="384048" y="6053328"/>
            <a:ext cx="6035040" cy="274320"/>
          </a:xfrm>
          <a:prstGeom prst="rect">
            <a:avLst/>
          </a:prstGeom>
          <a:noFill/>
        </p:spPr>
        <p:txBody>
          <a:bodyPr wrap="square" anchor="t" lIns="0" rIns="0" tIns="0" bIns="0">
            <a:spAutoFit/>
          </a:bodyPr>
          <a:lstStyle/>
          <a:p>
            <a:pPr algn="l"/>
            <a:r>
              <a:rPr sz="1100" b="1" i="0">
                <a:solidFill>
                  <a:srgbClr val="1E7B4A"/>
                </a:solidFill>
                <a:latin typeface="Calibri"/>
              </a:rPr>
              <a:t>Live prototype: </a:t>
            </a:r>
            <a:r>
              <a:rPr sz="1100" b="0" i="0" u="sng">
                <a:solidFill>
                  <a:srgbClr val="1E7B4A"/>
                </a:solidFill>
                <a:latin typeface="Calibri"/>
                <a:hlinkClick r:id="rId4"/>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r>
              <a:rPr sz="1200" b="1" i="0">
                <a:solidFill>
                  <a:srgbClr val="1F3F6E"/>
                </a:solidFill>
                <a:latin typeface="Calibri"/>
              </a:rPr>
              <a:t>A live web + mobile platform: every instrument gets a permanent Digital ID, </a:t>
            </a:r>
            <a:r>
              <a:rPr sz="12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anchor="t" lIns="0" rIns="0" tIns="0" bIns="0">
            <a:spAutoFit/>
          </a:bodyPr>
          <a:lstStyle/>
          <a:p>
            <a:pPr algn="l"/>
            <a:r>
              <a:rPr sz="125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Register</a:t>
            </a:r>
          </a:p>
          <a:p>
            <a:pPr algn="ctr"/>
            <a:r>
              <a:rPr sz="90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Apply</a:t>
            </a:r>
          </a:p>
          <a:p>
            <a:pPr algn="ctr"/>
            <a:r>
              <a:rPr sz="900" b="0" i="0">
                <a:solidFill>
                  <a:srgbClr val="5B6573"/>
                </a:solidFill>
                <a:latin typeface="Calibri"/>
              </a:rPr>
              <a:t>upload docs, fee by State rule</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6B3FA0"/>
                </a:solidFill>
                <a:latin typeface="Calibri"/>
              </a:rPr>
              <a:t>Scrutiny</a:t>
            </a:r>
          </a:p>
          <a:p>
            <a:pPr algn="ctr"/>
            <a:r>
              <a:rPr sz="900" b="0" i="0">
                <a:solidFill>
                  <a:srgbClr val="5B6573"/>
                </a:solidFill>
                <a:latin typeface="Calibri"/>
              </a:rPr>
              <a:t>officer checks, AI flags</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Assign</a:t>
            </a:r>
          </a:p>
          <a:p>
            <a:pPr algn="ctr"/>
            <a:r>
              <a:rPr sz="90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Inspect</a:t>
            </a:r>
          </a:p>
          <a:p>
            <a:pPr algn="ctr"/>
            <a:r>
              <a:rPr sz="90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D9661F"/>
                </a:solidFill>
                <a:latin typeface="Calibri"/>
              </a:rPr>
              <a:t>Decide</a:t>
            </a:r>
          </a:p>
          <a:p>
            <a:pPr algn="ctr"/>
            <a:r>
              <a:rPr sz="90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Certificate</a:t>
            </a:r>
          </a:p>
          <a:p>
            <a:pPr algn="ctr"/>
            <a:r>
              <a:rPr sz="90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Verify</a:t>
            </a:r>
          </a:p>
          <a:p>
            <a:pPr algn="ctr"/>
            <a:r>
              <a:rPr sz="90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anchor="t" lIns="0" rIns="0" tIns="0" bIns="0">
            <a:spAutoFit/>
          </a:bodyPr>
          <a:lstStyle/>
          <a:p>
            <a:pPr algn="l"/>
            <a:r>
              <a:rPr sz="10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3474720"/>
            <a:ext cx="1005840" cy="219456"/>
          </a:xfrm>
          <a:prstGeom prst="roundRect">
            <a:avLst>
              <a:gd name="adj" fmla="val 41666"/>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8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anchor="t" lIns="0" rIns="0" tIns="0" bIns="0">
            <a:spAutoFit/>
          </a:bodyPr>
          <a:lstStyle/>
          <a:p>
            <a:pPr algn="l"/>
            <a:r>
              <a:rPr sz="125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Paper records in isolated systems</a:t>
            </a:r>
          </a:p>
          <a:p>
            <a:pPr algn="l"/>
            <a:r>
              <a:rPr sz="1150" b="1" i="0">
                <a:solidFill>
                  <a:srgbClr val="1F3F6E"/>
                </a:solidFill>
                <a:latin typeface="Calibri"/>
              </a:rPr>
              <a:t>→ One live database for every State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Manual scheduling, pendency</a:t>
            </a:r>
          </a:p>
          <a:p>
            <a:pPr algn="l"/>
            <a:r>
              <a:rPr sz="11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Fake or copied certificates</a:t>
            </a:r>
          </a:p>
          <a:p>
            <a:pPr algn="l"/>
            <a:r>
              <a:rPr sz="1150" b="1" i="0">
                <a:solidFill>
                  <a:srgbClr val="1F3F6E"/>
                </a:solidFill>
                <a:latin typeface="Calibri"/>
              </a:rPr>
              <a:t>→ Signed QR: edited copies fail the scan</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Missed re-verification dates</a:t>
            </a:r>
          </a:p>
          <a:p>
            <a:pPr algn="l"/>
            <a:r>
              <a:rPr sz="11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anchor="t" lIns="0" rIns="0" tIns="0" bIns="0">
            <a:spAutoFit/>
          </a:bodyPr>
          <a:lstStyle/>
          <a:p>
            <a:pPr algn="l"/>
            <a:r>
              <a:rPr sz="125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Unfakeable QR</a:t>
            </a:r>
          </a:p>
          <a:p>
            <a:pPr algn="l"/>
            <a:r>
              <a:rPr sz="950" b="0" i="0">
                <a:solidFill>
                  <a:srgbClr val="FFFFFF"/>
                </a:solidFill>
                <a:latin typeface="Calibri"/>
              </a:rPr>
              <a:t>Server-signed (ECDSA P-256). Checked on any phone, even offline, plus a live revocation list</a:t>
            </a:r>
          </a:p>
        </p:txBody>
      </p:sp>
      <p:sp>
        <p:nvSpPr>
          <p:cNvPr id="15400" name="Rounded Rectangle 15399"/>
          <p:cNvSpPr/>
          <p:nvPr/>
        </p:nvSpPr>
        <p:spPr>
          <a:xfrm>
            <a:off x="2684678" y="5065776"/>
            <a:ext cx="2181758" cy="1161288"/>
          </a:xfrm>
          <a:prstGeom prst="roundRect">
            <a:avLst>
              <a:gd name="adj" fmla="val 5511"/>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Offline field app</a:t>
            </a:r>
          </a:p>
          <a:p>
            <a:pPr algn="l"/>
            <a:r>
              <a:rPr sz="9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Computed verdict</a:t>
            </a:r>
          </a:p>
          <a:p>
            <a:pPr algn="l"/>
            <a:r>
              <a:rPr sz="950" b="0" i="0">
                <a:solidFill>
                  <a:srgbClr val="FFFFFF"/>
                </a:solidFill>
                <a:latin typeface="Calibri"/>
              </a:rPr>
              <a:t>Readings are checked against OIML MPE limits. PASS is impossible unless every check passes</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Multi-State by design</a:t>
            </a:r>
          </a:p>
          <a:p>
            <a:pPr algn="l"/>
            <a:r>
              <a:rPr sz="950" b="0" i="0">
                <a:solidFill>
                  <a:srgbClr val="FFFFFF"/>
                </a:solidFill>
                <a:latin typeface="Calibri"/>
              </a:rPr>
              <a:t>Fees, validity and officers are data per State.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AI copilot, human decides</a:t>
            </a:r>
          </a:p>
          <a:p>
            <a:pPr algn="l"/>
            <a:r>
              <a:rPr sz="950" b="0" i="0">
                <a:solidFill>
                  <a:srgbClr val="FFFFFF"/>
                </a:solidFill>
                <a:latin typeface="Calibri"/>
              </a:rPr>
              <a:t>Gemini flags odd documents.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anchor="t" lIns="0" rIns="0" tIns="0" bIns="0">
            <a:spAutoFit/>
          </a:bodyPr>
          <a:lstStyle/>
          <a:p>
            <a:pPr algn="l"/>
            <a:r>
              <a:rPr sz="125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Trader</a:t>
            </a:r>
          </a:p>
          <a:p>
            <a:pPr algn="ctr"/>
            <a:r>
              <a:rPr sz="8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LMO / GATC</a:t>
            </a:r>
          </a:p>
          <a:p>
            <a:pPr algn="ctr"/>
            <a:r>
              <a:rPr sz="8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Controller</a:t>
            </a:r>
          </a:p>
          <a:p>
            <a:pPr algn="ctr"/>
            <a:r>
              <a:rPr sz="8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State admin</a:t>
            </a:r>
          </a:p>
          <a:p>
            <a:pPr algn="ctr"/>
            <a:r>
              <a:rPr sz="800" b="0" i="0">
                <a:solidFill>
                  <a:srgbClr val="5B6573"/>
                </a:solidFill>
                <a:latin typeface="Calibri"/>
              </a:rPr>
              <a:t>fees, rules</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Citizen</a:t>
            </a:r>
          </a:p>
          <a:p>
            <a:pPr algn="ctr"/>
            <a:r>
              <a:rPr sz="8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React PWA on Vercel</a:t>
            </a:r>
            <a:r>
              <a:rPr sz="9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3FA0"/>
                </a:solidFill>
                <a:latin typeface="Calibri"/>
              </a:rPr>
              <a:t>Vercel functions (keys stay here)</a:t>
            </a:r>
          </a:p>
          <a:p>
            <a:pPr algn="ctr"/>
            <a:r>
              <a:rPr sz="850" b="0" i="0">
                <a:solidFill>
                  <a:srgbClr val="1F2937"/>
                </a:solidFill>
                <a:latin typeface="Calibri"/>
              </a:rPr>
              <a:t>/api/sign  ECDSA private key, checks officer</a:t>
            </a:r>
          </a:p>
          <a:p>
            <a:pPr algn="ctr"/>
            <a:r>
              <a:rPr sz="8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E7B4A"/>
                </a:solidFill>
                <a:latin typeface="Calibri"/>
              </a:rPr>
              <a:t>Supabase</a:t>
            </a:r>
          </a:p>
          <a:p>
            <a:pPr algn="ctr"/>
            <a:r>
              <a:rPr sz="850" b="0" i="0">
                <a:solidFill>
                  <a:srgbClr val="1F2937"/>
                </a:solidFill>
                <a:latin typeface="Calibri"/>
              </a:rPr>
              <a:t>Auth · row-level security · realtime</a:t>
            </a:r>
          </a:p>
          <a:p>
            <a:pPr algn="ctr"/>
            <a:r>
              <a:rPr sz="8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Postgres</a:t>
            </a:r>
          </a:p>
          <a:p>
            <a:pPr algn="ctr"/>
            <a:r>
              <a:rPr sz="8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Append-only audit log</a:t>
            </a:r>
          </a:p>
          <a:p>
            <a:pPr algn="ctr"/>
            <a:r>
              <a:rPr sz="8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Rules per State</a:t>
            </a:r>
          </a:p>
          <a:p>
            <a:pPr algn="ctr"/>
            <a:r>
              <a:rPr sz="8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anchor="t" lIns="0" rIns="0" tIns="0" bIns="0">
            <a:spAutoFit/>
          </a:bodyPr>
          <a:lstStyle/>
          <a:p>
            <a:pPr algn="l"/>
            <a:r>
              <a:rPr sz="11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Officer passes</a:t>
            </a:r>
          </a:p>
          <a:p>
            <a:pPr algn="ctr"/>
            <a:r>
              <a:rPr sz="7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Server checks</a:t>
            </a:r>
          </a:p>
          <a:p>
            <a:pPr algn="ctr"/>
            <a:r>
              <a:rPr sz="7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Signs</a:t>
            </a:r>
          </a:p>
          <a:p>
            <a:pPr algn="ctr"/>
            <a:r>
              <a:rPr sz="7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QR carries</a:t>
            </a:r>
          </a:p>
          <a:p>
            <a:pPr algn="ctr"/>
            <a:r>
              <a:rPr sz="7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Any phone checks</a:t>
            </a:r>
          </a:p>
          <a:p>
            <a:pPr algn="ctr"/>
            <a:r>
              <a:rPr sz="7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Result</a:t>
            </a:r>
          </a:p>
          <a:p>
            <a:pPr algn="ctr"/>
            <a:r>
              <a:rPr sz="7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anchor="t" lIns="0" rIns="0" tIns="0" bIns="0">
            <a:spAutoFit/>
          </a:bodyPr>
          <a:lstStyle/>
          <a:p>
            <a:pPr algn="l"/>
            <a:r>
              <a:rPr sz="1150" b="1" i="0">
                <a:solidFill>
                  <a:srgbClr val="D9661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No network</a:t>
            </a:r>
          </a:p>
          <a:p>
            <a:pPr algn="ctr"/>
            <a:r>
              <a:rPr sz="7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Inspect</a:t>
            </a:r>
          </a:p>
          <a:p>
            <a:pPr algn="ctr"/>
            <a:r>
              <a:rPr sz="7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Save</a:t>
            </a:r>
          </a:p>
          <a:p>
            <a:pPr algn="ctr"/>
            <a:r>
              <a:rPr sz="7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Back online</a:t>
            </a:r>
          </a:p>
          <a:p>
            <a:pPr algn="ctr"/>
            <a:r>
              <a:rPr sz="7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Certificate</a:t>
            </a:r>
          </a:p>
          <a:p>
            <a:pPr algn="ctr"/>
            <a:r>
              <a:rPr sz="7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Owner told</a:t>
            </a:r>
          </a:p>
          <a:p>
            <a:pPr algn="ctr"/>
            <a:r>
              <a:rPr sz="7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anchor="t" lIns="0" rIns="0" tIns="0" bIns="0">
            <a:spAutoFit/>
          </a:bodyPr>
          <a:lstStyle/>
          <a:p>
            <a:pPr algn="l"/>
            <a:r>
              <a:rPr sz="1250" b="1" i="0">
                <a:solidFill>
                  <a:srgbClr val="1F3F6E"/>
                </a:solidFill>
                <a:latin typeface="Calibri"/>
              </a:rPr>
              <a:t>TECHNOLOGIES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React 19 · TypeScript · Vite · Tailwind</a:t>
            </a:r>
            <a:r>
              <a:rPr sz="75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Service worker · local store · sync queue</a:t>
            </a:r>
            <a:r>
              <a:rPr sz="75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Supabase Postgres · RLS · Auth · Realtime</a:t>
            </a:r>
            <a:r>
              <a:rPr sz="75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Vercel functions · ECDSA P-256 · jsQR</a:t>
            </a:r>
            <a:r>
              <a:rPr sz="750" b="0" i="0">
                <a:solidFill>
                  <a:srgbClr val="5B6573"/>
                </a:solidFill>
                <a:latin typeface="Calibri"/>
              </a:rPr>
              <a:t>  sign on server, check on phone</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6B3FA0"/>
                </a:solidFill>
                <a:latin typeface="Calibri"/>
              </a:rPr>
              <a:t>Google Gemini (Flash)</a:t>
            </a:r>
            <a:r>
              <a:rPr sz="750" b="0" i="0">
                <a:solidFill>
                  <a:srgbClr val="5B6573"/>
                </a:solidFill>
                <a:latin typeface="Calibri"/>
              </a:rPr>
              <a:t>  document flags,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Resend · Twilio · jsPDF</a:t>
            </a:r>
            <a:r>
              <a:rPr sz="75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anchor="t" lIns="0" rIns="0" tIns="0" bIns="0">
            <a:spAutoFit/>
          </a:bodyPr>
          <a:lstStyle/>
          <a:p>
            <a:pPr algn="l"/>
            <a:r>
              <a:rPr sz="1250" b="1" i="0">
                <a:solidFill>
                  <a:srgbClr val="1F3F6E"/>
                </a:solidFill>
                <a:latin typeface="Calibri"/>
              </a:rPr>
              <a:t>ON A PHONE, FROM THE LIVE PROTOTYPE</a:t>
            </a:r>
          </a:p>
        </p:txBody>
      </p:sp>
      <p:pic>
        <p:nvPicPr>
          <p:cNvPr id="17466" name="Picture 17465" descr="shot7_verify.jpg"/>
          <p:cNvPicPr>
            <a:picLocks noChangeAspect="1"/>
          </p:cNvPicPr>
          <p:nvPr/>
        </p:nvPicPr>
        <p:blipFill>
          <a:blip r:embed="rId4"/>
          <a:srcRect b="43981"/>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Buyer scans an edited copy: rejected</a:t>
            </a:r>
          </a:p>
        </p:txBody>
      </p:sp>
      <p:pic>
        <p:nvPicPr>
          <p:cNvPr id="17468" name="Picture 17467" descr="shot7_officer.jpg"/>
          <p:cNvPicPr>
            <a:picLocks noChangeAspect="1"/>
          </p:cNvPicPr>
          <p:nvPr/>
        </p:nvPicPr>
        <p:blipFill>
          <a:blip r:embed="rId5"/>
          <a:srcRect t="20379" b="23602"/>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Over the legal limit: flagged at once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anchor="t" lIns="0" rIns="0" tIns="0" bIns="0">
            <a:spAutoFit/>
          </a:bodyPr>
          <a:lstStyle/>
          <a:p>
            <a:pPr algn="l"/>
            <a:r>
              <a:rPr sz="125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docs, fee, approval mark vs DoCA register</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D9661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anchor="t" lIns="0" rIns="0" tIns="0" bIns="0">
            <a:spAutoFit/>
          </a:bodyPr>
          <a:lstStyle/>
          <a:p>
            <a:pPr algn="l"/>
            <a:r>
              <a:rPr sz="1100" b="1" i="0">
                <a:solidFill>
                  <a:srgbClr val="D9661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1 · Field trial</a:t>
            </a:r>
          </a:p>
          <a:p>
            <a:pPr algn="l"/>
            <a:r>
              <a:rPr sz="8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2 · District pilot</a:t>
            </a:r>
          </a:p>
          <a:p>
            <a:pPr algn="l"/>
            <a:r>
              <a:rPr sz="8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3 · State rollout</a:t>
            </a:r>
          </a:p>
          <a:p>
            <a:pPr algn="l"/>
            <a:r>
              <a:rPr sz="8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4 · Multi-State</a:t>
            </a:r>
          </a:p>
          <a:p>
            <a:pPr algn="l"/>
            <a:r>
              <a:rPr sz="8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anchor="t" lIns="0" rIns="0" tIns="0" bIns="0">
            <a:spAutoFit/>
          </a:bodyPr>
          <a:lstStyle/>
          <a:p>
            <a:pPr algn="l"/>
            <a:r>
              <a:rPr sz="11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Grow in the market</a:t>
            </a:r>
          </a:p>
          <a:p>
            <a:pPr algn="l"/>
            <a:r>
              <a:rPr sz="75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Survive</a:t>
            </a:r>
          </a:p>
          <a:p>
            <a:pPr algn="l"/>
            <a:r>
              <a:rPr sz="750" b="0" i="0">
                <a:solidFill>
                  <a:srgbClr val="1F2937"/>
                </a:solidFill>
                <a:latin typeface="Calibri"/>
              </a:rPr>
              <a:t>No licence fee, pay-per-use cloud. Running cost fits in the service charge States already add to verification fees. No lock-in: public source code, standard Postgres, can move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Get funded</a:t>
            </a:r>
          </a:p>
          <a:p>
            <a:pPr algn="l"/>
            <a:r>
              <a:rPr sz="75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170432"/>
            <a:ext cx="4279392" cy="274320"/>
          </a:xfrm>
          <a:prstGeom prst="rect">
            <a:avLst/>
          </a:prstGeom>
          <a:noFill/>
        </p:spPr>
        <p:txBody>
          <a:bodyPr wrap="square" anchor="t" lIns="0" rIns="0" tIns="0" bIns="0">
            <a:spAutoFit/>
          </a:bodyPr>
          <a:lstStyle/>
          <a:p>
            <a:pPr algn="l"/>
            <a:r>
              <a:rPr sz="1250" b="1" i="0">
                <a:solidFill>
                  <a:srgbClr val="1F3F6E"/>
                </a:solidFill>
                <a:latin typeface="Calibri"/>
              </a:rPr>
              <a:t>POTENTIAL CHALLENGES AND RISKS  →  STRATEGIES</a:t>
            </a:r>
          </a:p>
        </p:txBody>
      </p:sp>
      <p:sp>
        <p:nvSpPr>
          <p:cNvPr id="17457" name="Rectangle 17456"/>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No network at site</a:t>
            </a:r>
          </a:p>
        </p:txBody>
      </p:sp>
      <p:sp>
        <p:nvSpPr>
          <p:cNvPr id="17458" name="Rectangle 17457"/>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Offline app; syncs, signs and notifies later</a:t>
            </a:r>
          </a:p>
        </p:txBody>
      </p:sp>
      <p:sp>
        <p:nvSpPr>
          <p:cNvPr id="17459" name="Rectangle 17458"/>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Fake / copied QR</a:t>
            </a:r>
          </a:p>
        </p:txBody>
      </p:sp>
      <p:sp>
        <p:nvSpPr>
          <p:cNvPr id="17460" name="Rectangle 17459"/>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Signed QR + revocation list; serial shown on scan</a:t>
            </a:r>
          </a:p>
        </p:txBody>
      </p:sp>
      <p:sp>
        <p:nvSpPr>
          <p:cNvPr id="17461" name="Rectangle 17460"/>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Rules differ by State</a:t>
            </a:r>
          </a:p>
        </p:txBody>
      </p:sp>
      <p:sp>
        <p:nvSpPr>
          <p:cNvPr id="17462" name="Rectangle 17461"/>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Fees and validity are data per State</a:t>
            </a:r>
          </a:p>
        </p:txBody>
      </p:sp>
      <p:sp>
        <p:nvSpPr>
          <p:cNvPr id="17463" name="Rectangle 17462"/>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Data privacy (DPDP 2023)</a:t>
            </a:r>
          </a:p>
        </p:txBody>
      </p:sp>
      <p:sp>
        <p:nvSpPr>
          <p:cNvPr id="17464" name="Rectangle 17463"/>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Row-level security, minimal public fields</a:t>
            </a:r>
          </a:p>
        </p:txBody>
      </p:sp>
      <p:sp>
        <p:nvSpPr>
          <p:cNvPr id="17465" name="Rectangle 17464"/>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AI mistakes</a:t>
            </a:r>
          </a:p>
        </p:txBody>
      </p:sp>
      <p:sp>
        <p:nvSpPr>
          <p:cNvPr id="17466" name="Rectangle 17465"/>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Advisory only; officer decides; logged</a:t>
            </a:r>
          </a:p>
        </p:txBody>
      </p:sp>
      <p:sp>
        <p:nvSpPr>
          <p:cNvPr id="17467" name="Rectangle 17466"/>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Officer adoption</a:t>
            </a:r>
          </a:p>
        </p:txBody>
      </p:sp>
      <p:sp>
        <p:nvSpPr>
          <p:cNvPr id="17468" name="Rectangle 17467"/>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Field trial first; plain home screen per role; text size, contrast, Hindi</a:t>
            </a:r>
          </a:p>
        </p:txBody>
      </p:sp>
      <p:sp>
        <p:nvSpPr>
          <p:cNvPr id="17469" name="Rounded Rectangle 17468"/>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70" name="Picture 17469" descr="image.png">
            <a:hlinkClick r:id="rId5"/>
          </p:cNvPr>
          <p:cNvPicPr>
            <a:picLocks noChangeAspect="1"/>
          </p:cNvPicPr>
          <p:nvPr/>
        </p:nvPicPr>
        <p:blipFill>
          <a:blip r:embed="rId4"/>
          <a:stretch>
            <a:fillRect/>
          </a:stretch>
        </p:blipFill>
        <p:spPr>
          <a:xfrm>
            <a:off x="7653527" y="4270248"/>
            <a:ext cx="1325880" cy="1325880"/>
          </a:xfrm>
          <a:prstGeom prst="rect">
            <a:avLst/>
          </a:prstGeom>
        </p:spPr>
      </p:pic>
      <p:sp>
        <p:nvSpPr>
          <p:cNvPr id="17471" name="TextBox 17470"/>
          <p:cNvSpPr txBox="1"/>
          <p:nvPr/>
        </p:nvSpPr>
        <p:spPr>
          <a:xfrm>
            <a:off x="9098280" y="4270248"/>
            <a:ext cx="2633472" cy="1874519"/>
          </a:xfrm>
          <a:prstGeom prst="rect">
            <a:avLst/>
          </a:prstGeom>
          <a:noFill/>
        </p:spPr>
        <p:txBody>
          <a:bodyPr wrap="square" anchor="t" lIns="0" rIns="0" tIns="0" bIns="0">
            <a:spAutoFit/>
          </a:bodyPr>
          <a:lstStyle/>
          <a:p>
            <a:pPr algn="l">
              <a:spcAft>
                <a:spcPts val="300"/>
              </a:spcAft>
            </a:pPr>
            <a:r>
              <a:rPr sz="1300" b="1" i="0">
                <a:solidFill>
                  <a:srgbClr val="1F3F6E"/>
                </a:solidFill>
                <a:latin typeface="Calibri"/>
              </a:rPr>
              <a:t>Complete live demo</a:t>
            </a:r>
          </a:p>
          <a:p>
            <a:pPr algn="l">
              <a:spcAft>
                <a:spcPts val="300"/>
              </a:spcAft>
            </a:pPr>
            <a:r>
              <a:rPr sz="9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950" b="1" i="0">
                <a:solidFill>
                  <a:srgbClr val="1F2937"/>
                </a:solidFill>
                <a:latin typeface="Calibri"/>
              </a:rPr>
              <a:t>Evaluator password: TulaDemo@2026</a:t>
            </a:r>
          </a:p>
          <a:p>
            <a:pPr algn="l">
              <a:spcAft>
                <a:spcPts val="300"/>
              </a:spcAft>
            </a:pPr>
            <a:r>
              <a:rPr sz="1000" b="1" i="0" u="sng">
                <a:solidFill>
                  <a:srgbClr val="0070C0"/>
                </a:solidFill>
                <a:latin typeface="Calibri"/>
                <a:hlinkClick r:id="rId5"/>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2" name="TextBox 17411"/>
          <p:cNvSpPr txBox="1"/>
          <p:nvPr/>
        </p:nvSpPr>
        <p:spPr>
          <a:xfrm>
            <a:off x="502920" y="1517904"/>
            <a:ext cx="1904238" cy="320040"/>
          </a:xfrm>
          <a:prstGeom prst="rect">
            <a:avLst/>
          </a:prstGeom>
          <a:noFill/>
        </p:spPr>
        <p:txBody>
          <a:bodyPr wrap="square" anchor="t" lIns="0" rIns="0" tIns="0" bIns="0">
            <a:spAutoFit/>
          </a:bodyPr>
          <a:lstStyle/>
          <a:p>
            <a:pPr algn="l"/>
            <a:r>
              <a:rPr sz="130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Jobs on the phone, even offline</a:t>
            </a:r>
          </a:p>
          <a:p>
            <a:pPr algn="l">
              <a:spcAft>
                <a:spcPts val="200"/>
              </a:spcAft>
            </a:pPr>
            <a:r>
              <a:rPr sz="1000" b="0" i="0">
                <a:solidFill>
                  <a:srgbClr val="1F2937"/>
                </a:solidFill>
                <a:latin typeface="Calibri"/>
              </a:rPr>
              <a:t>•  Pass / fail calculated for them</a:t>
            </a:r>
          </a:p>
          <a:p>
            <a:pPr algn="l">
              <a:spcAft>
                <a:spcPts val="200"/>
              </a:spcAft>
            </a:pPr>
            <a:r>
              <a:rPr sz="10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7" name="TextBox 17416"/>
          <p:cNvSpPr txBox="1"/>
          <p:nvPr/>
        </p:nvSpPr>
        <p:spPr>
          <a:xfrm>
            <a:off x="3412998" y="1517904"/>
            <a:ext cx="1904238" cy="320040"/>
          </a:xfrm>
          <a:prstGeom prst="rect">
            <a:avLst/>
          </a:prstGeom>
          <a:noFill/>
        </p:spPr>
        <p:txBody>
          <a:bodyPr wrap="square" anchor="t" lIns="0" rIns="0" tIns="0" bIns="0">
            <a:spAutoFit/>
          </a:bodyPr>
          <a:lstStyle/>
          <a:p>
            <a:pPr algn="l"/>
            <a:r>
              <a:rPr sz="130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Apply and pay without a visit</a:t>
            </a:r>
          </a:p>
          <a:p>
            <a:pPr algn="l">
              <a:spcAft>
                <a:spcPts val="200"/>
              </a:spcAft>
            </a:pPr>
            <a:r>
              <a:rPr sz="1000" b="0" i="0">
                <a:solidFill>
                  <a:srgbClr val="1F2937"/>
                </a:solidFill>
                <a:latin typeface="Calibri"/>
              </a:rPr>
              <a:t>•  SMS / email at every step</a:t>
            </a:r>
          </a:p>
          <a:p>
            <a:pPr algn="l">
              <a:spcAft>
                <a:spcPts val="200"/>
              </a:spcAft>
            </a:pPr>
            <a:r>
              <a:rPr sz="10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2" name="TextBox 17421"/>
          <p:cNvSpPr txBox="1"/>
          <p:nvPr/>
        </p:nvSpPr>
        <p:spPr>
          <a:xfrm>
            <a:off x="6323076" y="1517904"/>
            <a:ext cx="1904238" cy="320040"/>
          </a:xfrm>
          <a:prstGeom prst="rect">
            <a:avLst/>
          </a:prstGeom>
          <a:noFill/>
        </p:spPr>
        <p:txBody>
          <a:bodyPr wrap="square" anchor="t" lIns="0" rIns="0" tIns="0" bIns="0">
            <a:spAutoFit/>
          </a:bodyPr>
          <a:lstStyle/>
          <a:p>
            <a:pPr algn="l"/>
            <a:r>
              <a:rPr sz="1300" b="1" i="0">
                <a:solidFill>
                  <a:srgbClr val="D9661F"/>
                </a:solidFill>
                <a:latin typeface="Calibri"/>
              </a:rPr>
              <a:t>Consumers</a:t>
            </a:r>
          </a:p>
        </p:txBody>
      </p:sp>
      <p:sp>
        <p:nvSpPr>
          <p:cNvPr id="17423" name="Oval 17422"/>
          <p:cNvSpPr/>
          <p:nvPr/>
        </p:nvSpPr>
        <p:spPr>
          <a:xfrm>
            <a:off x="8346186" y="1499616"/>
            <a:ext cx="420624" cy="420624"/>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Scan any certificate QR</a:t>
            </a:r>
          </a:p>
          <a:p>
            <a:pPr algn="l">
              <a:spcAft>
                <a:spcPts val="200"/>
              </a:spcAft>
            </a:pPr>
            <a:r>
              <a:rPr sz="1000" b="0" i="0">
                <a:solidFill>
                  <a:srgbClr val="1F2937"/>
                </a:solidFill>
                <a:latin typeface="Calibri"/>
              </a:rPr>
              <a:t>•  Fakes and edits are rejected</a:t>
            </a:r>
          </a:p>
          <a:p>
            <a:pPr algn="l">
              <a:spcAft>
                <a:spcPts val="200"/>
              </a:spcAft>
            </a:pPr>
            <a:r>
              <a:rPr sz="10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7" name="TextBox 17426"/>
          <p:cNvSpPr txBox="1"/>
          <p:nvPr/>
        </p:nvSpPr>
        <p:spPr>
          <a:xfrm>
            <a:off x="9233154" y="1517904"/>
            <a:ext cx="1904238" cy="320040"/>
          </a:xfrm>
          <a:prstGeom prst="rect">
            <a:avLst/>
          </a:prstGeom>
          <a:noFill/>
        </p:spPr>
        <p:txBody>
          <a:bodyPr wrap="square" anchor="t" lIns="0" rIns="0" tIns="0" bIns="0">
            <a:spAutoFit/>
          </a:bodyPr>
          <a:lstStyle/>
          <a:p>
            <a:pPr algn="l"/>
            <a:r>
              <a:rPr sz="130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Pending by stage, age, district</a:t>
            </a:r>
          </a:p>
          <a:p>
            <a:pPr algn="l">
              <a:spcAft>
                <a:spcPts val="200"/>
              </a:spcAft>
            </a:pPr>
            <a:r>
              <a:rPr sz="1000" b="0" i="0">
                <a:solidFill>
                  <a:srgbClr val="1F2937"/>
                </a:solidFill>
                <a:latin typeface="Calibri"/>
              </a:rPr>
              <a:t>•  Inspections due and overdue</a:t>
            </a:r>
          </a:p>
          <a:p>
            <a:pPr algn="l">
              <a:spcAft>
                <a:spcPts val="200"/>
              </a:spcAft>
            </a:pPr>
            <a:r>
              <a:rPr sz="10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anchor="t" lIns="0" rIns="0" tIns="0" bIns="0">
            <a:spAutoFit/>
          </a:bodyPr>
          <a:lstStyle/>
          <a:p>
            <a:pPr algn="l"/>
            <a:r>
              <a:rPr sz="125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2 min 51 s</a:t>
            </a:r>
          </a:p>
          <a:p>
            <a:pPr algn="ctr"/>
            <a:r>
              <a:rPr sz="9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s</a:t>
            </a:r>
          </a:p>
          <a:p>
            <a:pPr algn="ctr"/>
            <a:r>
              <a:rPr sz="900" b="0" i="0">
                <a:solidFill>
                  <a:srgbClr val="E6F4EC"/>
                </a:solidFill>
                <a:latin typeface="Calibri"/>
              </a:rPr>
              <a:t>certificate issued → signed by the server</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 6</a:t>
            </a:r>
          </a:p>
          <a:p>
            <a:pPr algn="ctr"/>
            <a:r>
              <a:rPr sz="9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0</a:t>
            </a:r>
          </a:p>
          <a:p>
            <a:pPr algn="ctr"/>
            <a:r>
              <a:rPr sz="9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anchor="t" lIns="0" rIns="0" tIns="0" bIns="0">
            <a:spAutoFit/>
          </a:bodyPr>
          <a:lstStyle/>
          <a:p>
            <a:pPr algn="l"/>
            <a:r>
              <a:rPr sz="1250" b="1" i="0">
                <a:solidFill>
                  <a:srgbClr val="1F3F6E"/>
                </a:solidFill>
                <a:latin typeface="Calibri"/>
              </a:rPr>
              <a:t>PILOT TARGETS vs TODAY'S PAPER BASELINE (baseline measured from the pilot district's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 7 days</a:t>
            </a:r>
          </a:p>
          <a:p>
            <a:pPr algn="ctr"/>
            <a:r>
              <a:rPr sz="9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&lt; 3 s</a:t>
            </a:r>
          </a:p>
          <a:p>
            <a:pPr algn="ctr"/>
            <a:r>
              <a:rPr sz="9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100%</a:t>
            </a:r>
          </a:p>
          <a:p>
            <a:pPr algn="ctr"/>
            <a:r>
              <a:rPr sz="9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0</a:t>
            </a:r>
          </a:p>
          <a:p>
            <a:pPr algn="ctr"/>
            <a:r>
              <a:rPr sz="9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anchor="t" lIns="0" rIns="0" tIns="0" bIns="0">
            <a:spAutoFit/>
          </a:bodyPr>
          <a:lstStyle/>
          <a:p>
            <a:pPr algn="l"/>
            <a:r>
              <a:rPr sz="125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anchor="t" lIns="0" rIns="0" tIns="0" bIns="0">
            <a:spAutoFit/>
          </a:bodyPr>
          <a:lstStyle/>
          <a:p>
            <a:pPr algn="l"/>
            <a:r>
              <a:rPr sz="125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anchor="t" lIns="0" rIns="0" tIns="0" bIns="0">
            <a:spAutoFit/>
          </a:bodyPr>
          <a:lstStyle/>
          <a:p>
            <a:pPr algn="l"/>
            <a:r>
              <a:rPr sz="11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anchor="t" lIns="0" rIns="0" tIns="0" bIns="0">
            <a:spAutoFit/>
          </a:bodyPr>
          <a:lstStyle/>
          <a:p>
            <a:pPr algn="l"/>
            <a:r>
              <a:rPr sz="1100" b="1" i="0">
                <a:solidFill>
                  <a:srgbClr val="1E7B4A"/>
                </a:solidFill>
                <a:latin typeface="Calibri"/>
              </a:rPr>
              <a:t>DESIGN DECISION IN TULA</a:t>
            </a:r>
          </a:p>
        </p:txBody>
      </p:sp>
      <p:sp>
        <p:nvSpPr>
          <p:cNvPr id="17413" name="Oval 17412"/>
          <p:cNvSpPr/>
          <p:nvPr/>
        </p:nvSpPr>
        <p:spPr>
          <a:xfrm>
            <a:off x="365760" y="192024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1</a:t>
            </a:r>
          </a:p>
        </p:txBody>
      </p:sp>
      <p:sp>
        <p:nvSpPr>
          <p:cNvPr id="17414" name="Rounded Rectangle 17413"/>
          <p:cNvSpPr/>
          <p:nvPr/>
        </p:nvSpPr>
        <p:spPr>
          <a:xfrm>
            <a:off x="868680" y="173736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Sec. 24: every instrument used in trade is verified and stamped. GATC Rules 2013 let approved test centres verify some.</a:t>
            </a:r>
          </a:p>
        </p:txBody>
      </p:sp>
      <p:cxnSp>
        <p:nvCxnSpPr>
          <p:cNvPr id="17415" name="Connector 17414"/>
          <p:cNvCxnSpPr/>
          <p:nvPr/>
        </p:nvCxnSpPr>
        <p:spPr>
          <a:xfrm>
            <a:off x="4059936" y="2066543"/>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One workflow for LMO and GATC, routed by district and equipment</a:t>
            </a:r>
          </a:p>
        </p:txBody>
      </p:sp>
      <p:sp>
        <p:nvSpPr>
          <p:cNvPr id="17417" name="Oval 17416"/>
          <p:cNvSpPr/>
          <p:nvPr/>
        </p:nvSpPr>
        <p:spPr>
          <a:xfrm>
            <a:off x="365760" y="2670048"/>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2</a:t>
            </a:r>
          </a:p>
        </p:txBody>
      </p:sp>
      <p:sp>
        <p:nvSpPr>
          <p:cNvPr id="17418" name="Rounded Rectangle 17417"/>
          <p:cNvSpPr/>
          <p:nvPr/>
        </p:nvSpPr>
        <p:spPr>
          <a:xfrm>
            <a:off x="868680" y="2487168"/>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Delhi and Gujarat publish the same Schedule IX fees; rule 16 adds on-site and late fees; validity is rule 27 (12 or 24 months).</a:t>
            </a:r>
          </a:p>
        </p:txBody>
      </p:sp>
      <p:cxnSp>
        <p:nvCxnSpPr>
          <p:cNvPr id="17419" name="Connector 17418"/>
          <p:cNvCxnSpPr/>
          <p:nvPr/>
        </p:nvCxnSpPr>
        <p:spPr>
          <a:xfrm>
            <a:off x="4059936" y="2816351"/>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487168"/>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Gazetted schedules loaded as data; every fee cites its item and links the source</a:t>
            </a:r>
          </a:p>
        </p:txBody>
      </p:sp>
      <p:sp>
        <p:nvSpPr>
          <p:cNvPr id="17421" name="Oval 17420"/>
          <p:cNvSpPr/>
          <p:nvPr/>
        </p:nvSpPr>
        <p:spPr>
          <a:xfrm>
            <a:off x="365760" y="3419856"/>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3</a:t>
            </a:r>
          </a:p>
        </p:txBody>
      </p:sp>
      <p:sp>
        <p:nvSpPr>
          <p:cNvPr id="17422" name="Rounded Rectangle 17421"/>
          <p:cNvSpPr/>
          <p:nvPr/>
        </p:nvSpPr>
        <p:spPr>
          <a:xfrm>
            <a:off x="868680" y="3236976"/>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Certificate form is Schedule VIII; the stamp carries the officer's number and a quarter mark A to D (rule 15).</a:t>
            </a:r>
          </a:p>
        </p:txBody>
      </p:sp>
      <p:cxnSp>
        <p:nvCxnSpPr>
          <p:cNvPr id="17423" name="Connector 17422"/>
          <p:cNvCxnSpPr/>
          <p:nvPr/>
        </p:nvCxnSpPr>
        <p:spPr>
          <a:xfrm>
            <a:off x="4059936" y="3566160"/>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236976"/>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Certificate and PDF follow Schedule VIII, signed and QR-checkable</a:t>
            </a:r>
          </a:p>
        </p:txBody>
      </p:sp>
      <p:sp>
        <p:nvSpPr>
          <p:cNvPr id="17425" name="Oval 17424"/>
          <p:cNvSpPr/>
          <p:nvPr/>
        </p:nvSpPr>
        <p:spPr>
          <a:xfrm>
            <a:off x="365760" y="4169663"/>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4</a:t>
            </a:r>
          </a:p>
        </p:txBody>
      </p:sp>
      <p:sp>
        <p:nvSpPr>
          <p:cNvPr id="17426" name="Rounded Rectangle 17425"/>
          <p:cNvSpPr/>
          <p:nvPr/>
        </p:nvSpPr>
        <p:spPr>
          <a:xfrm>
            <a:off x="868680" y="3986783"/>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DoCA publishes all 10,050 model approvals since 2011, but no register of individual verified instruments.</a:t>
            </a:r>
          </a:p>
        </p:txBody>
      </p:sp>
      <p:cxnSp>
        <p:nvCxnSpPr>
          <p:cNvPr id="17427" name="Connector 17426"/>
          <p:cNvCxnSpPr/>
          <p:nvPr/>
        </p:nvCxnSpPr>
        <p:spPr>
          <a:xfrm>
            <a:off x="4059936" y="4315968"/>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3986783"/>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Approval mark checked against the DoCA register; TULA adds the missing per-instrument record</a:t>
            </a:r>
          </a:p>
        </p:txBody>
      </p:sp>
      <p:sp>
        <p:nvSpPr>
          <p:cNvPr id="17429" name="Oval 17428"/>
          <p:cNvSpPr/>
          <p:nvPr/>
        </p:nvSpPr>
        <p:spPr>
          <a:xfrm>
            <a:off x="365760" y="4919472"/>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5</a:t>
            </a:r>
          </a:p>
        </p:txBody>
      </p:sp>
      <p:sp>
        <p:nvSpPr>
          <p:cNvPr id="17430" name="Rounded Rectangle 17429"/>
          <p:cNvSpPr/>
          <p:nvPr/>
        </p:nvSpPr>
        <p:spPr>
          <a:xfrm>
            <a:off x="868680" y="4736592"/>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MPE limits come from OIML R 76 (scales) and R 117 (fuel dispensers).</a:t>
            </a:r>
          </a:p>
        </p:txBody>
      </p:sp>
      <p:cxnSp>
        <p:nvCxnSpPr>
          <p:cNvPr id="17431" name="Connector 17430"/>
          <p:cNvCxnSpPr/>
          <p:nvPr/>
        </p:nvCxnSpPr>
        <p:spPr>
          <a:xfrm>
            <a:off x="4059936" y="5065776"/>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4736592"/>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Pass / fail computed from recorded readings, not typed</a:t>
            </a:r>
          </a:p>
        </p:txBody>
      </p:sp>
      <p:sp>
        <p:nvSpPr>
          <p:cNvPr id="17433" name="Oval 17432"/>
          <p:cNvSpPr/>
          <p:nvPr/>
        </p:nvSpPr>
        <p:spPr>
          <a:xfrm>
            <a:off x="365760" y="56692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6</a:t>
            </a:r>
          </a:p>
        </p:txBody>
      </p:sp>
      <p:sp>
        <p:nvSpPr>
          <p:cNvPr id="17434" name="Rounded Rectangle 17433"/>
          <p:cNvSpPr/>
          <p:nvPr/>
        </p:nvSpPr>
        <p:spPr>
          <a:xfrm>
            <a:off x="868680" y="548640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A buyer cannot tell a genuine stamp from a fake; field sites often have no network.</a:t>
            </a:r>
          </a:p>
        </p:txBody>
      </p:sp>
      <p:cxnSp>
        <p:nvCxnSpPr>
          <p:cNvPr id="17435" name="Connector 17434"/>
          <p:cNvCxnSpPr/>
          <p:nvPr/>
        </p:nvCxnSpPr>
        <p:spPr>
          <a:xfrm>
            <a:off x="4059936" y="5815584"/>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315968" y="548640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Signed QR anyone can check, offline; officer app works offline</a:t>
            </a:r>
          </a:p>
        </p:txBody>
      </p:sp>
      <p:sp>
        <p:nvSpPr>
          <p:cNvPr id="17437" name="Rounded Rectangle 17436"/>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38" name="TextBox 17437"/>
          <p:cNvSpPr txBox="1"/>
          <p:nvPr/>
        </p:nvSpPr>
        <p:spPr>
          <a:xfrm>
            <a:off x="7726680" y="1481328"/>
            <a:ext cx="3959352" cy="274320"/>
          </a:xfrm>
          <a:prstGeom prst="rect">
            <a:avLst/>
          </a:prstGeom>
          <a:noFill/>
        </p:spPr>
        <p:txBody>
          <a:bodyPr wrap="square" anchor="t" lIns="0" rIns="0" tIns="0" bIns="0">
            <a:spAutoFit/>
          </a:bodyPr>
          <a:lstStyle/>
          <a:p>
            <a:pPr algn="l"/>
            <a:r>
              <a:rPr sz="1200" b="1" i="0">
                <a:solidFill>
                  <a:srgbClr val="0070C0"/>
                </a:solidFill>
                <a:latin typeface="Calibri"/>
              </a:rPr>
              <a:t>References (official, click to open)</a:t>
            </a:r>
          </a:p>
        </p:txBody>
      </p:sp>
      <p:sp>
        <p:nvSpPr>
          <p:cNvPr id="17439" name="TextBox 17438"/>
          <p:cNvSpPr txBox="1"/>
          <p:nvPr/>
        </p:nvSpPr>
        <p:spPr>
          <a:xfrm>
            <a:off x="7726680" y="1755648"/>
            <a:ext cx="3959352" cy="1536192"/>
          </a:xfrm>
          <a:prstGeom prst="rect">
            <a:avLst/>
          </a:prstGeom>
          <a:noFill/>
        </p:spPr>
        <p:txBody>
          <a:bodyPr wrap="square">
            <a:spAutoFit/>
          </a:bodyPr>
          <a:lstStyle/>
          <a:p>
            <a:pPr>
              <a:spcAft>
                <a:spcPts val="150"/>
              </a:spcAft>
            </a:pPr>
            <a:r>
              <a:rPr sz="900" b="1" i="0">
                <a:solidFill>
                  <a:srgbClr val="0070C0"/>
                </a:solidFill>
                <a:latin typeface="Calibri"/>
              </a:rPr>
              <a:t>1.  </a:t>
            </a:r>
            <a:r>
              <a:rPr sz="900" b="0" i="0" u="sng">
                <a:solidFill>
                  <a:srgbClr val="1F3F6E"/>
                </a:solidFill>
                <a:latin typeface="Calibri"/>
                <a:hlinkClick r:id="rId4"/>
              </a:rPr>
              <a:t>Legal Metrology Act, 2009</a:t>
            </a:r>
          </a:p>
          <a:p>
            <a:pPr>
              <a:spcAft>
                <a:spcPts val="150"/>
              </a:spcAft>
            </a:pPr>
            <a:r>
              <a:rPr sz="900" b="1" i="0">
                <a:solidFill>
                  <a:srgbClr val="0070C0"/>
                </a:solidFill>
                <a:latin typeface="Calibri"/>
              </a:rPr>
              <a:t>2.  </a:t>
            </a:r>
            <a:r>
              <a:rPr sz="900" b="0" i="0" u="sng">
                <a:solidFill>
                  <a:srgbClr val="1F3F6E"/>
                </a:solidFill>
                <a:latin typeface="Calibri"/>
                <a:hlinkClick r:id="rId5"/>
              </a:rPr>
              <a:t>Delhi LM (Enforcement) Rules 2011: Sch. VIII, IX, XI</a:t>
            </a:r>
          </a:p>
          <a:p>
            <a:pPr>
              <a:spcAft>
                <a:spcPts val="150"/>
              </a:spcAft>
            </a:pPr>
            <a:r>
              <a:rPr sz="900" b="1" i="0">
                <a:solidFill>
                  <a:srgbClr val="0070C0"/>
                </a:solidFill>
                <a:latin typeface="Calibri"/>
              </a:rPr>
              <a:t>3.  </a:t>
            </a:r>
            <a:r>
              <a:rPr sz="900" b="0" i="0" u="sng">
                <a:solidFill>
                  <a:srgbClr val="1F3F6E"/>
                </a:solidFill>
                <a:latin typeface="Calibri"/>
                <a:hlinkClick r:id="rId6"/>
              </a:rPr>
              <a:t>Gujarat fee schedule (Schedule IX)</a:t>
            </a:r>
          </a:p>
          <a:p>
            <a:pPr>
              <a:spcAft>
                <a:spcPts val="150"/>
              </a:spcAft>
            </a:pPr>
            <a:r>
              <a:rPr sz="900" b="1" i="0">
                <a:solidFill>
                  <a:srgbClr val="0070C0"/>
                </a:solidFill>
                <a:latin typeface="Calibri"/>
              </a:rPr>
              <a:t>4.  </a:t>
            </a:r>
            <a:r>
              <a:rPr sz="900" b="0" i="0" u="sng">
                <a:solidFill>
                  <a:srgbClr val="1F3F6E"/>
                </a:solidFill>
                <a:latin typeface="Calibri"/>
                <a:hlinkClick r:id="rId7"/>
              </a:rPr>
              <a:t>Delhi W&amp;M FAQ: validity periods</a:t>
            </a:r>
          </a:p>
          <a:p>
            <a:pPr>
              <a:spcAft>
                <a:spcPts val="150"/>
              </a:spcAft>
            </a:pPr>
            <a:r>
              <a:rPr sz="900" b="1" i="0">
                <a:solidFill>
                  <a:srgbClr val="0070C0"/>
                </a:solidFill>
                <a:latin typeface="Calibri"/>
              </a:rPr>
              <a:t>5.  </a:t>
            </a:r>
            <a:r>
              <a:rPr sz="900" b="0" i="0" u="sng">
                <a:solidFill>
                  <a:srgbClr val="1F3F6E"/>
                </a:solidFill>
                <a:latin typeface="Calibri"/>
                <a:hlinkClick r:id="rId8"/>
              </a:rPr>
              <a:t>DoCA Model Approval register (10,050 entries)</a:t>
            </a:r>
          </a:p>
          <a:p>
            <a:pPr>
              <a:spcAft>
                <a:spcPts val="150"/>
              </a:spcAft>
            </a:pPr>
            <a:r>
              <a:rPr sz="900" b="1" i="0">
                <a:solidFill>
                  <a:srgbClr val="0070C0"/>
                </a:solidFill>
                <a:latin typeface="Calibri"/>
              </a:rPr>
              <a:t>6.  </a:t>
            </a:r>
            <a:r>
              <a:rPr sz="900" b="0" i="0" u="sng">
                <a:solidFill>
                  <a:srgbClr val="1F3F6E"/>
                </a:solidFill>
                <a:latin typeface="Calibri"/>
                <a:hlinkClick r:id="rId9"/>
              </a:rPr>
              <a:t>OIML R 76-1 (scales)</a:t>
            </a:r>
          </a:p>
          <a:p>
            <a:pPr>
              <a:spcAft>
                <a:spcPts val="150"/>
              </a:spcAft>
            </a:pPr>
            <a:r>
              <a:rPr sz="900" b="1" i="0">
                <a:solidFill>
                  <a:srgbClr val="0070C0"/>
                </a:solidFill>
                <a:latin typeface="Calibri"/>
              </a:rPr>
              <a:t>7.  </a:t>
            </a:r>
            <a:r>
              <a:rPr sz="900" b="0" i="0" u="sng">
                <a:solidFill>
                  <a:srgbClr val="1F3F6E"/>
                </a:solidFill>
                <a:latin typeface="Calibri"/>
                <a:hlinkClick r:id="rId10"/>
              </a:rPr>
              <a:t>OIML R 117-1 (fuel dispensers)</a:t>
            </a:r>
          </a:p>
          <a:p>
            <a:pPr>
              <a:spcAft>
                <a:spcPts val="150"/>
              </a:spcAft>
            </a:pPr>
            <a:r>
              <a:rPr sz="900" b="1" i="0">
                <a:solidFill>
                  <a:srgbClr val="0070C0"/>
                </a:solidFill>
                <a:latin typeface="Calibri"/>
              </a:rPr>
              <a:t>8.  </a:t>
            </a:r>
            <a:r>
              <a:rPr sz="900" b="0" i="0" u="sng">
                <a:solidFill>
                  <a:srgbClr val="1F3F6E"/>
                </a:solidFill>
                <a:latin typeface="Calibri"/>
                <a:hlinkClick r:id="rId11"/>
              </a:rPr>
              <a:t>All sources, with what each is used for</a:t>
            </a:r>
          </a:p>
        </p:txBody>
      </p:sp>
      <p:sp>
        <p:nvSpPr>
          <p:cNvPr id="17440" name="TextBox 17439"/>
          <p:cNvSpPr txBox="1"/>
          <p:nvPr/>
        </p:nvSpPr>
        <p:spPr>
          <a:xfrm>
            <a:off x="7589520" y="3401568"/>
            <a:ext cx="4233672" cy="274320"/>
          </a:xfrm>
          <a:prstGeom prst="rect">
            <a:avLst/>
          </a:prstGeom>
          <a:noFill/>
        </p:spPr>
        <p:txBody>
          <a:bodyPr wrap="square" anchor="t" lIns="0" rIns="0" tIns="0" bIns="0">
            <a:spAutoFit/>
          </a:bodyPr>
          <a:lstStyle/>
          <a:p>
            <a:pPr algn="l"/>
            <a:r>
              <a:rPr sz="1150" b="1" i="0">
                <a:solidFill>
                  <a:srgbClr val="1F3F6E"/>
                </a:solidFill>
                <a:latin typeface="Calibri"/>
              </a:rPr>
              <a:t>COMPARED WITH TODAY</a:t>
            </a:r>
          </a:p>
        </p:txBody>
      </p:sp>
      <p:sp>
        <p:nvSpPr>
          <p:cNvPr id="17441" name="Rectangle 17440"/>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
            </a:r>
          </a:p>
        </p:txBody>
      </p:sp>
      <p:sp>
        <p:nvSpPr>
          <p:cNvPr id="17442" name="Rectangle 17441"/>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Paper</a:t>
            </a:r>
          </a:p>
        </p:txBody>
      </p:sp>
      <p:sp>
        <p:nvSpPr>
          <p:cNvPr id="17443" name="Rectangle 17442"/>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Typical State portal</a:t>
            </a:r>
          </a:p>
        </p:txBody>
      </p:sp>
      <p:sp>
        <p:nvSpPr>
          <p:cNvPr id="17444" name="Rectangle 17443"/>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TULA</a:t>
            </a:r>
          </a:p>
        </p:txBody>
      </p:sp>
      <p:sp>
        <p:nvSpPr>
          <p:cNvPr id="17445" name="Rectangle 17444"/>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Certificate</a:t>
            </a:r>
          </a:p>
        </p:txBody>
      </p:sp>
      <p:sp>
        <p:nvSpPr>
          <p:cNvPr id="17446" name="Rectangle 17445"/>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copyable paper</a:t>
            </a:r>
          </a:p>
        </p:txBody>
      </p:sp>
      <p:sp>
        <p:nvSpPr>
          <p:cNvPr id="17447" name="Rectangle 17446"/>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editable PDF</a:t>
            </a:r>
          </a:p>
        </p:txBody>
      </p:sp>
      <p:sp>
        <p:nvSpPr>
          <p:cNvPr id="17448" name="Rectangle 17447"/>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signed QR</a:t>
            </a:r>
          </a:p>
        </p:txBody>
      </p:sp>
      <p:sp>
        <p:nvSpPr>
          <p:cNvPr id="17449" name="Rectangle 17448"/>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Buyer can check</a:t>
            </a:r>
          </a:p>
        </p:txBody>
      </p:sp>
      <p:sp>
        <p:nvSpPr>
          <p:cNvPr id="17450" name="Rectangle 17449"/>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no</a:t>
            </a:r>
          </a:p>
        </p:txBody>
      </p:sp>
      <p:sp>
        <p:nvSpPr>
          <p:cNvPr id="17451" name="Rectangle 17450"/>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rarely</a:t>
            </a:r>
          </a:p>
        </p:txBody>
      </p:sp>
      <p:sp>
        <p:nvSpPr>
          <p:cNvPr id="17452" name="Rectangle 17451"/>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any phone, offline</a:t>
            </a:r>
          </a:p>
        </p:txBody>
      </p:sp>
      <p:sp>
        <p:nvSpPr>
          <p:cNvPr id="17453" name="Rectangle 17452"/>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Field record</a:t>
            </a:r>
          </a:p>
        </p:txBody>
      </p:sp>
      <p:sp>
        <p:nvSpPr>
          <p:cNvPr id="17454" name="Rectangle 17453"/>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register</a:t>
            </a:r>
          </a:p>
        </p:txBody>
      </p:sp>
      <p:sp>
        <p:nvSpPr>
          <p:cNvPr id="17455" name="Rectangle 17454"/>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 later</a:t>
            </a:r>
          </a:p>
        </p:txBody>
      </p:sp>
      <p:sp>
        <p:nvSpPr>
          <p:cNvPr id="17456" name="Rectangle 17455"/>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phone, offline</a:t>
            </a:r>
          </a:p>
        </p:txBody>
      </p:sp>
      <p:sp>
        <p:nvSpPr>
          <p:cNvPr id="17457" name="Rectangle 17456"/>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Pass / fail</a:t>
            </a:r>
          </a:p>
        </p:txBody>
      </p:sp>
      <p:sp>
        <p:nvSpPr>
          <p:cNvPr id="17458" name="Rectangle 17457"/>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judgement</a:t>
            </a:r>
          </a:p>
        </p:txBody>
      </p:sp>
      <p:sp>
        <p:nvSpPr>
          <p:cNvPr id="17459" name="Rectangle 17458"/>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a:t>
            </a:r>
          </a:p>
        </p:txBody>
      </p:sp>
      <p:sp>
        <p:nvSpPr>
          <p:cNvPr id="17460" name="Rectangle 17459"/>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computed vs MPE</a:t>
            </a:r>
          </a:p>
        </p:txBody>
      </p:sp>
      <p:sp>
        <p:nvSpPr>
          <p:cNvPr id="17461" name="Rectangle 17460"/>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Across States</a:t>
            </a:r>
          </a:p>
        </p:txBody>
      </p:sp>
      <p:sp>
        <p:nvSpPr>
          <p:cNvPr id="17462" name="Rectangle 17461"/>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separate</a:t>
            </a:r>
          </a:p>
        </p:txBody>
      </p:sp>
      <p:sp>
        <p:nvSpPr>
          <p:cNvPr id="17463" name="Rectangle 17462"/>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one per State</a:t>
            </a:r>
          </a:p>
        </p:txBody>
      </p:sp>
      <p:sp>
        <p:nvSpPr>
          <p:cNvPr id="17464" name="Rectangle 17463"/>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one platform</a:t>
            </a:r>
          </a:p>
        </p:txBody>
      </p:sp>
      <p:sp>
        <p:nvSpPr>
          <p:cNvPr id="17465" name="Rounded Rectangle 17464"/>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66" name="Picture 17465" descr="image.png">
            <a:hlinkClick r:id="rId13"/>
          </p:cNvPr>
          <p:cNvPicPr>
            <a:picLocks noChangeAspect="1"/>
          </p:cNvPicPr>
          <p:nvPr/>
        </p:nvPicPr>
        <p:blipFill>
          <a:blip r:embed="rId12"/>
          <a:stretch>
            <a:fillRect/>
          </a:stretch>
        </p:blipFill>
        <p:spPr>
          <a:xfrm>
            <a:off x="7680960" y="4965192"/>
            <a:ext cx="1188720" cy="1188720"/>
          </a:xfrm>
          <a:prstGeom prst="rect">
            <a:avLst/>
          </a:prstGeom>
        </p:spPr>
      </p:pic>
      <p:sp>
        <p:nvSpPr>
          <p:cNvPr id="17467" name="TextBox 17466"/>
          <p:cNvSpPr txBox="1"/>
          <p:nvPr/>
        </p:nvSpPr>
        <p:spPr>
          <a:xfrm>
            <a:off x="8961120" y="4983480"/>
            <a:ext cx="2770632" cy="1188720"/>
          </a:xfrm>
          <a:prstGeom prst="rect">
            <a:avLst/>
          </a:prstGeom>
          <a:noFill/>
        </p:spPr>
        <p:txBody>
          <a:bodyPr wrap="square" anchor="t" lIns="0" rIns="0" tIns="0" bIns="0">
            <a:spAutoFit/>
          </a:bodyPr>
          <a:lstStyle/>
          <a:p>
            <a:pPr algn="l">
              <a:spcAft>
                <a:spcPts val="200"/>
              </a:spcAft>
            </a:pPr>
            <a:r>
              <a:rPr sz="12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on 30 Sep 2026. Your phone checks the signature.</a:t>
            </a:r>
          </a:p>
          <a:p>
            <a:pPr algn="l">
              <a:spcAft>
                <a:spcPts val="200"/>
              </a:spcAft>
            </a:pPr>
            <a:r>
              <a:rPr sz="850" b="0" i="0">
                <a:solidFill>
                  <a:srgbClr val="5B6573"/>
                </a:solidFill>
                <a:latin typeface="Calibri"/>
              </a:rPr>
              <a:t>Code: </a:t>
            </a:r>
            <a:r>
              <a:rPr sz="850" b="0" i="0" u="sng">
                <a:solidFill>
                  <a:srgbClr val="5B6573"/>
                </a:solidFill>
                <a:latin typeface="Calibri"/>
                <a:hlinkClick r:id="rId14"/>
              </a:rPr>
              <a:t>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