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9"/>
  </p:notesMasterIdLst>
  <p:sldIdLst>
    <p:sldId id="291" r:id="rId2"/>
    <p:sldId id="281" r:id="rId3"/>
    <p:sldId id="290" r:id="rId4"/>
    <p:sldId id="293" r:id="rId5"/>
    <p:sldId id="294" r:id="rId6"/>
    <p:sldId id="296" r:id="rId7"/>
  </p:sldIdLst>
  <p:sldSz cx="12192000" cy="6858000"/>
  <p:notesSz cx="6858000" cy="9144000"/>
  <p:defaultTextStyle>
    <a:defPPr>
      <a:defRPr lang="en-US"/>
    </a:defPPr>
    <a:lvl1pPr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1pPr>
    <a:lvl2pPr marL="4572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2pPr>
    <a:lvl3pPr marL="9144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3pPr>
    <a:lvl4pPr marL="13716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4pPr>
    <a:lvl5pPr marL="1828800" algn="l" defTabSz="457200" rtl="0" fontAlgn="base">
      <a:spcBef>
        <a:spcPct val="0"/>
      </a:spcBef>
      <a:spcAft>
        <a:spcPct val="0"/>
      </a:spcAft>
      <a:defRPr kern="1200">
        <a:solidFill>
          <a:schemeClr val="tx1"/>
        </a:solidFill>
        <a:latin typeface="Calibri" pitchFamily="34" charset="0"/>
        <a:ea typeface="ＭＳ Ｐゴシック" pitchFamily="1" charset="-128"/>
        <a:cs typeface="+mn-cs"/>
      </a:defRPr>
    </a:lvl5pPr>
    <a:lvl6pPr marL="2286000" algn="l" defTabSz="914400" rtl="0" eaLnBrk="1" latinLnBrk="0" hangingPunct="1">
      <a:defRPr kern="1200">
        <a:solidFill>
          <a:schemeClr val="tx1"/>
        </a:solidFill>
        <a:latin typeface="Calibri" pitchFamily="34" charset="0"/>
        <a:ea typeface="ＭＳ Ｐゴシック" pitchFamily="1" charset="-128"/>
        <a:cs typeface="+mn-cs"/>
      </a:defRPr>
    </a:lvl6pPr>
    <a:lvl7pPr marL="2743200" algn="l" defTabSz="914400" rtl="0" eaLnBrk="1" latinLnBrk="0" hangingPunct="1">
      <a:defRPr kern="1200">
        <a:solidFill>
          <a:schemeClr val="tx1"/>
        </a:solidFill>
        <a:latin typeface="Calibri" pitchFamily="34" charset="0"/>
        <a:ea typeface="ＭＳ Ｐゴシック" pitchFamily="1" charset="-128"/>
        <a:cs typeface="+mn-cs"/>
      </a:defRPr>
    </a:lvl7pPr>
    <a:lvl8pPr marL="3200400" algn="l" defTabSz="914400" rtl="0" eaLnBrk="1" latinLnBrk="0" hangingPunct="1">
      <a:defRPr kern="1200">
        <a:solidFill>
          <a:schemeClr val="tx1"/>
        </a:solidFill>
        <a:latin typeface="Calibri" pitchFamily="34" charset="0"/>
        <a:ea typeface="ＭＳ Ｐゴシック" pitchFamily="1" charset="-128"/>
        <a:cs typeface="+mn-cs"/>
      </a:defRPr>
    </a:lvl8pPr>
    <a:lvl9pPr marL="3657600" algn="l" defTabSz="914400" rtl="0" eaLnBrk="1" latinLnBrk="0" hangingPunct="1">
      <a:defRPr kern="1200">
        <a:solidFill>
          <a:schemeClr val="tx1"/>
        </a:solidFill>
        <a:latin typeface="Calibri" pitchFamily="34" charset="0"/>
        <a:ea typeface="ＭＳ Ｐゴシック" pitchFamily="1" charset="-128"/>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BBB59"/>
    <a:srgbClr val="39B0D4"/>
    <a:srgbClr val="727272"/>
    <a:srgbClr val="010000"/>
    <a:srgbClr val="FFA751"/>
    <a:srgbClr val="32323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8" d="100"/>
          <a:sy n="68" d="100"/>
        </p:scale>
        <p:origin x="792" y="72"/>
      </p:cViewPr>
      <p:guideLst>
        <p:guide orient="horz" pos="2160"/>
        <p:guide pos="3840"/>
      </p:guideLst>
    </p:cSldViewPr>
  </p:slideViewPr>
  <p:notesTextViewPr>
    <p:cViewPr>
      <p:scale>
        <a:sx n="100" d="100"/>
        <a:sy n="100" d="100"/>
      </p:scale>
      <p:origin x="0" y="0"/>
    </p:cViewPr>
  </p:notesTextViewPr>
  <p:sorterViewPr>
    <p:cViewPr>
      <p:scale>
        <a:sx n="125" d="100"/>
        <a:sy n="125"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fld id="{C4D5ADD5-2BBC-4A94-8F86-D9013941F742}" type="datetimeFigureOut">
              <a:rPr lang="en-US"/>
              <a:pPr/>
              <a:t>6/2/2026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EC790738-CFC9-4A5E-8424-6B42AA5706F7}" type="slidenum">
              <a:rPr lang="en-US"/>
              <a:pPr/>
              <a:t>‹#›</a:t>
            </a:fld>
            <a:endParaRPr lang="en-US"/>
          </a:p>
        </p:txBody>
      </p:sp>
    </p:spTree>
    <p:extLst>
      <p:ext uri="{BB962C8B-B14F-4D97-AF65-F5344CB8AC3E}">
        <p14:creationId xmlns:p14="http://schemas.microsoft.com/office/powerpoint/2010/main" val="235749454"/>
      </p:ext>
    </p:extLst>
  </p:cSld>
  <p:clrMap bg1="lt1" tx1="dk1" bg2="lt2" tx2="dk2" accent1="accent1" accent2="accent2" accent3="accent3" accent4="accent4" accent5="accent5" accent6="accent6" hlink="hlink" folHlink="folHlink"/>
  <p:notesStyle>
    <a:lvl1pPr algn="l" defTabSz="457200" rtl="0" eaLnBrk="0" fontAlgn="base" hangingPunct="0">
      <a:spcBef>
        <a:spcPct val="30000"/>
      </a:spcBef>
      <a:spcAft>
        <a:spcPct val="0"/>
      </a:spcAft>
      <a:defRPr sz="1200" kern="1200">
        <a:solidFill>
          <a:schemeClr val="tx1"/>
        </a:solidFill>
        <a:latin typeface="+mn-lt"/>
        <a:ea typeface="ＭＳ Ｐゴシック" charset="0"/>
        <a:cs typeface="ＭＳ Ｐゴシック" charset="0"/>
      </a:defRPr>
    </a:lvl1pPr>
    <a:lvl2pPr marL="4572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2pPr>
    <a:lvl3pPr marL="9144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3pPr>
    <a:lvl4pPr marL="13716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4pPr>
    <a:lvl5pPr marL="1828800" algn="l" defTabSz="457200" rtl="0" eaLnBrk="0" fontAlgn="base" hangingPunct="0">
      <a:spcBef>
        <a:spcPct val="30000"/>
      </a:spcBef>
      <a:spcAft>
        <a:spcPct val="0"/>
      </a:spcAft>
      <a:defRPr sz="1200" kern="1200">
        <a:solidFill>
          <a:schemeClr val="tx1"/>
        </a:solidFill>
        <a:latin typeface="+mn-lt"/>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6386" name="Notes Placeholder 2"/>
          <p:cNvSpPr>
            <a:spLocks noGrp="1"/>
          </p:cNvSpPr>
          <p:nvPr>
            <p:ph type="body" idx="1"/>
          </p:nvPr>
        </p:nvSpPr>
        <p:spPr bwMode="auto">
          <a:noFill/>
        </p:spPr>
        <p:txBody>
          <a:bodyPr wrap="square" numCol="1" anchor="t" anchorCtr="0" compatLnSpc="1">
            <a:prstTxWarp prst="textNoShape">
              <a:avLst/>
            </a:prstTxWarp>
          </a:bodyPr>
          <a:lstStyle/>
          <a:p>
            <a:r>
              <a:t>Walk one Delhi shop scale through the 8 steps. Point out: step 5 works with no network, step 6 is calculated not typed, step 7 is signed on the server, step 8 needs no login or internet. The green loop is re-verification with reminders.</a:t>
            </a:r>
          </a:p>
        </p:txBody>
      </p:sp>
      <p:sp>
        <p:nvSpPr>
          <p:cNvPr id="16387" name="Slide Number Placeholder 3"/>
          <p:cNvSpPr>
            <a:spLocks noGrp="1"/>
          </p:cNvSpPr>
          <p:nvPr>
            <p:ph type="sldNum" sz="quarter" idx="5"/>
          </p:nvPr>
        </p:nvSpPr>
        <p:spPr bwMode="auto">
          <a:noFill/>
          <a:ln>
            <a:miter lim="800000"/>
            <a:headEnd/>
            <a:tailEnd/>
          </a:ln>
        </p:spPr>
        <p:txBody>
          <a:bodyPr/>
          <a:lstStyle/>
          <a:p>
            <a:fld id="{65F62A7E-A2F8-438F-9CF8-47DE63F471B4}" type="slidenum">
              <a:rPr lang="en-US"/>
              <a:pPr/>
              <a:t>2</a:t>
            </a:fld>
            <a:endParaRPr lang="en-US"/>
          </a:p>
        </p:txBody>
      </p:sp>
    </p:spTree>
    <p:extLst>
      <p:ext uri="{BB962C8B-B14F-4D97-AF65-F5344CB8AC3E}">
        <p14:creationId xmlns:p14="http://schemas.microsoft.com/office/powerpoint/2010/main" val="29040732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Everything in the diagram is deployed and running. Secrets (signing key, Gemini key, SMS keys) live only in the server functions. The database enforces who sees what, and blocks illegal changes: an owner cannot mark their own scale verified. Fake QR: the certificate details travel inside the QR with a signature; change one character and the phone rejects it. The database itself refuses a certificate unless the inspecting officer recorded a pass with every reading inside the limit. The two screenshots are the live site on a phone.</a:t>
            </a:r>
          </a:p>
        </p:txBody>
      </p:sp>
      <p:sp>
        <p:nvSpPr>
          <p:cNvPr id="18435" name="Slide Number Placeholder 3"/>
          <p:cNvSpPr>
            <a:spLocks noGrp="1"/>
          </p:cNvSpPr>
          <p:nvPr>
            <p:ph type="sldNum" sz="quarter" idx="5"/>
          </p:nvPr>
        </p:nvSpPr>
        <p:spPr bwMode="auto">
          <a:noFill/>
          <a:ln>
            <a:miter lim="800000"/>
            <a:headEnd/>
            <a:tailEnd/>
          </a:ln>
        </p:spPr>
        <p:txBody>
          <a:bodyPr/>
          <a:lstStyle/>
          <a:p>
            <a:fld id="{0CA7B74D-3791-4AC6-8451-F10DBCCCDD9A}" type="slidenum">
              <a:rPr lang="en-US"/>
              <a:pPr/>
              <a:t>3</a:t>
            </a:fld>
            <a:endParaRPr lang="en-US"/>
          </a:p>
        </p:txBody>
      </p:sp>
    </p:spTree>
    <p:extLst>
      <p:ext uri="{BB962C8B-B14F-4D97-AF65-F5344CB8AC3E}">
        <p14:creationId xmlns:p14="http://schemas.microsoft.com/office/powerpoint/2010/main" val="23352062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Table is honest: tick = works on the live site now, half = wired but needs a provider key. Before the final build we test with 5 LMOs and 1 GATC in one district and only proceed if the usability score is at least 70. Viability: the customer is the government; traders and citizens never pay. Running cost is small (pay-per-use cloud, no licence fee) and fits in the service charge States already collect. Funding path: SIH award and incubation, then Startup India Seed Fund or MeitY Startup Hub, then State e-governance budgets.</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377350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Green numbers were measured on the live system on 30 Sep 2026; they measure the software, not the physical test time on site. Blue numbers are pilot targets we will measure against the district's paper register. Dashboards for pending applications and inspections are live in the Pendency &amp; Impact screen.</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26417228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p:cNvSpPr>
            <a:spLocks noGrp="1" noRot="1" noChangeAspect="1"/>
          </p:cNvSpPr>
          <p:nvPr>
            <p:ph type="sldImg"/>
          </p:nvPr>
        </p:nvSpPr>
        <p:spPr bwMode="auto">
          <a:xfrm>
            <a:off x="381000" y="685800"/>
            <a:ext cx="6096000" cy="3429000"/>
          </a:xfrm>
          <a:noFill/>
          <a:ln>
            <a:solidFill>
              <a:srgbClr val="000000"/>
            </a:solidFill>
            <a:miter lim="800000"/>
            <a:headEnd/>
            <a:tailEnd/>
          </a:ln>
        </p:spPr>
      </p:sp>
      <p:sp>
        <p:nvSpPr>
          <p:cNvPr id="18434" name="Notes Placeholder 2"/>
          <p:cNvSpPr>
            <a:spLocks noGrp="1"/>
          </p:cNvSpPr>
          <p:nvPr>
            <p:ph type="body" idx="1"/>
          </p:nvPr>
        </p:nvSpPr>
        <p:spPr bwMode="auto">
          <a:noFill/>
        </p:spPr>
        <p:txBody>
          <a:bodyPr wrap="square" numCol="1" anchor="t" anchorCtr="0" compatLnSpc="1">
            <a:prstTxWarp prst="textNoShape">
              <a:avLst/>
            </a:prstTxWarp>
          </a:bodyPr>
          <a:lstStyle/>
          <a:p>
            <a:r>
              <a:t>Each decision traces to a published rule; every reference is a clickable official document, checked on 1 Oct 2026.  Invite the judges to scan the green QR: it opens a certificate we issued and signed on the live system during testing.</a:t>
            </a:r>
          </a:p>
        </p:txBody>
      </p:sp>
      <p:sp>
        <p:nvSpPr>
          <p:cNvPr id="18435" name="Slide Number Placeholder 3"/>
          <p:cNvSpPr>
            <a:spLocks noGrp="1"/>
          </p:cNvSpPr>
          <p:nvPr>
            <p:ph type="sldNum" sz="quarter" idx="5"/>
          </p:nvPr>
        </p:nvSpPr>
        <p:spPr bwMode="auto">
          <a:noFill/>
          <a:ln>
            <a:miter lim="800000"/>
            <a:headEnd/>
            <a:tailEnd/>
          </a:ln>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0CA7B74D-3791-4AC6-8451-F10DBCCCDD9A}" type="slidenum">
              <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0" i="0" u="none" strike="noStrike" kern="1200" cap="none" spc="0" normalizeH="0" baseline="0" noProof="0">
              <a:ln>
                <a:noFill/>
              </a:ln>
              <a:solidFill>
                <a:prstClr val="black"/>
              </a:solidFill>
              <a:effectLst/>
              <a:uLnTx/>
              <a:uFillTx/>
              <a:latin typeface="Calibri" pitchFamily="34" charset="0"/>
              <a:ea typeface="ＭＳ Ｐゴシック" pitchFamily="1" charset="-128"/>
              <a:cs typeface="+mn-cs"/>
            </a:endParaRPr>
          </a:p>
        </p:txBody>
      </p:sp>
    </p:spTree>
    <p:extLst>
      <p:ext uri="{BB962C8B-B14F-4D97-AF65-F5344CB8AC3E}">
        <p14:creationId xmlns:p14="http://schemas.microsoft.com/office/powerpoint/2010/main" val="1908672725"/>
      </p:ext>
    </p:extLst>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line: scales and fuel pumps are verified on paper today and a buyer cannot tell a real stamp from a fake. TULA gives every instrument one digital ID, runs its verification online, and issues a signed QR certificate anyone can check.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E60792E3-D524-454C-8AFD-A91972900BCB}"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5B7E1BAA-A38D-40DE-B22C-DF9BD7D82058}"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08B7524-32A2-4C20-A58C-BC3BAA1042FC}"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677C3CE7-23F7-4828-823C-E0205DF2CF97}"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1E994447-D6B2-43BB-A877-57F1A267B99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41DB31D2-2A87-4F4C-A9AD-05C6CC2B321D}"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3"/>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68920E16-BD35-483C-AA6B-346FC7E46DEA}"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E1FC16D9-1635-4844-816A-0A8A2160FADA}"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2FEAC6F8-5103-4FC0-A69E-5C6AE6469DA8}" type="datetime1">
              <a:rPr lang="en-US" smtClean="0"/>
              <a:t>6/2/2026</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9" name="Slide Number Placeholder 5"/>
          <p:cNvSpPr>
            <a:spLocks noGrp="1"/>
          </p:cNvSpPr>
          <p:nvPr>
            <p:ph type="sldNum" sz="quarter" idx="12"/>
          </p:nvPr>
        </p:nvSpPr>
        <p:spPr/>
        <p:txBody>
          <a:bodyPr/>
          <a:lstStyle>
            <a:lvl1pPr>
              <a:defRPr/>
            </a:lvl1pPr>
          </a:lstStyle>
          <a:p>
            <a:fld id="{71C4100A-98DE-4944-910A-A93F5CA9F724}"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C60C6921-0627-4C8F-83D5-0CF936D2FFDD}" type="datetime1">
              <a:rPr lang="en-US" smtClean="0"/>
              <a:t>6/2/2026</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5" name="Slide Number Placeholder 5"/>
          <p:cNvSpPr>
            <a:spLocks noGrp="1"/>
          </p:cNvSpPr>
          <p:nvPr>
            <p:ph type="sldNum" sz="quarter" idx="12"/>
          </p:nvPr>
        </p:nvSpPr>
        <p:spPr/>
        <p:txBody>
          <a:bodyPr/>
          <a:lstStyle>
            <a:lvl1pPr>
              <a:defRPr/>
            </a:lvl1pPr>
          </a:lstStyle>
          <a:p>
            <a:fld id="{6A63342B-5A73-45DC-864D-086DE78037EF}"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2FF08AD7-8103-40F8-983C-E2BA6BB9CBE0}" type="datetime1">
              <a:rPr lang="en-US" smtClean="0"/>
              <a:t>6/2/2026</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4" name="Slide Number Placeholder 5"/>
          <p:cNvSpPr>
            <a:spLocks noGrp="1"/>
          </p:cNvSpPr>
          <p:nvPr>
            <p:ph type="sldNum" sz="quarter" idx="12"/>
          </p:nvPr>
        </p:nvSpPr>
        <p:spPr/>
        <p:txBody>
          <a:bodyPr/>
          <a:lstStyle>
            <a:lvl1pPr>
              <a:defRPr/>
            </a:lvl1pPr>
          </a:lstStyle>
          <a:p>
            <a:fld id="{B635AFB3-1ACD-44AC-8702-86B1729DF035}"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DF8C06B4-9380-4A4D-AF49-A3596E17DAF5}"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05CF15F3-5E77-4C57-9E21-50D6D1D6C022}"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EF7FDEF1-C582-4E22-9E77-D68326471F28}" type="datetime1">
              <a:rPr lang="en-US" smtClean="0"/>
              <a:t>6/2/2026</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7" name="Slide Number Placeholder 5"/>
          <p:cNvSpPr>
            <a:spLocks noGrp="1"/>
          </p:cNvSpPr>
          <p:nvPr>
            <p:ph type="sldNum" sz="quarter" idx="12"/>
          </p:nvPr>
        </p:nvSpPr>
        <p:spPr/>
        <p:txBody>
          <a:bodyPr/>
          <a:lstStyle>
            <a:lvl1pPr>
              <a:defRPr/>
            </a:lvl1pPr>
          </a:lstStyle>
          <a:p>
            <a:fld id="{1242169A-B3C7-4FB6-967F-AF95F4EB331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053C3A68-6922-42D3-8905-ECC2D82A3469}"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94FDD027-5576-4F27-AAB6-1D994836EE78}"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1"/>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1"/>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CB69E9F4-7604-4950-A8B2-8ACDEDB1506E}" type="datetime1">
              <a:rPr lang="en-US" smtClean="0"/>
              <a:t>6/2/2026</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@SIH Idea submission- Template</a:t>
            </a:r>
          </a:p>
        </p:txBody>
      </p:sp>
      <p:sp>
        <p:nvSpPr>
          <p:cNvPr id="6" name="Slide Number Placeholder 5"/>
          <p:cNvSpPr>
            <a:spLocks noGrp="1"/>
          </p:cNvSpPr>
          <p:nvPr>
            <p:ph type="sldNum" sz="quarter" idx="12"/>
          </p:nvPr>
        </p:nvSpPr>
        <p:spPr/>
        <p:txBody>
          <a:bodyPr/>
          <a:lstStyle>
            <a:lvl1pPr>
              <a:defRPr/>
            </a:lvl1pPr>
          </a:lstStyle>
          <a:p>
            <a:fld id="{2957CE61-8714-431B-A40A-01B1C5541AB7}"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47625"/>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095375"/>
            <a:ext cx="10972800" cy="50307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3"/>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a:solidFill>
                  <a:srgbClr val="898989"/>
                </a:solidFill>
                <a:latin typeface="TradeGothic" pitchFamily="1" charset="0"/>
              </a:defRPr>
            </a:lvl1pPr>
          </a:lstStyle>
          <a:p>
            <a:fld id="{780A9602-A9A9-453F-AEF1-37B5837E02CD}" type="datetime1">
              <a:rPr lang="en-US" smtClean="0"/>
              <a:t>6/2/2026</a:t>
            </a:fld>
            <a:endParaRPr lang="en-US"/>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TradeGothic"/>
                <a:ea typeface="+mn-ea"/>
                <a:cs typeface="+mn-cs"/>
              </a:defRPr>
            </a:lvl1pPr>
          </a:lstStyle>
          <a:p>
            <a:pPr>
              <a:defRPr/>
            </a:pPr>
            <a:r>
              <a:rPr lang="en-US"/>
              <a:t>@SIH Idea submission- Template</a:t>
            </a:r>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TradeGothic" pitchFamily="1" charset="0"/>
              </a:defRPr>
            </a:lvl1pPr>
          </a:lstStyle>
          <a:p>
            <a:fld id="{1411BA53-830D-4830-BB65-E58DBE17D0B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0" fontAlgn="base" hangingPunct="0">
        <a:spcBef>
          <a:spcPct val="0"/>
        </a:spcBef>
        <a:spcAft>
          <a:spcPct val="0"/>
        </a:spcAft>
        <a:defRPr sz="4400" kern="1200">
          <a:solidFill>
            <a:schemeClr val="tx1"/>
          </a:solidFill>
          <a:latin typeface="TradeGothic"/>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TradeGothic"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TradeGothic"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itchFamily="34" charset="0"/>
        <a:buChar char="•"/>
        <a:defRPr sz="3200" kern="1200">
          <a:solidFill>
            <a:schemeClr val="tx1"/>
          </a:solidFill>
          <a:latin typeface="TradeGothic"/>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itchFamily="34" charset="0"/>
        <a:buChar char="–"/>
        <a:defRPr sz="2800" kern="1200">
          <a:solidFill>
            <a:schemeClr val="tx1"/>
          </a:solidFill>
          <a:latin typeface="TradeGothic"/>
          <a:ea typeface="ＭＳ Ｐゴシック" charset="0"/>
          <a:cs typeface="+mn-cs"/>
        </a:defRPr>
      </a:lvl2pPr>
      <a:lvl3pPr marL="1143000" indent="-228600" algn="l" defTabSz="457200" rtl="0" eaLnBrk="0" fontAlgn="base" hangingPunct="0">
        <a:spcBef>
          <a:spcPct val="20000"/>
        </a:spcBef>
        <a:spcAft>
          <a:spcPct val="0"/>
        </a:spcAft>
        <a:buFont typeface="Arial" pitchFamily="34" charset="0"/>
        <a:buChar char="•"/>
        <a:defRPr sz="2400" kern="1200">
          <a:solidFill>
            <a:schemeClr val="tx1"/>
          </a:solidFill>
          <a:latin typeface="TradeGothic"/>
          <a:ea typeface="ＭＳ Ｐゴシック" charset="0"/>
          <a:cs typeface="+mn-cs"/>
        </a:defRPr>
      </a:lvl3pPr>
      <a:lvl4pPr marL="16002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4pPr>
      <a:lvl5pPr marL="2057400" indent="-228600" algn="l" defTabSz="457200" rtl="0" eaLnBrk="0" fontAlgn="base" hangingPunct="0">
        <a:spcBef>
          <a:spcPct val="20000"/>
        </a:spcBef>
        <a:spcAft>
          <a:spcPct val="0"/>
        </a:spcAft>
        <a:buFont typeface="Arial" pitchFamily="34" charset="0"/>
        <a:buChar char="»"/>
        <a:defRPr sz="2000" kern="1200">
          <a:solidFill>
            <a:schemeClr val="tx1"/>
          </a:solidFill>
          <a:latin typeface="TradeGothic"/>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hyperlink" Target="https://tula-legal-metrology.vercel.app" TargetMode="External"/><Relationship Id="rId5" Type="http://schemas.openxmlformats.org/officeDocument/2006/relationships/notesSlide" Target="../notesSlides/notesSlide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3.jpg"/><Relationship Id="rId5"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5.png"/><Relationship Id="rId5" Type="http://schemas.openxmlformats.org/officeDocument/2006/relationships/hyperlink" Target="https://tula-legal-metrology.vercel.app/demo"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2.png"/><Relationship Id="rId4" Type="http://schemas.openxmlformats.org/officeDocument/2006/relationships/hyperlink" Target="https://lmdca.gujarat.gov.in/clmdca/documents/the-legal-metrology-act-2009.pdf" TargetMode="External"/><Relationship Id="rId5" Type="http://schemas.openxmlformats.org/officeDocument/2006/relationships/hyperlink" Target="https://weightnmeasures.delhi.gov.in/sites/default/files/inline-files/delhi_legal_metrology_enforcement_rules_2011_english.pdf" TargetMode="External"/><Relationship Id="rId6" Type="http://schemas.openxmlformats.org/officeDocument/2006/relationships/hyperlink" Target="https://lmdca.gujarat.gov.in/en/fee-structure" TargetMode="External"/><Relationship Id="rId7" Type="http://schemas.openxmlformats.org/officeDocument/2006/relationships/hyperlink" Target="https://weightnmeasures.delhi.gov.in/sites/default/files/inline-files/w_m_manual_17-faqs.pdf" TargetMode="External"/><Relationship Id="rId8" Type="http://schemas.openxmlformats.org/officeDocument/2006/relationships/hyperlink" Target="https://lm.doca.gov.in/modelapproval/Certificates.aspx" TargetMode="External"/><Relationship Id="rId9" Type="http://schemas.openxmlformats.org/officeDocument/2006/relationships/hyperlink" Target="https://www.oiml.org/en/files/pdf_r/r076-1-e06.pdf" TargetMode="External"/><Relationship Id="rId10" Type="http://schemas.openxmlformats.org/officeDocument/2006/relationships/hyperlink" Target="https://www.oiml.org/en/files/pdf_r/r117-1-e19.pdf" TargetMode="External"/><Relationship Id="rId11" Type="http://schemas.openxmlformats.org/officeDocument/2006/relationships/hyperlink" Target="https://tula-legal-metrology.vercel.app/sources" TargetMode="External"/><Relationship Id="rId12" Type="http://schemas.openxmlformats.org/officeDocument/2006/relationships/image" Target="../media/image10.png"/><Relationship Id="rId13" Type="http://schemas.openxmlformats.org/officeDocument/2006/relationships/hyperlink" Target="https://tula-legal-metrology.vercel.app/verify/DL%2FLM%2F2026%2F08913" TargetMode="External"/><Relationship Id="rId14" Type="http://schemas.openxmlformats.org/officeDocument/2006/relationships/hyperlink" Target="https://github.com/prerak2507/tula-legal-metrology"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24">
            <a:extLst>
              <a:ext uri="{FF2B5EF4-FFF2-40B4-BE49-F238E27FC236}">
                <a16:creationId xmlns:a16="http://schemas.microsoft.com/office/drawing/2014/main" id="{3E443FD7-A66B-4AA0-872D-B088B9BC5F1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2400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Freeform: Shape 26">
            <a:extLst>
              <a:ext uri="{FF2B5EF4-FFF2-40B4-BE49-F238E27FC236}">
                <a16:creationId xmlns:a16="http://schemas.microsoft.com/office/drawing/2014/main" id="{C04BE0EF-3561-49B4-9A29-F283168A91C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56780" y="851521"/>
            <a:ext cx="4638605" cy="5154967"/>
          </a:xfrm>
          <a:custGeom>
            <a:avLst/>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a:schemeClr val="tx1">
              <a:lumMod val="50000"/>
              <a:lumOff val="50000"/>
              <a:alpha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a:extLst>
              <a:ext uri="{FF2B5EF4-FFF2-40B4-BE49-F238E27FC236}">
                <a16:creationId xmlns:a16="http://schemas.microsoft.com/office/drawing/2014/main" id="{9120848B-B2B4-45BE-A961-AEC0B06CF41B}"/>
              </a:ext>
            </a:extLst>
          </p:cNvPr>
          <p:cNvPicPr>
            <a:picLocks noChangeAspect="1"/>
          </p:cNvPicPr>
          <p:nvPr/>
        </p:nvPicPr>
        <p:blipFill rotWithShape="1">
          <a:blip r:embed="rId2"/>
          <a:srcRect r="59916"/>
          <a:stretch/>
        </p:blipFill>
        <p:spPr>
          <a:xfrm>
            <a:off x="6854891" y="1715881"/>
            <a:ext cx="3203509" cy="3426237"/>
          </a:xfrm>
          <a:prstGeom prst="rect">
            <a:avLst/>
          </a:prstGeom>
        </p:spPr>
      </p:pic>
      <p:sp>
        <p:nvSpPr>
          <p:cNvPr id="4" name="Subtitle 3"/>
          <p:cNvSpPr>
            <a:spLocks noGrp="1"/>
          </p:cNvSpPr>
          <p:nvPr>
            <p:ph type="subTitle" idx="1"/>
          </p:nvPr>
        </p:nvSpPr>
        <p:spPr>
          <a:xfrm>
            <a:off x="1245686" y="648614"/>
            <a:ext cx="8534400" cy="1752600"/>
          </a:xfrm>
        </p:spPr>
        <p:txBody>
          <a:bodyPr/>
          <a:lstStyle/>
          <a:p>
            <a:endParaRPr lang="en-US" b="1" dirty="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TITLE PAGE</a:t>
            </a:r>
            <a:endParaRPr lang="en-IN" b="1" dirty="0">
              <a:solidFill>
                <a:schemeClr val="tx1"/>
              </a:solidFill>
              <a:latin typeface="Times New Roman" panose="02020603050405020304" pitchFamily="18" charset="0"/>
              <a:cs typeface="Times New Roman" panose="02020603050405020304" pitchFamily="18" charset="0"/>
            </a:endParaRPr>
          </a:p>
        </p:txBody>
      </p:sp>
      <p:sp>
        <p:nvSpPr>
          <p:cNvPr id="8" name="Title 7"/>
          <p:cNvSpPr>
            <a:spLocks noGrp="1"/>
          </p:cNvSpPr>
          <p:nvPr>
            <p:ph type="ctrTitle"/>
          </p:nvPr>
        </p:nvSpPr>
        <p:spPr>
          <a:xfrm>
            <a:off x="331286" y="-526757"/>
            <a:ext cx="10363200" cy="2076450"/>
          </a:xfrm>
        </p:spPr>
        <p:txBody>
          <a:bodyPr/>
          <a:lstStyle/>
          <a:p>
            <a:r>
              <a:rPr lang="en-US" sz="4000" b="1" dirty="0">
                <a:solidFill>
                  <a:schemeClr val="tx2"/>
                </a:solidFill>
                <a:latin typeface="Garamond" panose="02020404030301010803" pitchFamily="18" charset="0"/>
              </a:rPr>
              <a:t>SMART INDIA HACKATHON </a:t>
            </a:r>
            <a:r>
              <a:rPr lang="en-US" sz="4000" b="1" dirty="0" smtClean="0">
                <a:solidFill>
                  <a:schemeClr val="tx2"/>
                </a:solidFill>
                <a:latin typeface="Garamond" panose="02020404030301010803" pitchFamily="18" charset="0"/>
              </a:rPr>
              <a:t>2026</a:t>
            </a:r>
            <a:endParaRPr lang="en-IN" sz="4000" b="1" dirty="0">
              <a:solidFill>
                <a:schemeClr val="tx2"/>
              </a:solidFill>
              <a:latin typeface="Garamond" panose="02020404030301010803" pitchFamily="18"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38" name="Rounded Rectangle 37"/>
          <p:cNvSpPr/>
          <p:nvPr/>
        </p:nvSpPr>
        <p:spPr>
          <a:xfrm>
            <a:off x="384048" y="1828800"/>
            <a:ext cx="5806440"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tIns="27432" bIns="27432"/>
          <a:lstStyle/>
          <a:p>
            <a:pPr algn="l"/>
            <a:r>
              <a:rPr sz="2600" b="1" i="0">
                <a:solidFill>
                  <a:srgbClr val="FFFFFF"/>
                </a:solidFill>
                <a:latin typeface="Calibri"/>
              </a:rPr>
              <a:t>TULA  </a:t>
            </a:r>
            <a:r>
              <a:rPr sz="1300" b="1" i="0">
                <a:solidFill>
                  <a:srgbClr val="FFFFFF"/>
                </a:solidFill>
                <a:latin typeface="Calibri"/>
              </a:rPr>
              <a:t>Unified Digital Lifecycle Platform for Legal Metrology</a:t>
            </a:r>
          </a:p>
        </p:txBody>
      </p:sp>
      <p:sp>
        <p:nvSpPr>
          <p:cNvPr id="39" name="TextBox 38"/>
          <p:cNvSpPr txBox="1"/>
          <p:nvPr/>
        </p:nvSpPr>
        <p:spPr>
          <a:xfrm>
            <a:off x="384048" y="2743200"/>
            <a:ext cx="5852160" cy="3017520"/>
          </a:xfrm>
          <a:prstGeom prst="rect">
            <a:avLst/>
          </a:prstGeom>
          <a:noFill/>
        </p:spPr>
        <p:txBody>
          <a:bodyPr wrap="square">
            <a:spAutoFit/>
          </a:bodyPr>
          <a:lstStyle/>
          <a:p>
            <a:pPr marL="274320" indent="-274320">
              <a:spcAft>
                <a:spcPts val="500"/>
              </a:spcAft>
              <a:buFont typeface="Arial"/>
              <a:buChar char="•"/>
            </a:pPr>
            <a:r>
              <a:rPr sz="1700" b="1" i="0">
                <a:solidFill>
                  <a:srgbClr val="1F2937"/>
                </a:solidFill>
                <a:latin typeface="Calibri"/>
              </a:rPr>
              <a:t>Problem Statement ID – </a:t>
            </a:r>
            <a:r>
              <a:rPr sz="1700" b="0" i="0">
                <a:solidFill>
                  <a:srgbClr val="1F2937"/>
                </a:solidFill>
                <a:latin typeface="Calibri"/>
              </a:rPr>
              <a:t>26036</a:t>
            </a:r>
          </a:p>
          <a:p>
            <a:pPr marL="274320" indent="-274320">
              <a:spcAft>
                <a:spcPts val="500"/>
              </a:spcAft>
              <a:buFont typeface="Arial"/>
              <a:buChar char="•"/>
            </a:pPr>
            <a:r>
              <a:rPr sz="1700" b="1" i="0">
                <a:solidFill>
                  <a:srgbClr val="1F2937"/>
                </a:solidFill>
                <a:latin typeface="Calibri"/>
              </a:rPr>
              <a:t>Problem Statement Title – </a:t>
            </a:r>
            <a:r>
              <a:rPr sz="1700" b="0" i="0">
                <a:solidFill>
                  <a:srgbClr val="1F2937"/>
                </a:solidFill>
                <a:latin typeface="Calibri"/>
              </a:rPr>
              <a:t>Development of an Online Verification System for Weighing and Measuring Instruments</a:t>
            </a:r>
          </a:p>
          <a:p>
            <a:pPr marL="274320" indent="-274320">
              <a:spcAft>
                <a:spcPts val="500"/>
              </a:spcAft>
              <a:buFont typeface="Arial"/>
              <a:buChar char="•"/>
            </a:pPr>
            <a:r>
              <a:rPr sz="1700" b="1" i="0">
                <a:solidFill>
                  <a:srgbClr val="1F2937"/>
                </a:solidFill>
                <a:latin typeface="Calibri"/>
              </a:rPr>
              <a:t>Theme – </a:t>
            </a:r>
            <a:r>
              <a:rPr sz="1700" b="0" i="0">
                <a:solidFill>
                  <a:srgbClr val="1F2937"/>
                </a:solidFill>
                <a:latin typeface="Calibri"/>
              </a:rPr>
              <a:t>Miscellaneous</a:t>
            </a:r>
          </a:p>
          <a:p>
            <a:pPr marL="274320" indent="-274320">
              <a:spcAft>
                <a:spcPts val="500"/>
              </a:spcAft>
              <a:buFont typeface="Arial"/>
              <a:buChar char="•"/>
            </a:pPr>
            <a:r>
              <a:rPr sz="1700" b="1" i="0">
                <a:solidFill>
                  <a:srgbClr val="1F2937"/>
                </a:solidFill>
                <a:latin typeface="Calibri"/>
              </a:rPr>
              <a:t>PS Category – </a:t>
            </a:r>
            <a:r>
              <a:rPr sz="1700" b="0" i="0">
                <a:solidFill>
                  <a:srgbClr val="1F2937"/>
                </a:solidFill>
                <a:latin typeface="Calibri"/>
              </a:rPr>
              <a:t>Software</a:t>
            </a:r>
          </a:p>
          <a:p>
            <a:pPr marL="274320" indent="-274320">
              <a:spcAft>
                <a:spcPts val="500"/>
              </a:spcAft>
              <a:buFont typeface="Arial"/>
              <a:buChar char="•"/>
            </a:pPr>
            <a:r>
              <a:rPr sz="1700" b="1" i="0">
                <a:solidFill>
                  <a:srgbClr val="1F2937"/>
                </a:solidFill>
                <a:latin typeface="Calibri"/>
              </a:rPr>
              <a:t>Team ID – </a:t>
            </a:r>
            <a:r>
              <a:rPr sz="1700" b="0" i="0">
                <a:solidFill>
                  <a:srgbClr val="1F2937"/>
                </a:solidFill>
                <a:latin typeface="Calibri"/>
              </a:rPr>
              <a:t>182718</a:t>
            </a:r>
          </a:p>
          <a:p>
            <a:pPr marL="274320" indent="-274320">
              <a:spcAft>
                <a:spcPts val="500"/>
              </a:spcAft>
              <a:buFont typeface="Arial"/>
              <a:buChar char="•"/>
            </a:pPr>
            <a:r>
              <a:rPr sz="1700" b="1" i="0">
                <a:solidFill>
                  <a:srgbClr val="1F2937"/>
                </a:solidFill>
                <a:latin typeface="Calibri"/>
              </a:rPr>
              <a:t>Team Name – </a:t>
            </a:r>
            <a:r>
              <a:rPr sz="1700" b="0" i="0">
                <a:solidFill>
                  <a:srgbClr val="1F2937"/>
                </a:solidFill>
                <a:latin typeface="Calibri"/>
              </a:rPr>
              <a:t>FriendlyFire</a:t>
            </a:r>
          </a:p>
        </p:txBody>
      </p:sp>
      <p:sp>
        <p:nvSpPr>
          <p:cNvPr id="40" name="TextBox 39"/>
          <p:cNvSpPr txBox="1"/>
          <p:nvPr/>
        </p:nvSpPr>
        <p:spPr>
          <a:xfrm>
            <a:off x="384048" y="5760720"/>
            <a:ext cx="6035040" cy="274320"/>
          </a:xfrm>
          <a:prstGeom prst="rect">
            <a:avLst/>
          </a:prstGeom>
          <a:noFill/>
        </p:spPr>
        <p:txBody>
          <a:bodyPr wrap="square" anchor="t" lIns="0" rIns="0" tIns="0" bIns="0">
            <a:spAutoFit/>
          </a:bodyPr>
          <a:lstStyle/>
          <a:p>
            <a:pPr algn="l"/>
            <a:r>
              <a:rPr sz="1250" b="1" i="1">
                <a:solidFill>
                  <a:srgbClr val="0070C0"/>
                </a:solidFill>
                <a:latin typeface="Calibri"/>
              </a:rPr>
              <a:t>One instrument → one digital ID → one certificate anyone can check</a:t>
            </a:r>
          </a:p>
        </p:txBody>
      </p:sp>
      <p:sp>
        <p:nvSpPr>
          <p:cNvPr id="41" name="TextBox 40"/>
          <p:cNvSpPr txBox="1"/>
          <p:nvPr/>
        </p:nvSpPr>
        <p:spPr>
          <a:xfrm>
            <a:off x="384048" y="6053328"/>
            <a:ext cx="6035040" cy="274320"/>
          </a:xfrm>
          <a:prstGeom prst="rect">
            <a:avLst/>
          </a:prstGeom>
          <a:noFill/>
        </p:spPr>
        <p:txBody>
          <a:bodyPr wrap="square" anchor="t" lIns="0" rIns="0" tIns="0" bIns="0">
            <a:spAutoFit/>
          </a:bodyPr>
          <a:lstStyle/>
          <a:p>
            <a:pPr algn="l"/>
            <a:r>
              <a:rPr sz="1100" b="1" i="0">
                <a:solidFill>
                  <a:srgbClr val="1E7B4A"/>
                </a:solidFill>
                <a:latin typeface="Calibri"/>
              </a:rPr>
              <a:t>Live prototype: </a:t>
            </a:r>
            <a:r>
              <a:rPr sz="1100" b="0" i="0" u="sng">
                <a:solidFill>
                  <a:srgbClr val="1E7B4A"/>
                </a:solidFill>
                <a:latin typeface="Calibri"/>
                <a:hlinkClick r:id="rId4"/>
              </a:rPr>
              <a:t>tula-legal-metrology.vercel.app</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5361" name="Title 1"/>
          <p:cNvSpPr>
            <a:spLocks noGrp="1"/>
          </p:cNvSpPr>
          <p:nvPr>
            <p:ph type="title"/>
          </p:nvPr>
        </p:nvSpPr>
        <p:spPr>
          <a:xfrm>
            <a:off x="182998" y="0"/>
            <a:ext cx="10972800" cy="1143000"/>
          </a:xfrm>
        </p:spPr>
        <p:txBody>
          <a:bodyPr/>
          <a:lstStyle/>
          <a:p>
            <a:pPr eaLnBrk="1" hangingPunct="1"/>
            <a:r>
              <a:rPr lang="en-US" sz="2800" b="1" dirty="0">
                <a:latin typeface="Times New Roman" panose="02020603050405020304" pitchFamily="18" charset="0"/>
                <a:ea typeface="ＭＳ Ｐゴシック" pitchFamily="1" charset="-128"/>
                <a:cs typeface="Times New Roman" panose="02020603050405020304" pitchFamily="18" charset="0"/>
              </a:rPr>
              <a:t>TULA: ONE INSTRUMENT, ONE DIGITAL ID</a:t>
            </a:r>
            <a:br>
              <a:rPr lang="en-US" sz="3600" b="1" dirty="0">
                <a:latin typeface="Times New Roman" panose="02020603050405020304" pitchFamily="18" charset="0"/>
                <a:ea typeface="ＭＳ Ｐゴシック" pitchFamily="1" charset="-128"/>
                <a:cs typeface="Times New Roman" panose="02020603050405020304" pitchFamily="18" charset="0"/>
              </a:rPr>
            </a:br>
            <a:r>
              <a:rPr lang="en-US" sz="3600" b="1" dirty="0">
                <a:latin typeface="Times New Roman" panose="02020603050405020304" pitchFamily="18" charset="0"/>
                <a:ea typeface="ＭＳ Ｐゴシック" pitchFamily="1" charset="-128"/>
                <a:cs typeface="Times New Roman" panose="02020603050405020304" pitchFamily="18" charset="0"/>
              </a:rPr>
              <a:t/>
            </a:r>
          </a:p>
        </p:txBody>
      </p:sp>
      <p:sp>
        <p:nvSpPr>
          <p:cNvPr id="6" name="Slide Number Placeholder 5"/>
          <p:cNvSpPr>
            <a:spLocks noGrp="1"/>
          </p:cNvSpPr>
          <p:nvPr>
            <p:ph type="sldNum" sz="quarter" idx="12"/>
          </p:nvPr>
        </p:nvSpPr>
        <p:spPr/>
        <p:txBody>
          <a:bodyPr/>
          <a:lstStyle/>
          <a:p>
            <a:fld id="{677C3CE7-23F7-4828-823C-E0205DF2CF97}" type="slidenum">
              <a:rPr lang="en-US" b="1" smtClean="0">
                <a:solidFill>
                  <a:schemeClr val="bg1"/>
                </a:solidFill>
              </a:rPr>
              <a:pPr/>
              <a:t>2</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0" name="Oval 9"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5362" name="TextBox 15361"/>
          <p:cNvSpPr txBox="1"/>
          <p:nvPr/>
        </p:nvSpPr>
        <p:spPr>
          <a:xfrm>
            <a:off x="365760" y="1170432"/>
            <a:ext cx="8229600" cy="274320"/>
          </a:xfrm>
          <a:prstGeom prst="rect">
            <a:avLst/>
          </a:prstGeom>
          <a:noFill/>
        </p:spPr>
        <p:txBody>
          <a:bodyPr wrap="square" anchor="t" lIns="0" rIns="0" tIns="0" bIns="0">
            <a:spAutoFit/>
          </a:bodyPr>
          <a:lstStyle/>
          <a:p>
            <a:pPr algn="l"/>
            <a:r>
              <a:rPr sz="1250" b="1" i="0">
                <a:solidFill>
                  <a:srgbClr val="1F3F6E"/>
                </a:solidFill>
                <a:latin typeface="Calibri"/>
              </a:rPr>
              <a:t>PROPOSED SOLUTION</a:t>
            </a:r>
          </a:p>
        </p:txBody>
      </p:sp>
      <p:sp>
        <p:nvSpPr>
          <p:cNvPr id="15363" name="Rounded Rectangle 15362"/>
          <p:cNvSpPr/>
          <p:nvPr/>
        </p:nvSpPr>
        <p:spPr>
          <a:xfrm>
            <a:off x="365760" y="1426464"/>
            <a:ext cx="11457432" cy="457200"/>
          </a:xfrm>
          <a:prstGeom prst="roundRect">
            <a:avLst>
              <a:gd name="adj" fmla="val 12000"/>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l"/>
            <a:r>
              <a:rPr sz="1200" b="1" i="0">
                <a:solidFill>
                  <a:srgbClr val="1F3F6E"/>
                </a:solidFill>
                <a:latin typeface="Calibri"/>
              </a:rPr>
              <a:t>A live web + mobile platform: every instrument gets a permanent Digital ID, </a:t>
            </a:r>
            <a:r>
              <a:rPr sz="1200" b="0" i="0">
                <a:solidFill>
                  <a:srgbClr val="1F2937"/>
                </a:solidFill>
                <a:latin typeface="Calibri"/>
              </a:rPr>
              <a:t>and application, scrutiny, field inspection (works offline), signed QR certificate, reminders and enforcement all attach to it.</a:t>
            </a:r>
          </a:p>
        </p:txBody>
      </p:sp>
      <p:sp>
        <p:nvSpPr>
          <p:cNvPr id="15364" name="TextBox 15363"/>
          <p:cNvSpPr txBox="1"/>
          <p:nvPr/>
        </p:nvSpPr>
        <p:spPr>
          <a:xfrm>
            <a:off x="365760" y="1956816"/>
            <a:ext cx="8229600" cy="274320"/>
          </a:xfrm>
          <a:prstGeom prst="rect">
            <a:avLst/>
          </a:prstGeom>
          <a:noFill/>
        </p:spPr>
        <p:txBody>
          <a:bodyPr wrap="square" anchor="t" lIns="0" rIns="0" tIns="0" bIns="0">
            <a:spAutoFit/>
          </a:bodyPr>
          <a:lstStyle/>
          <a:p>
            <a:pPr algn="l"/>
            <a:r>
              <a:rPr sz="1250" b="1" i="0">
                <a:solidFill>
                  <a:srgbClr val="1F3F6E"/>
                </a:solidFill>
                <a:latin typeface="Calibri"/>
              </a:rPr>
              <a:t>DETAILED EXPLANATION: the life of one instrument (built and running)</a:t>
            </a:r>
          </a:p>
        </p:txBody>
      </p:sp>
      <p:sp>
        <p:nvSpPr>
          <p:cNvPr id="15365" name="Rounded Rectangle 15364"/>
          <p:cNvSpPr/>
          <p:nvPr/>
        </p:nvSpPr>
        <p:spPr>
          <a:xfrm>
            <a:off x="365760"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Register</a:t>
            </a:r>
          </a:p>
          <a:p>
            <a:pPr algn="ctr"/>
            <a:r>
              <a:rPr sz="900" b="0" i="0">
                <a:solidFill>
                  <a:srgbClr val="5B6573"/>
                </a:solidFill>
                <a:latin typeface="Calibri"/>
              </a:rPr>
              <a:t>account + Digital ID</a:t>
            </a:r>
          </a:p>
        </p:txBody>
      </p:sp>
      <p:sp>
        <p:nvSpPr>
          <p:cNvPr id="15366" name="Oval 15365"/>
          <p:cNvSpPr/>
          <p:nvPr/>
        </p:nvSpPr>
        <p:spPr>
          <a:xfrm>
            <a:off x="274320"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1</a:t>
            </a:r>
          </a:p>
        </p:txBody>
      </p:sp>
      <p:cxnSp>
        <p:nvCxnSpPr>
          <p:cNvPr id="15367" name="Connector 15366"/>
          <p:cNvCxnSpPr/>
          <p:nvPr/>
        </p:nvCxnSpPr>
        <p:spPr>
          <a:xfrm>
            <a:off x="1645919"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68" name="Rounded Rectangle 15367"/>
          <p:cNvSpPr/>
          <p:nvPr/>
        </p:nvSpPr>
        <p:spPr>
          <a:xfrm>
            <a:off x="1822268"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Apply</a:t>
            </a:r>
          </a:p>
          <a:p>
            <a:pPr algn="ctr"/>
            <a:r>
              <a:rPr sz="900" b="0" i="0">
                <a:solidFill>
                  <a:srgbClr val="5B6573"/>
                </a:solidFill>
                <a:latin typeface="Calibri"/>
              </a:rPr>
              <a:t>docs, fee from State Schedule IX</a:t>
            </a:r>
          </a:p>
        </p:txBody>
      </p:sp>
      <p:sp>
        <p:nvSpPr>
          <p:cNvPr id="15369" name="Oval 15368"/>
          <p:cNvSpPr/>
          <p:nvPr/>
        </p:nvSpPr>
        <p:spPr>
          <a:xfrm>
            <a:off x="1730828"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2</a:t>
            </a:r>
          </a:p>
        </p:txBody>
      </p:sp>
      <p:cxnSp>
        <p:nvCxnSpPr>
          <p:cNvPr id="15370" name="Connector 15369"/>
          <p:cNvCxnSpPr/>
          <p:nvPr/>
        </p:nvCxnSpPr>
        <p:spPr>
          <a:xfrm>
            <a:off x="3102428"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1" name="Rounded Rectangle 15370"/>
          <p:cNvSpPr/>
          <p:nvPr/>
        </p:nvSpPr>
        <p:spPr>
          <a:xfrm>
            <a:off x="3278777" y="2331720"/>
            <a:ext cx="1261872" cy="713232"/>
          </a:xfrm>
          <a:prstGeom prst="roundRect">
            <a:avLst>
              <a:gd name="adj" fmla="val 10256"/>
            </a:avLst>
          </a:prstGeom>
          <a:solidFill>
            <a:srgbClr val="F0EAF8"/>
          </a:solidFill>
          <a:ln w="1905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6B3FA0"/>
                </a:solidFill>
                <a:latin typeface="Calibri"/>
              </a:rPr>
              <a:t>Scrutiny</a:t>
            </a:r>
          </a:p>
          <a:p>
            <a:pPr algn="ctr"/>
            <a:r>
              <a:rPr sz="900" b="0" i="0">
                <a:solidFill>
                  <a:srgbClr val="5B6573"/>
                </a:solidFill>
                <a:latin typeface="Calibri"/>
              </a:rPr>
              <a:t>approval mark vs DoCA register</a:t>
            </a:r>
          </a:p>
        </p:txBody>
      </p:sp>
      <p:sp>
        <p:nvSpPr>
          <p:cNvPr id="15372" name="Oval 15371"/>
          <p:cNvSpPr/>
          <p:nvPr/>
        </p:nvSpPr>
        <p:spPr>
          <a:xfrm>
            <a:off x="3187337" y="2212848"/>
            <a:ext cx="274320" cy="274320"/>
          </a:xfrm>
          <a:prstGeom prst="ellipse">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3</a:t>
            </a:r>
          </a:p>
        </p:txBody>
      </p:sp>
      <p:cxnSp>
        <p:nvCxnSpPr>
          <p:cNvPr id="15373" name="Connector 15372"/>
          <p:cNvCxnSpPr/>
          <p:nvPr/>
        </p:nvCxnSpPr>
        <p:spPr>
          <a:xfrm>
            <a:off x="4558937" y="2688336"/>
            <a:ext cx="158060"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4" name="Rounded Rectangle 15373"/>
          <p:cNvSpPr/>
          <p:nvPr/>
        </p:nvSpPr>
        <p:spPr>
          <a:xfrm>
            <a:off x="4735285"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Assign</a:t>
            </a:r>
          </a:p>
          <a:p>
            <a:pPr algn="ctr"/>
            <a:r>
              <a:rPr sz="900" b="0" i="0">
                <a:solidFill>
                  <a:srgbClr val="5B6573"/>
                </a:solidFill>
                <a:latin typeface="Calibri"/>
              </a:rPr>
              <a:t>district + workload</a:t>
            </a:r>
          </a:p>
        </p:txBody>
      </p:sp>
      <p:sp>
        <p:nvSpPr>
          <p:cNvPr id="15375" name="Oval 15374"/>
          <p:cNvSpPr/>
          <p:nvPr/>
        </p:nvSpPr>
        <p:spPr>
          <a:xfrm>
            <a:off x="4643845"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4</a:t>
            </a:r>
          </a:p>
        </p:txBody>
      </p:sp>
      <p:cxnSp>
        <p:nvCxnSpPr>
          <p:cNvPr id="15376" name="Connector 15375"/>
          <p:cNvCxnSpPr/>
          <p:nvPr/>
        </p:nvCxnSpPr>
        <p:spPr>
          <a:xfrm>
            <a:off x="6015445"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77" name="Rounded Rectangle 15376"/>
          <p:cNvSpPr/>
          <p:nvPr/>
        </p:nvSpPr>
        <p:spPr>
          <a:xfrm>
            <a:off x="6191794" y="2331720"/>
            <a:ext cx="1261872" cy="713232"/>
          </a:xfrm>
          <a:prstGeom prst="roundRect">
            <a:avLst>
              <a:gd name="adj" fmla="val 10256"/>
            </a:avLst>
          </a:prstGeom>
          <a:solidFill>
            <a:srgbClr val="FFFFFF"/>
          </a:solidFill>
          <a:ln w="1905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F3F6E"/>
                </a:solidFill>
                <a:latin typeface="Calibri"/>
              </a:rPr>
              <a:t>Inspect</a:t>
            </a:r>
          </a:p>
          <a:p>
            <a:pPr algn="ctr"/>
            <a:r>
              <a:rPr sz="900" b="0" i="0">
                <a:solidFill>
                  <a:srgbClr val="5B6573"/>
                </a:solidFill>
                <a:latin typeface="Calibri"/>
              </a:rPr>
              <a:t>phone app, offline</a:t>
            </a:r>
          </a:p>
        </p:txBody>
      </p:sp>
      <p:sp>
        <p:nvSpPr>
          <p:cNvPr id="15378" name="Oval 15377"/>
          <p:cNvSpPr/>
          <p:nvPr/>
        </p:nvSpPr>
        <p:spPr>
          <a:xfrm>
            <a:off x="6100354" y="2212848"/>
            <a:ext cx="274320" cy="274320"/>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5</a:t>
            </a:r>
          </a:p>
        </p:txBody>
      </p:sp>
      <p:cxnSp>
        <p:nvCxnSpPr>
          <p:cNvPr id="15379" name="Connector 15378"/>
          <p:cNvCxnSpPr/>
          <p:nvPr/>
        </p:nvCxnSpPr>
        <p:spPr>
          <a:xfrm>
            <a:off x="7471954" y="2688336"/>
            <a:ext cx="158060"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0" name="Rounded Rectangle 15379"/>
          <p:cNvSpPr/>
          <p:nvPr/>
        </p:nvSpPr>
        <p:spPr>
          <a:xfrm>
            <a:off x="7648302" y="2331720"/>
            <a:ext cx="1261872" cy="713232"/>
          </a:xfrm>
          <a:prstGeom prst="roundRect">
            <a:avLst>
              <a:gd name="adj" fmla="val 10256"/>
            </a:avLst>
          </a:prstGeom>
          <a:solidFill>
            <a:srgbClr val="FCEFE5"/>
          </a:solidFill>
          <a:ln w="1905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D9661F"/>
                </a:solidFill>
                <a:latin typeface="Calibri"/>
              </a:rPr>
              <a:t>Decide</a:t>
            </a:r>
          </a:p>
          <a:p>
            <a:pPr algn="ctr"/>
            <a:r>
              <a:rPr sz="900" b="0" i="0">
                <a:solidFill>
                  <a:srgbClr val="5B6573"/>
                </a:solidFill>
                <a:latin typeface="Calibri"/>
              </a:rPr>
              <a:t>readings vs MPE</a:t>
            </a:r>
          </a:p>
        </p:txBody>
      </p:sp>
      <p:sp>
        <p:nvSpPr>
          <p:cNvPr id="15381" name="Oval 15380"/>
          <p:cNvSpPr/>
          <p:nvPr/>
        </p:nvSpPr>
        <p:spPr>
          <a:xfrm>
            <a:off x="7556862" y="2212848"/>
            <a:ext cx="274320" cy="274320"/>
          </a:xfrm>
          <a:prstGeom prst="ellipse">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6</a:t>
            </a:r>
          </a:p>
        </p:txBody>
      </p:sp>
      <p:cxnSp>
        <p:nvCxnSpPr>
          <p:cNvPr id="15382" name="Connector 15381"/>
          <p:cNvCxnSpPr/>
          <p:nvPr/>
        </p:nvCxnSpPr>
        <p:spPr>
          <a:xfrm>
            <a:off x="8928462"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3" name="Rounded Rectangle 15382"/>
          <p:cNvSpPr/>
          <p:nvPr/>
        </p:nvSpPr>
        <p:spPr>
          <a:xfrm>
            <a:off x="9104811"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E7B4A"/>
                </a:solidFill>
                <a:latin typeface="Calibri"/>
              </a:rPr>
              <a:t>Certificate</a:t>
            </a:r>
          </a:p>
          <a:p>
            <a:pPr algn="ctr"/>
            <a:r>
              <a:rPr sz="900" b="0" i="0">
                <a:solidFill>
                  <a:srgbClr val="5B6573"/>
                </a:solidFill>
                <a:latin typeface="Calibri"/>
              </a:rPr>
              <a:t>ECDSA-signed QR</a:t>
            </a:r>
          </a:p>
        </p:txBody>
      </p:sp>
      <p:sp>
        <p:nvSpPr>
          <p:cNvPr id="15384" name="Oval 15383"/>
          <p:cNvSpPr/>
          <p:nvPr/>
        </p:nvSpPr>
        <p:spPr>
          <a:xfrm>
            <a:off x="9013371"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7</a:t>
            </a:r>
          </a:p>
        </p:txBody>
      </p:sp>
      <p:cxnSp>
        <p:nvCxnSpPr>
          <p:cNvPr id="15385" name="Connector 15384"/>
          <p:cNvCxnSpPr/>
          <p:nvPr/>
        </p:nvCxnSpPr>
        <p:spPr>
          <a:xfrm>
            <a:off x="10384971" y="2688336"/>
            <a:ext cx="158061" cy="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sp>
        <p:nvSpPr>
          <p:cNvPr id="15386" name="Rounded Rectangle 15385"/>
          <p:cNvSpPr/>
          <p:nvPr/>
        </p:nvSpPr>
        <p:spPr>
          <a:xfrm>
            <a:off x="10561319" y="2331720"/>
            <a:ext cx="1261872" cy="713232"/>
          </a:xfrm>
          <a:prstGeom prst="roundRect">
            <a:avLst>
              <a:gd name="adj" fmla="val 10256"/>
            </a:avLst>
          </a:prstGeom>
          <a:solidFill>
            <a:srgbClr val="E6F4EC"/>
          </a:solidFill>
          <a:ln w="1905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250" b="1" i="0">
                <a:solidFill>
                  <a:srgbClr val="1E7B4A"/>
                </a:solidFill>
                <a:latin typeface="Calibri"/>
              </a:rPr>
              <a:t>Verify</a:t>
            </a:r>
          </a:p>
          <a:p>
            <a:pPr algn="ctr"/>
            <a:r>
              <a:rPr sz="900" b="0" i="0">
                <a:solidFill>
                  <a:srgbClr val="5B6573"/>
                </a:solidFill>
                <a:latin typeface="Calibri"/>
              </a:rPr>
              <a:t>any phone, no login</a:t>
            </a:r>
          </a:p>
        </p:txBody>
      </p:sp>
      <p:sp>
        <p:nvSpPr>
          <p:cNvPr id="15387" name="Oval 15386"/>
          <p:cNvSpPr/>
          <p:nvPr/>
        </p:nvSpPr>
        <p:spPr>
          <a:xfrm>
            <a:off x="10469880" y="2212848"/>
            <a:ext cx="274320" cy="274320"/>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950" b="1" i="0">
                <a:solidFill>
                  <a:srgbClr val="FFFFFF"/>
                </a:solidFill>
                <a:latin typeface="Calibri"/>
              </a:rPr>
              <a:t>8</a:t>
            </a:r>
          </a:p>
        </p:txBody>
      </p:sp>
      <p:cxnSp>
        <p:nvCxnSpPr>
          <p:cNvPr id="15388" name="Connector 15387"/>
          <p:cNvCxnSpPr/>
          <p:nvPr/>
        </p:nvCxnSpPr>
        <p:spPr>
          <a:xfrm>
            <a:off x="9735747" y="3044952"/>
            <a:ext cx="0" cy="18288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89" name="Connector 15388"/>
          <p:cNvCxnSpPr/>
          <p:nvPr/>
        </p:nvCxnSpPr>
        <p:spPr>
          <a:xfrm flipH="1">
            <a:off x="2453204" y="3227832"/>
            <a:ext cx="7282543" cy="0"/>
          </a:xfrm>
          <a:prstGeom prst="line">
            <a:avLst/>
          </a:prstGeom>
          <a:ln w="22225">
            <a:solidFill>
              <a:srgbClr val="1E7B4A"/>
            </a:solidFill>
          </a:ln>
        </p:spPr>
        <p:style>
          <a:lnRef idx="2">
            <a:schemeClr val="accent1"/>
          </a:lnRef>
          <a:fillRef idx="0">
            <a:schemeClr val="accent1"/>
          </a:fillRef>
          <a:effectRef idx="1">
            <a:schemeClr val="accent1"/>
          </a:effectRef>
          <a:fontRef idx="minor">
            <a:schemeClr val="tx1"/>
          </a:fontRef>
        </p:style>
      </p:cxnSp>
      <p:cxnSp>
        <p:nvCxnSpPr>
          <p:cNvPr id="15390" name="Connector 15389"/>
          <p:cNvCxnSpPr/>
          <p:nvPr/>
        </p:nvCxnSpPr>
        <p:spPr>
          <a:xfrm flipV="1">
            <a:off x="2453204" y="3063240"/>
            <a:ext cx="0" cy="164592"/>
          </a:xfrm>
          <a:prstGeom prst="line">
            <a:avLst/>
          </a:prstGeom>
          <a:ln w="22225">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5391" name="TextBox 15390"/>
          <p:cNvSpPr txBox="1"/>
          <p:nvPr/>
        </p:nvSpPr>
        <p:spPr>
          <a:xfrm>
            <a:off x="2910404" y="3246120"/>
            <a:ext cx="6583680" cy="237744"/>
          </a:xfrm>
          <a:prstGeom prst="rect">
            <a:avLst/>
          </a:prstGeom>
          <a:noFill/>
        </p:spPr>
        <p:txBody>
          <a:bodyPr wrap="square" anchor="t" lIns="0" rIns="0" tIns="0" bIns="0">
            <a:spAutoFit/>
          </a:bodyPr>
          <a:lstStyle/>
          <a:p>
            <a:pPr algn="l"/>
            <a:r>
              <a:rPr sz="1050" b="1" i="0">
                <a:solidFill>
                  <a:srgbClr val="1E7B4A"/>
                </a:solidFill>
                <a:latin typeface="Calibri"/>
              </a:rPr>
              <a:t>SMS / email reminders at 30, 15, 7, 1 days  →  re-verification on the same Digital ID</a:t>
            </a:r>
          </a:p>
        </p:txBody>
      </p:sp>
      <p:sp>
        <p:nvSpPr>
          <p:cNvPr id="15392" name="Rounded Rectangle 15391"/>
          <p:cNvSpPr/>
          <p:nvPr/>
        </p:nvSpPr>
        <p:spPr>
          <a:xfrm>
            <a:off x="6319810" y="3474720"/>
            <a:ext cx="1005840" cy="219456"/>
          </a:xfrm>
          <a:prstGeom prst="roundRect">
            <a:avLst>
              <a:gd name="adj" fmla="val 41666"/>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850" b="1" i="0">
                <a:solidFill>
                  <a:srgbClr val="FFFFFF"/>
                </a:solidFill>
                <a:latin typeface="Calibri"/>
              </a:rPr>
              <a:t>no network OK</a:t>
            </a:r>
          </a:p>
        </p:txBody>
      </p:sp>
      <p:sp>
        <p:nvSpPr>
          <p:cNvPr id="15393" name="TextBox 15392"/>
          <p:cNvSpPr txBox="1"/>
          <p:nvPr/>
        </p:nvSpPr>
        <p:spPr>
          <a:xfrm>
            <a:off x="365760" y="3639312"/>
            <a:ext cx="8229600" cy="274320"/>
          </a:xfrm>
          <a:prstGeom prst="rect">
            <a:avLst/>
          </a:prstGeom>
          <a:noFill/>
        </p:spPr>
        <p:txBody>
          <a:bodyPr wrap="square" anchor="t" lIns="0" rIns="0" tIns="0" bIns="0">
            <a:spAutoFit/>
          </a:bodyPr>
          <a:lstStyle/>
          <a:p>
            <a:pPr algn="l"/>
            <a:r>
              <a:rPr sz="1250" b="1" i="0">
                <a:solidFill>
                  <a:srgbClr val="1F3F6E"/>
                </a:solidFill>
                <a:latin typeface="Calibri"/>
              </a:rPr>
              <a:t>HOW IT ADDRESSES THE PROBLEM</a:t>
            </a:r>
          </a:p>
        </p:txBody>
      </p:sp>
      <p:sp>
        <p:nvSpPr>
          <p:cNvPr id="15394" name="Rounded Rectangle 15393"/>
          <p:cNvSpPr/>
          <p:nvPr/>
        </p:nvSpPr>
        <p:spPr>
          <a:xfrm>
            <a:off x="365760"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Paper records in isolated systems</a:t>
            </a:r>
          </a:p>
          <a:p>
            <a:pPr algn="l"/>
            <a:r>
              <a:rPr sz="1150" b="1" i="0">
                <a:solidFill>
                  <a:srgbClr val="1F3F6E"/>
                </a:solidFill>
                <a:latin typeface="Calibri"/>
              </a:rPr>
              <a:t>→ One live database for every State</a:t>
            </a:r>
          </a:p>
        </p:txBody>
      </p:sp>
      <p:sp>
        <p:nvSpPr>
          <p:cNvPr id="15395" name="Rounded Rectangle 15394"/>
          <p:cNvSpPr/>
          <p:nvPr/>
        </p:nvSpPr>
        <p:spPr>
          <a:xfrm>
            <a:off x="3275838"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Manual scheduling, pendency</a:t>
            </a:r>
          </a:p>
          <a:p>
            <a:pPr algn="l"/>
            <a:r>
              <a:rPr sz="1150" b="1" i="0">
                <a:solidFill>
                  <a:srgbClr val="1F3F6E"/>
                </a:solidFill>
                <a:latin typeface="Calibri"/>
              </a:rPr>
              <a:t>→ Enforced workflow + pendency dashboard</a:t>
            </a:r>
          </a:p>
        </p:txBody>
      </p:sp>
      <p:sp>
        <p:nvSpPr>
          <p:cNvPr id="15396" name="Rounded Rectangle 15395"/>
          <p:cNvSpPr/>
          <p:nvPr/>
        </p:nvSpPr>
        <p:spPr>
          <a:xfrm>
            <a:off x="6185916"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Fake or copied certificates</a:t>
            </a:r>
          </a:p>
          <a:p>
            <a:pPr algn="l"/>
            <a:r>
              <a:rPr sz="1150" b="1" i="0">
                <a:solidFill>
                  <a:srgbClr val="1F3F6E"/>
                </a:solidFill>
                <a:latin typeface="Calibri"/>
              </a:rPr>
              <a:t>→ Signed QR: edited copies fail the scan</a:t>
            </a:r>
          </a:p>
        </p:txBody>
      </p:sp>
      <p:sp>
        <p:nvSpPr>
          <p:cNvPr id="15397" name="Rounded Rectangle 15396"/>
          <p:cNvSpPr/>
          <p:nvPr/>
        </p:nvSpPr>
        <p:spPr>
          <a:xfrm>
            <a:off x="9095994" y="3904487"/>
            <a:ext cx="2727198" cy="786384"/>
          </a:xfrm>
          <a:prstGeom prst="roundRect">
            <a:avLst>
              <a:gd name="adj" fmla="val 697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27432" bIns="27432"/>
          <a:lstStyle/>
          <a:p>
            <a:pPr algn="l"/>
            <a:r>
              <a:rPr sz="1050" b="0" i="0">
                <a:solidFill>
                  <a:srgbClr val="5B6573"/>
                </a:solidFill>
                <a:latin typeface="Calibri"/>
              </a:rPr>
              <a:t>Missed re-verification dates</a:t>
            </a:r>
          </a:p>
          <a:p>
            <a:pPr algn="l"/>
            <a:r>
              <a:rPr sz="1150" b="1" i="0">
                <a:solidFill>
                  <a:srgbClr val="1F3F6E"/>
                </a:solidFill>
                <a:latin typeface="Calibri"/>
              </a:rPr>
              <a:t>→ Automatic SMS / email reminders</a:t>
            </a:r>
          </a:p>
        </p:txBody>
      </p:sp>
      <p:sp>
        <p:nvSpPr>
          <p:cNvPr id="15398" name="TextBox 15397"/>
          <p:cNvSpPr txBox="1"/>
          <p:nvPr/>
        </p:nvSpPr>
        <p:spPr>
          <a:xfrm>
            <a:off x="365760" y="4800600"/>
            <a:ext cx="8229600" cy="274320"/>
          </a:xfrm>
          <a:prstGeom prst="rect">
            <a:avLst/>
          </a:prstGeom>
          <a:noFill/>
        </p:spPr>
        <p:txBody>
          <a:bodyPr wrap="square" anchor="t" lIns="0" rIns="0" tIns="0" bIns="0">
            <a:spAutoFit/>
          </a:bodyPr>
          <a:lstStyle/>
          <a:p>
            <a:pPr algn="l"/>
            <a:r>
              <a:rPr sz="1250" b="1" i="0">
                <a:solidFill>
                  <a:srgbClr val="1F3F6E"/>
                </a:solidFill>
                <a:latin typeface="Calibri"/>
              </a:rPr>
              <a:t>INNOVATION AND UNIQUENESS</a:t>
            </a:r>
          </a:p>
        </p:txBody>
      </p:sp>
      <p:sp>
        <p:nvSpPr>
          <p:cNvPr id="15399" name="Rounded Rectangle 15398"/>
          <p:cNvSpPr/>
          <p:nvPr/>
        </p:nvSpPr>
        <p:spPr>
          <a:xfrm>
            <a:off x="365760" y="5065776"/>
            <a:ext cx="2181758" cy="1161288"/>
          </a:xfrm>
          <a:prstGeom prst="roundRect">
            <a:avLst>
              <a:gd name="adj" fmla="val 5511"/>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Unfakeable QR</a:t>
            </a:r>
          </a:p>
          <a:p>
            <a:pPr algn="l"/>
            <a:r>
              <a:rPr sz="950" b="0" i="0">
                <a:solidFill>
                  <a:srgbClr val="FFFFFF"/>
                </a:solidFill>
                <a:latin typeface="Calibri"/>
              </a:rPr>
              <a:t>Server-signed (ECDSA P-256). Checked on any phone, even offline, plus a live revocation list</a:t>
            </a:r>
          </a:p>
        </p:txBody>
      </p:sp>
      <p:sp>
        <p:nvSpPr>
          <p:cNvPr id="15400" name="Rounded Rectangle 15399"/>
          <p:cNvSpPr/>
          <p:nvPr/>
        </p:nvSpPr>
        <p:spPr>
          <a:xfrm>
            <a:off x="2684678" y="5065776"/>
            <a:ext cx="2181758" cy="1161288"/>
          </a:xfrm>
          <a:prstGeom prst="roundRect">
            <a:avLst>
              <a:gd name="adj" fmla="val 5511"/>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Offline field app</a:t>
            </a:r>
          </a:p>
          <a:p>
            <a:pPr algn="l"/>
            <a:r>
              <a:rPr sz="950" b="0" i="0">
                <a:solidFill>
                  <a:srgbClr val="FFFFFF"/>
                </a:solidFill>
                <a:latin typeface="Calibri"/>
              </a:rPr>
              <a:t>Installable app. Inspection saves on the phone and syncs, signs and notifies on reconnect</a:t>
            </a:r>
          </a:p>
        </p:txBody>
      </p:sp>
      <p:sp>
        <p:nvSpPr>
          <p:cNvPr id="15401" name="Rounded Rectangle 15400"/>
          <p:cNvSpPr/>
          <p:nvPr/>
        </p:nvSpPr>
        <p:spPr>
          <a:xfrm>
            <a:off x="5003596" y="5065776"/>
            <a:ext cx="2181758" cy="1161288"/>
          </a:xfrm>
          <a:prstGeom prst="roundRect">
            <a:avLst>
              <a:gd name="adj" fmla="val 5511"/>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Computed verdict</a:t>
            </a:r>
          </a:p>
          <a:p>
            <a:pPr algn="l"/>
            <a:r>
              <a:rPr sz="950" b="0" i="0">
                <a:solidFill>
                  <a:srgbClr val="FFFFFF"/>
                </a:solidFill>
                <a:latin typeface="Calibri"/>
              </a:rPr>
              <a:t>Readings are checked against OIML MPE limits. PASS is impossible unless every check passes</a:t>
            </a:r>
          </a:p>
        </p:txBody>
      </p:sp>
      <p:sp>
        <p:nvSpPr>
          <p:cNvPr id="15402" name="Rounded Rectangle 15401"/>
          <p:cNvSpPr/>
          <p:nvPr/>
        </p:nvSpPr>
        <p:spPr>
          <a:xfrm>
            <a:off x="7322515" y="5065776"/>
            <a:ext cx="2181758" cy="1161288"/>
          </a:xfrm>
          <a:prstGeom prst="roundRect">
            <a:avLst>
              <a:gd name="adj" fmla="val 5511"/>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Multi-State by design</a:t>
            </a:r>
          </a:p>
          <a:p>
            <a:pPr algn="l"/>
            <a:r>
              <a:rPr sz="950" b="0" i="0">
                <a:solidFill>
                  <a:srgbClr val="FFFFFF"/>
                </a:solidFill>
                <a:latin typeface="Calibri"/>
              </a:rPr>
              <a:t>Each State's gazetted fees and rules are data (Delhi, Gujarat loaded). Database rules isolate each State</a:t>
            </a:r>
          </a:p>
        </p:txBody>
      </p:sp>
      <p:sp>
        <p:nvSpPr>
          <p:cNvPr id="15403" name="Rounded Rectangle 15402"/>
          <p:cNvSpPr/>
          <p:nvPr/>
        </p:nvSpPr>
        <p:spPr>
          <a:xfrm>
            <a:off x="9641433" y="5065776"/>
            <a:ext cx="2181758" cy="1161288"/>
          </a:xfrm>
          <a:prstGeom prst="roundRect">
            <a:avLst>
              <a:gd name="adj" fmla="val 5511"/>
            </a:avLst>
          </a:prstGeom>
          <a:solidFill>
            <a:srgbClr val="6B3F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0584" rIns="100584" tIns="27432" bIns="27432"/>
          <a:lstStyle/>
          <a:p>
            <a:pPr algn="l"/>
            <a:r>
              <a:rPr sz="1200" b="1" i="0">
                <a:solidFill>
                  <a:srgbClr val="FFFFFF"/>
                </a:solidFill>
                <a:latin typeface="Calibri"/>
              </a:rPr>
              <a:t>AI copilot, human decides</a:t>
            </a:r>
          </a:p>
          <a:p>
            <a:pPr algn="l"/>
            <a:r>
              <a:rPr sz="950" b="0" i="0">
                <a:solidFill>
                  <a:srgbClr val="FFFFFF"/>
                </a:solidFill>
                <a:latin typeface="Calibri"/>
              </a:rPr>
              <a:t>Gemini flags odd documents. It never approves, prices or passes anything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algn="ctr" fontAlgn="auto">
              <a:spcBef>
                <a:spcPts val="0"/>
              </a:spcBef>
              <a:spcAft>
                <a:spcPts val="0"/>
              </a:spcAft>
              <a:defRPr/>
            </a:pPr>
            <a:endParaRPr lang="en-US" dirty="0">
              <a:solidFill>
                <a:schemeClr val="accent2">
                  <a:lumMod val="75000"/>
                </a:schemeClr>
              </a:solidFill>
              <a:latin typeface="+mn-lt"/>
              <a:ea typeface="+mn-ea"/>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TECHNICAL APPROACH</a:t>
            </a:r>
          </a:p>
        </p:txBody>
      </p:sp>
      <p:sp>
        <p:nvSpPr>
          <p:cNvPr id="6" name="Slide Number Placeholder 5"/>
          <p:cNvSpPr>
            <a:spLocks noGrp="1"/>
          </p:cNvSpPr>
          <p:nvPr>
            <p:ph type="sldNum" sz="quarter" idx="12"/>
          </p:nvPr>
        </p:nvSpPr>
        <p:spPr/>
        <p:txBody>
          <a:bodyPr/>
          <a:lstStyle/>
          <a:p>
            <a:fld id="{677C3CE7-23F7-4828-823C-E0205DF2CF97}" type="slidenum">
              <a:rPr lang="en-US" b="1">
                <a:solidFill>
                  <a:schemeClr val="bg1"/>
                </a:solidFill>
              </a:rPr>
              <a:pPr/>
              <a:t>3</a:t>
            </a:fld>
            <a:endParaRPr lang="en-US" b="1" dirty="0">
              <a:solidFill>
                <a:schemeClr val="bg1"/>
              </a:solidFill>
            </a:endParaRPr>
          </a:p>
        </p:txBody>
      </p:sp>
      <p:sp>
        <p:nvSpPr>
          <p:cNvPr id="7" name="Footer Placeholder 6"/>
          <p:cNvSpPr>
            <a:spLocks noGrp="1"/>
          </p:cNvSpPr>
          <p:nvPr>
            <p:ph type="ftr" sz="quarter" idx="11"/>
          </p:nvPr>
        </p:nvSpPr>
        <p:spPr>
          <a:xfrm>
            <a:off x="4648200" y="6356353"/>
            <a:ext cx="3204000" cy="365125"/>
          </a:xfrm>
        </p:spPr>
        <p:txBody>
          <a:bodyPr/>
          <a:lstStyle/>
          <a:p>
            <a:pPr>
              <a:defRPr/>
            </a:pPr>
            <a:r>
              <a:rPr lang="en-US">
                <a:solidFill>
                  <a:schemeClr val="bg1"/>
                </a:solidFill>
              </a:rPr>
              <a:t>@SIH Idea submission- TULA</a:t>
            </a:r>
            <a:endParaRPr lang="en-US" dirty="0">
              <a:solidFill>
                <a:schemeClr val="bg1"/>
              </a:solidFill>
            </a:endParaRPr>
          </a:p>
        </p:txBody>
      </p:sp>
      <p:sp>
        <p:nvSpPr>
          <p:cNvPr id="11" name="Oval 10"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589520" cy="274320"/>
          </a:xfrm>
          <a:prstGeom prst="rect">
            <a:avLst/>
          </a:prstGeom>
          <a:noFill/>
        </p:spPr>
        <p:txBody>
          <a:bodyPr wrap="square" anchor="t" lIns="0" rIns="0" tIns="0" bIns="0">
            <a:spAutoFit/>
          </a:bodyPr>
          <a:lstStyle/>
          <a:p>
            <a:pPr algn="l"/>
            <a:r>
              <a:rPr sz="1250" b="1" i="0">
                <a:solidFill>
                  <a:srgbClr val="1F3F6E"/>
                </a:solidFill>
                <a:latin typeface="Calibri"/>
              </a:rPr>
              <a:t>METHODOLOGY AND PROCESS FOR IMPLEMENTATION (as deployed)</a:t>
            </a:r>
          </a:p>
        </p:txBody>
      </p:sp>
      <p:sp>
        <p:nvSpPr>
          <p:cNvPr id="17411" name="Rounded Rectangle 17410"/>
          <p:cNvSpPr/>
          <p:nvPr/>
        </p:nvSpPr>
        <p:spPr>
          <a:xfrm>
            <a:off x="365760" y="1444752"/>
            <a:ext cx="960120" cy="512064"/>
          </a:xfrm>
          <a:prstGeom prst="roundRect">
            <a:avLst>
              <a:gd name="adj" fmla="val 8928"/>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USERS</a:t>
            </a:r>
          </a:p>
        </p:txBody>
      </p:sp>
      <p:sp>
        <p:nvSpPr>
          <p:cNvPr id="17412" name="Rounded Rectangle 17411"/>
          <p:cNvSpPr/>
          <p:nvPr/>
        </p:nvSpPr>
        <p:spPr>
          <a:xfrm>
            <a:off x="365760" y="2157984"/>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APP</a:t>
            </a:r>
          </a:p>
        </p:txBody>
      </p:sp>
      <p:sp>
        <p:nvSpPr>
          <p:cNvPr id="17413" name="Rounded Rectangle 17412"/>
          <p:cNvSpPr/>
          <p:nvPr/>
        </p:nvSpPr>
        <p:spPr>
          <a:xfrm>
            <a:off x="365760" y="2816352"/>
            <a:ext cx="960120" cy="768096"/>
          </a:xfrm>
          <a:prstGeom prst="roundRect">
            <a:avLst>
              <a:gd name="adj" fmla="val 595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SERVER</a:t>
            </a:r>
          </a:p>
        </p:txBody>
      </p:sp>
      <p:sp>
        <p:nvSpPr>
          <p:cNvPr id="17414" name="Rounded Rectangle 17413"/>
          <p:cNvSpPr/>
          <p:nvPr/>
        </p:nvSpPr>
        <p:spPr>
          <a:xfrm>
            <a:off x="365760" y="3785615"/>
            <a:ext cx="960120" cy="45720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FFFFFF"/>
                </a:solidFill>
                <a:latin typeface="Calibri"/>
              </a:rPr>
              <a:t>DATA</a:t>
            </a:r>
          </a:p>
        </p:txBody>
      </p:sp>
      <p:sp>
        <p:nvSpPr>
          <p:cNvPr id="17415" name="Rounded Rectangle 17414"/>
          <p:cNvSpPr/>
          <p:nvPr/>
        </p:nvSpPr>
        <p:spPr>
          <a:xfrm>
            <a:off x="144475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Trader</a:t>
            </a:r>
          </a:p>
          <a:p>
            <a:pPr algn="ctr"/>
            <a:r>
              <a:rPr sz="800" b="0" i="0">
                <a:solidFill>
                  <a:srgbClr val="5B6573"/>
                </a:solidFill>
                <a:latin typeface="Calibri"/>
              </a:rPr>
              <a:t>apply, pay, track</a:t>
            </a:r>
          </a:p>
        </p:txBody>
      </p:sp>
      <p:sp>
        <p:nvSpPr>
          <p:cNvPr id="17416" name="Rounded Rectangle 17415"/>
          <p:cNvSpPr/>
          <p:nvPr/>
        </p:nvSpPr>
        <p:spPr>
          <a:xfrm>
            <a:off x="2765145"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LMO / GATC</a:t>
            </a:r>
          </a:p>
          <a:p>
            <a:pPr algn="ctr"/>
            <a:r>
              <a:rPr sz="800" b="0" i="0">
                <a:solidFill>
                  <a:srgbClr val="5B6573"/>
                </a:solidFill>
                <a:latin typeface="Calibri"/>
              </a:rPr>
              <a:t>phone, offline</a:t>
            </a:r>
          </a:p>
        </p:txBody>
      </p:sp>
      <p:sp>
        <p:nvSpPr>
          <p:cNvPr id="17417" name="Rounded Rectangle 17416"/>
          <p:cNvSpPr/>
          <p:nvPr/>
        </p:nvSpPr>
        <p:spPr>
          <a:xfrm>
            <a:off x="4085539"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Controller</a:t>
            </a:r>
          </a:p>
          <a:p>
            <a:pPr algn="ctr"/>
            <a:r>
              <a:rPr sz="800" b="0" i="0">
                <a:solidFill>
                  <a:srgbClr val="5B6573"/>
                </a:solidFill>
                <a:latin typeface="Calibri"/>
              </a:rPr>
              <a:t>scrutiny, assign</a:t>
            </a:r>
          </a:p>
        </p:txBody>
      </p:sp>
      <p:sp>
        <p:nvSpPr>
          <p:cNvPr id="17418" name="Rounded Rectangle 17417"/>
          <p:cNvSpPr/>
          <p:nvPr/>
        </p:nvSpPr>
        <p:spPr>
          <a:xfrm>
            <a:off x="5405932" y="1444752"/>
            <a:ext cx="1228953" cy="512064"/>
          </a:xfrm>
          <a:prstGeom prst="roundRect">
            <a:avLst>
              <a:gd name="adj" fmla="val 10714"/>
            </a:avLst>
          </a:prstGeom>
          <a:solidFill>
            <a:srgbClr val="FFFFFF"/>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State admin</a:t>
            </a:r>
          </a:p>
          <a:p>
            <a:pPr algn="ctr"/>
            <a:r>
              <a:rPr sz="800" b="0" i="0">
                <a:solidFill>
                  <a:srgbClr val="5B6573"/>
                </a:solidFill>
                <a:latin typeface="Calibri"/>
              </a:rPr>
              <a:t>fees, rules</a:t>
            </a:r>
          </a:p>
        </p:txBody>
      </p:sp>
      <p:sp>
        <p:nvSpPr>
          <p:cNvPr id="17419" name="Rounded Rectangle 17418"/>
          <p:cNvSpPr/>
          <p:nvPr/>
        </p:nvSpPr>
        <p:spPr>
          <a:xfrm>
            <a:off x="6726326" y="1444752"/>
            <a:ext cx="1228953" cy="512064"/>
          </a:xfrm>
          <a:prstGeom prst="roundRect">
            <a:avLst>
              <a:gd name="adj" fmla="val 10714"/>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Citizen</a:t>
            </a:r>
          </a:p>
          <a:p>
            <a:pPr algn="ctr"/>
            <a:r>
              <a:rPr sz="800" b="0" i="0">
                <a:solidFill>
                  <a:srgbClr val="5B6573"/>
                </a:solidFill>
                <a:latin typeface="Calibri"/>
              </a:rPr>
              <a:t>scan QR, no login</a:t>
            </a:r>
          </a:p>
        </p:txBody>
      </p:sp>
      <p:sp>
        <p:nvSpPr>
          <p:cNvPr id="17420" name="Rounded Rectangle 17419"/>
          <p:cNvSpPr/>
          <p:nvPr/>
        </p:nvSpPr>
        <p:spPr>
          <a:xfrm>
            <a:off x="1444752" y="2157984"/>
            <a:ext cx="6510528" cy="457200"/>
          </a:xfrm>
          <a:prstGeom prst="roundRect">
            <a:avLst>
              <a:gd name="adj" fmla="val 10000"/>
            </a:avLst>
          </a:prstGeom>
          <a:solidFill>
            <a:srgbClr val="E6EEF8"/>
          </a:solidFill>
          <a:ln w="12700">
            <a:solidFill>
              <a:srgbClr val="0070C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F3F6E"/>
                </a:solidFill>
                <a:latin typeface="Calibri"/>
              </a:rPr>
              <a:t>React PWA on Vercel</a:t>
            </a:r>
            <a:r>
              <a:rPr sz="950" b="0" i="0">
                <a:solidFill>
                  <a:srgbClr val="1F2937"/>
                </a:solidFill>
                <a:latin typeface="Calibri"/>
              </a:rPr>
              <a:t>  ·  installable, opens offline  ·  local copy + sync queue  ·  realtime updates</a:t>
            </a:r>
          </a:p>
        </p:txBody>
      </p:sp>
      <p:sp>
        <p:nvSpPr>
          <p:cNvPr id="17421" name="Rounded Rectangle 17420"/>
          <p:cNvSpPr/>
          <p:nvPr/>
        </p:nvSpPr>
        <p:spPr>
          <a:xfrm>
            <a:off x="1444752" y="2816352"/>
            <a:ext cx="3163824" cy="768096"/>
          </a:xfrm>
          <a:prstGeom prst="roundRect">
            <a:avLst>
              <a:gd name="adj" fmla="val 7142"/>
            </a:avLst>
          </a:prstGeom>
          <a:solidFill>
            <a:srgbClr val="F0EAF8"/>
          </a:solidFill>
          <a:ln w="12700">
            <a:solidFill>
              <a:srgbClr val="6B3FA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6B3FA0"/>
                </a:solidFill>
                <a:latin typeface="Calibri"/>
              </a:rPr>
              <a:t>Vercel functions (keys stay here)</a:t>
            </a:r>
          </a:p>
          <a:p>
            <a:pPr algn="ctr"/>
            <a:r>
              <a:rPr sz="850" b="0" i="0">
                <a:solidFill>
                  <a:srgbClr val="1F2937"/>
                </a:solidFill>
                <a:latin typeface="Calibri"/>
              </a:rPr>
              <a:t>/api/sign  ECDSA private key, checks officer</a:t>
            </a:r>
          </a:p>
          <a:p>
            <a:pPr algn="ctr"/>
            <a:r>
              <a:rPr sz="850" b="0" i="0">
                <a:solidFill>
                  <a:srgbClr val="1F2937"/>
                </a:solidFill>
                <a:latin typeface="Calibri"/>
              </a:rPr>
              <a:t>/api/gemini  ·  /api/notify  (email, SMS)</a:t>
            </a:r>
          </a:p>
        </p:txBody>
      </p:sp>
      <p:sp>
        <p:nvSpPr>
          <p:cNvPr id="17422" name="Rounded Rectangle 17421"/>
          <p:cNvSpPr/>
          <p:nvPr/>
        </p:nvSpPr>
        <p:spPr>
          <a:xfrm>
            <a:off x="4791456" y="2816352"/>
            <a:ext cx="3163824" cy="768096"/>
          </a:xfrm>
          <a:prstGeom prst="roundRect">
            <a:avLst>
              <a:gd name="adj" fmla="val 7142"/>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i="0">
                <a:solidFill>
                  <a:srgbClr val="1E7B4A"/>
                </a:solidFill>
                <a:latin typeface="Calibri"/>
              </a:rPr>
              <a:t>Supabase</a:t>
            </a:r>
          </a:p>
          <a:p>
            <a:pPr algn="ctr"/>
            <a:r>
              <a:rPr sz="850" b="0" i="0">
                <a:solidFill>
                  <a:srgbClr val="1F2937"/>
                </a:solidFill>
                <a:latin typeface="Calibri"/>
              </a:rPr>
              <a:t>Auth · row-level security · realtime</a:t>
            </a:r>
          </a:p>
          <a:p>
            <a:pPr algn="ctr"/>
            <a:r>
              <a:rPr sz="850" b="0" i="0">
                <a:solidFill>
                  <a:srgbClr val="1F2937"/>
                </a:solidFill>
                <a:latin typeface="Calibri"/>
              </a:rPr>
              <a:t>guard triggers · public check RPC</a:t>
            </a:r>
          </a:p>
        </p:txBody>
      </p:sp>
      <p:sp>
        <p:nvSpPr>
          <p:cNvPr id="17423" name="Rounded Rectangle 17422"/>
          <p:cNvSpPr/>
          <p:nvPr/>
        </p:nvSpPr>
        <p:spPr>
          <a:xfrm>
            <a:off x="1444752"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F3F6E"/>
                </a:solidFill>
                <a:latin typeface="Calibri"/>
              </a:rPr>
              <a:t>Postgres</a:t>
            </a:r>
          </a:p>
          <a:p>
            <a:pPr algn="ctr"/>
            <a:r>
              <a:rPr sz="800" b="0" i="0">
                <a:solidFill>
                  <a:srgbClr val="5B6573"/>
                </a:solidFill>
                <a:latin typeface="Calibri"/>
              </a:rPr>
              <a:t>instruments, applications, certificates</a:t>
            </a:r>
          </a:p>
        </p:txBody>
      </p:sp>
      <p:sp>
        <p:nvSpPr>
          <p:cNvPr id="17424" name="Rounded Rectangle 17423"/>
          <p:cNvSpPr/>
          <p:nvPr/>
        </p:nvSpPr>
        <p:spPr>
          <a:xfrm>
            <a:off x="3645408"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F3F6E"/>
                </a:solidFill>
                <a:latin typeface="Calibri"/>
              </a:rPr>
              <a:t>Append-only audit log</a:t>
            </a:r>
          </a:p>
          <a:p>
            <a:pPr algn="ctr"/>
            <a:r>
              <a:rPr sz="800" b="0" i="0">
                <a:solidFill>
                  <a:srgbClr val="5B6573"/>
                </a:solidFill>
                <a:latin typeface="Calibri"/>
              </a:rPr>
              <a:t>who, what, when</a:t>
            </a:r>
          </a:p>
        </p:txBody>
      </p:sp>
      <p:sp>
        <p:nvSpPr>
          <p:cNvPr id="17425" name="Rounded Rectangle 17424"/>
          <p:cNvSpPr/>
          <p:nvPr/>
        </p:nvSpPr>
        <p:spPr>
          <a:xfrm>
            <a:off x="5846064" y="3785615"/>
            <a:ext cx="2109216" cy="457200"/>
          </a:xfrm>
          <a:prstGeom prst="roundRect">
            <a:avLst>
              <a:gd name="adj" fmla="val 10000"/>
            </a:avLst>
          </a:prstGeom>
          <a:solidFill>
            <a:srgbClr val="F1F4F8"/>
          </a:solidFill>
          <a:ln w="12700">
            <a:solidFill>
              <a:srgbClr val="1F3F6E"/>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F3F6E"/>
                </a:solidFill>
                <a:latin typeface="Calibri"/>
              </a:rPr>
              <a:t>Rules per State</a:t>
            </a:r>
          </a:p>
          <a:p>
            <a:pPr algn="ctr"/>
            <a:r>
              <a:rPr sz="800" b="0" i="0">
                <a:solidFill>
                  <a:srgbClr val="5B6573"/>
                </a:solidFill>
                <a:latin typeface="Calibri"/>
              </a:rPr>
              <a:t>fees, validity, officers</a:t>
            </a:r>
          </a:p>
        </p:txBody>
      </p:sp>
      <p:cxnSp>
        <p:nvCxnSpPr>
          <p:cNvPr id="17426" name="Connector 17425"/>
          <p:cNvCxnSpPr/>
          <p:nvPr/>
        </p:nvCxnSpPr>
        <p:spPr>
          <a:xfrm>
            <a:off x="2059228"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7" name="Connector 17426"/>
          <p:cNvCxnSpPr/>
          <p:nvPr/>
        </p:nvCxnSpPr>
        <p:spPr>
          <a:xfrm>
            <a:off x="3379622"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8" name="Connector 17427"/>
          <p:cNvCxnSpPr/>
          <p:nvPr/>
        </p:nvCxnSpPr>
        <p:spPr>
          <a:xfrm>
            <a:off x="4700016"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29" name="Connector 17428"/>
          <p:cNvCxnSpPr/>
          <p:nvPr/>
        </p:nvCxnSpPr>
        <p:spPr>
          <a:xfrm>
            <a:off x="6020409" y="1965960"/>
            <a:ext cx="0" cy="182880"/>
          </a:xfrm>
          <a:prstGeom prst="line">
            <a:avLst/>
          </a:prstGeom>
          <a:ln w="19050">
            <a:solidFill>
              <a:srgbClr val="0070C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0" name="Connector 17429"/>
          <p:cNvCxnSpPr/>
          <p:nvPr/>
        </p:nvCxnSpPr>
        <p:spPr>
          <a:xfrm>
            <a:off x="2999232" y="2624328"/>
            <a:ext cx="0" cy="182880"/>
          </a:xfrm>
          <a:prstGeom prst="line">
            <a:avLst/>
          </a:prstGeom>
          <a:ln w="19050">
            <a:solidFill>
              <a:srgbClr val="6B3FA0"/>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1" name="Connector 17430"/>
          <p:cNvCxnSpPr/>
          <p:nvPr/>
        </p:nvCxnSpPr>
        <p:spPr>
          <a:xfrm>
            <a:off x="6382512" y="2624328"/>
            <a:ext cx="0" cy="18288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2" name="Connector 17431"/>
          <p:cNvCxnSpPr/>
          <p:nvPr/>
        </p:nvCxnSpPr>
        <p:spPr>
          <a:xfrm>
            <a:off x="6382512" y="3593592"/>
            <a:ext cx="0" cy="182880"/>
          </a:xfrm>
          <a:prstGeom prst="line">
            <a:avLst/>
          </a:prstGeom>
          <a:ln w="19050">
            <a:solidFill>
              <a:srgbClr val="1F3F6E"/>
            </a:solidFill>
            <a:tailEnd type="triangle" w="med" h="med"/>
          </a:ln>
        </p:spPr>
        <p:style>
          <a:lnRef idx="2">
            <a:schemeClr val="accent1"/>
          </a:lnRef>
          <a:fillRef idx="0">
            <a:schemeClr val="accent1"/>
          </a:fillRef>
          <a:effectRef idx="1">
            <a:schemeClr val="accent1"/>
          </a:effectRef>
          <a:fontRef idx="minor">
            <a:schemeClr val="tx1"/>
          </a:fontRef>
        </p:style>
      </p:cxnSp>
      <p:cxnSp>
        <p:nvCxnSpPr>
          <p:cNvPr id="17433" name="Connector 17432"/>
          <p:cNvCxnSpPr/>
          <p:nvPr/>
        </p:nvCxnSpPr>
        <p:spPr>
          <a:xfrm>
            <a:off x="4617720" y="3200400"/>
            <a:ext cx="164592" cy="0"/>
          </a:xfrm>
          <a:prstGeom prst="line">
            <a:avLst/>
          </a:prstGeom>
          <a:ln w="19050">
            <a:solidFill>
              <a:srgbClr val="6B3FA0"/>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4" name="TextBox 17433"/>
          <p:cNvSpPr txBox="1"/>
          <p:nvPr/>
        </p:nvSpPr>
        <p:spPr>
          <a:xfrm>
            <a:off x="365760" y="4370832"/>
            <a:ext cx="7589520" cy="274320"/>
          </a:xfrm>
          <a:prstGeom prst="rect">
            <a:avLst/>
          </a:prstGeom>
          <a:noFill/>
        </p:spPr>
        <p:txBody>
          <a:bodyPr wrap="square" anchor="t" lIns="0" rIns="0" tIns="0" bIns="0">
            <a:spAutoFit/>
          </a:bodyPr>
          <a:lstStyle/>
          <a:p>
            <a:pPr algn="l"/>
            <a:r>
              <a:rPr sz="1150" b="1" i="0">
                <a:solidFill>
                  <a:srgbClr val="1E7B4A"/>
                </a:solidFill>
                <a:latin typeface="Calibri"/>
              </a:rPr>
              <a:t>HOW A FAKE QR IS CAUGHT</a:t>
            </a:r>
          </a:p>
        </p:txBody>
      </p:sp>
      <p:sp>
        <p:nvSpPr>
          <p:cNvPr id="17435" name="Rounded Rectangle 17434"/>
          <p:cNvSpPr/>
          <p:nvPr/>
        </p:nvSpPr>
        <p:spPr>
          <a:xfrm>
            <a:off x="36576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Officer passes</a:t>
            </a:r>
          </a:p>
          <a:p>
            <a:pPr algn="ctr"/>
            <a:r>
              <a:rPr sz="750" b="0" i="0">
                <a:solidFill>
                  <a:srgbClr val="5B6573"/>
                </a:solidFill>
                <a:latin typeface="Calibri"/>
              </a:rPr>
              <a:t>readings all within MPE</a:t>
            </a:r>
          </a:p>
        </p:txBody>
      </p:sp>
      <p:cxnSp>
        <p:nvCxnSpPr>
          <p:cNvPr id="17436" name="Connector 17435"/>
          <p:cNvCxnSpPr/>
          <p:nvPr/>
        </p:nvCxnSpPr>
        <p:spPr>
          <a:xfrm>
            <a:off x="1533144"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7" name="Rounded Rectangle 17436"/>
          <p:cNvSpPr/>
          <p:nvPr/>
        </p:nvSpPr>
        <p:spPr>
          <a:xfrm>
            <a:off x="1652016"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Server checks</a:t>
            </a:r>
          </a:p>
          <a:p>
            <a:pPr algn="ctr"/>
            <a:r>
              <a:rPr sz="750" b="0" i="0">
                <a:solidFill>
                  <a:srgbClr val="5B6573"/>
                </a:solidFill>
                <a:latin typeface="Calibri"/>
              </a:rPr>
              <a:t>officer sign-in + record</a:t>
            </a:r>
          </a:p>
        </p:txBody>
      </p:sp>
      <p:cxnSp>
        <p:nvCxnSpPr>
          <p:cNvPr id="17438" name="Connector 17437"/>
          <p:cNvCxnSpPr/>
          <p:nvPr/>
        </p:nvCxnSpPr>
        <p:spPr>
          <a:xfrm>
            <a:off x="2819399" y="4910328"/>
            <a:ext cx="109729"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9" name="Rounded Rectangle 17438"/>
          <p:cNvSpPr/>
          <p:nvPr/>
        </p:nvSpPr>
        <p:spPr>
          <a:xfrm>
            <a:off x="2938272"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Signs</a:t>
            </a:r>
          </a:p>
          <a:p>
            <a:pPr algn="ctr"/>
            <a:r>
              <a:rPr sz="750" b="0" i="0">
                <a:solidFill>
                  <a:srgbClr val="5B6573"/>
                </a:solidFill>
                <a:latin typeface="Calibri"/>
              </a:rPr>
              <a:t>private key, never in app</a:t>
            </a:r>
          </a:p>
        </p:txBody>
      </p:sp>
      <p:cxnSp>
        <p:nvCxnSpPr>
          <p:cNvPr id="17440" name="Connector 17439"/>
          <p:cNvCxnSpPr/>
          <p:nvPr/>
        </p:nvCxnSpPr>
        <p:spPr>
          <a:xfrm>
            <a:off x="4105656"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1" name="Rounded Rectangle 17440"/>
          <p:cNvSpPr/>
          <p:nvPr/>
        </p:nvSpPr>
        <p:spPr>
          <a:xfrm>
            <a:off x="4224528"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QR carries</a:t>
            </a:r>
          </a:p>
          <a:p>
            <a:pPr algn="ctr"/>
            <a:r>
              <a:rPr sz="750" b="0" i="0">
                <a:solidFill>
                  <a:srgbClr val="5B6573"/>
                </a:solidFill>
                <a:latin typeface="Calibri"/>
              </a:rPr>
              <a:t>details + signature</a:t>
            </a:r>
          </a:p>
        </p:txBody>
      </p:sp>
      <p:cxnSp>
        <p:nvCxnSpPr>
          <p:cNvPr id="17442" name="Connector 17441"/>
          <p:cNvCxnSpPr/>
          <p:nvPr/>
        </p:nvCxnSpPr>
        <p:spPr>
          <a:xfrm>
            <a:off x="5391912"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3" name="Rounded Rectangle 17442"/>
          <p:cNvSpPr/>
          <p:nvPr/>
        </p:nvSpPr>
        <p:spPr>
          <a:xfrm>
            <a:off x="5510784"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Any phone checks</a:t>
            </a:r>
          </a:p>
          <a:p>
            <a:pPr algn="ctr"/>
            <a:r>
              <a:rPr sz="750" b="0" i="0">
                <a:solidFill>
                  <a:srgbClr val="5B6573"/>
                </a:solidFill>
                <a:latin typeface="Calibri"/>
              </a:rPr>
              <a:t>public key, offline</a:t>
            </a:r>
          </a:p>
        </p:txBody>
      </p:sp>
      <p:cxnSp>
        <p:nvCxnSpPr>
          <p:cNvPr id="17444" name="Connector 17443"/>
          <p:cNvCxnSpPr/>
          <p:nvPr/>
        </p:nvCxnSpPr>
        <p:spPr>
          <a:xfrm>
            <a:off x="6678168" y="4910328"/>
            <a:ext cx="109728" cy="0"/>
          </a:xfrm>
          <a:prstGeom prst="line">
            <a:avLst/>
          </a:prstGeom>
          <a:ln w="1905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5" name="Rounded Rectangle 17444"/>
          <p:cNvSpPr/>
          <p:nvPr/>
        </p:nvSpPr>
        <p:spPr>
          <a:xfrm>
            <a:off x="6797040" y="4626864"/>
            <a:ext cx="1158240" cy="566928"/>
          </a:xfrm>
          <a:prstGeom prst="roundRect">
            <a:avLst>
              <a:gd name="adj" fmla="val 9677"/>
            </a:avLst>
          </a:prstGeom>
          <a:solidFill>
            <a:srgbClr val="FFFFFF"/>
          </a:solidFill>
          <a:ln w="1524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1E7B4A"/>
                </a:solidFill>
                <a:latin typeface="Calibri"/>
              </a:rPr>
              <a:t>Result</a:t>
            </a:r>
          </a:p>
          <a:p>
            <a:pPr algn="ctr"/>
            <a:r>
              <a:rPr sz="750" b="0" i="0">
                <a:solidFill>
                  <a:srgbClr val="5B6573"/>
                </a:solidFill>
                <a:latin typeface="Calibri"/>
              </a:rPr>
              <a:t>genuine / edited / revoked</a:t>
            </a:r>
          </a:p>
        </p:txBody>
      </p:sp>
      <p:sp>
        <p:nvSpPr>
          <p:cNvPr id="17446" name="TextBox 17445"/>
          <p:cNvSpPr txBox="1"/>
          <p:nvPr/>
        </p:nvSpPr>
        <p:spPr>
          <a:xfrm>
            <a:off x="365760" y="5303520"/>
            <a:ext cx="7589520" cy="274320"/>
          </a:xfrm>
          <a:prstGeom prst="rect">
            <a:avLst/>
          </a:prstGeom>
          <a:noFill/>
        </p:spPr>
        <p:txBody>
          <a:bodyPr wrap="square" anchor="t" lIns="0" rIns="0" tIns="0" bIns="0">
            <a:spAutoFit/>
          </a:bodyPr>
          <a:lstStyle/>
          <a:p>
            <a:pPr algn="l"/>
            <a:r>
              <a:rPr sz="1150" b="1" i="0">
                <a:solidFill>
                  <a:srgbClr val="D9661F"/>
                </a:solidFill>
                <a:latin typeface="Calibri"/>
              </a:rPr>
              <a:t>OFFLINE FIELD INSPECTION</a:t>
            </a:r>
          </a:p>
        </p:txBody>
      </p:sp>
      <p:sp>
        <p:nvSpPr>
          <p:cNvPr id="17447" name="Rounded Rectangle 17446"/>
          <p:cNvSpPr/>
          <p:nvPr/>
        </p:nvSpPr>
        <p:spPr>
          <a:xfrm>
            <a:off x="365760"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No network</a:t>
            </a:r>
          </a:p>
          <a:p>
            <a:pPr algn="ctr"/>
            <a:r>
              <a:rPr sz="750" b="0" i="0">
                <a:solidFill>
                  <a:srgbClr val="5B6573"/>
                </a:solidFill>
                <a:latin typeface="Calibri"/>
              </a:rPr>
              <a:t>app opens from cache</a:t>
            </a:r>
          </a:p>
        </p:txBody>
      </p:sp>
      <p:cxnSp>
        <p:nvCxnSpPr>
          <p:cNvPr id="17448" name="Connector 17447"/>
          <p:cNvCxnSpPr/>
          <p:nvPr/>
        </p:nvCxnSpPr>
        <p:spPr>
          <a:xfrm>
            <a:off x="1533144"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1652016"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Inspect</a:t>
            </a:r>
          </a:p>
          <a:p>
            <a:pPr algn="ctr"/>
            <a:r>
              <a:rPr sz="750" b="0" i="0">
                <a:solidFill>
                  <a:srgbClr val="5B6573"/>
                </a:solidFill>
                <a:latin typeface="Calibri"/>
              </a:rPr>
              <a:t>draft autosaves</a:t>
            </a:r>
          </a:p>
        </p:txBody>
      </p:sp>
      <p:cxnSp>
        <p:nvCxnSpPr>
          <p:cNvPr id="17450" name="Connector 17449"/>
          <p:cNvCxnSpPr/>
          <p:nvPr/>
        </p:nvCxnSpPr>
        <p:spPr>
          <a:xfrm>
            <a:off x="2819399" y="5843016"/>
            <a:ext cx="109729"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2938272"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Save</a:t>
            </a:r>
          </a:p>
          <a:p>
            <a:pPr algn="ctr"/>
            <a:r>
              <a:rPr sz="750" b="0" i="0">
                <a:solidFill>
                  <a:srgbClr val="5B6573"/>
                </a:solidFill>
                <a:latin typeface="Calibri"/>
              </a:rPr>
              <a:t>queued on phone</a:t>
            </a:r>
          </a:p>
        </p:txBody>
      </p:sp>
      <p:cxnSp>
        <p:nvCxnSpPr>
          <p:cNvPr id="17452" name="Connector 17451"/>
          <p:cNvCxnSpPr/>
          <p:nvPr/>
        </p:nvCxnSpPr>
        <p:spPr>
          <a:xfrm>
            <a:off x="4105656"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3" name="Rounded Rectangle 17452"/>
          <p:cNvSpPr/>
          <p:nvPr/>
        </p:nvSpPr>
        <p:spPr>
          <a:xfrm>
            <a:off x="4224528"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Back online</a:t>
            </a:r>
          </a:p>
          <a:p>
            <a:pPr algn="ctr"/>
            <a:r>
              <a:rPr sz="750" b="0" i="0">
                <a:solidFill>
                  <a:srgbClr val="5B6573"/>
                </a:solidFill>
                <a:latin typeface="Calibri"/>
              </a:rPr>
              <a:t>queue syncs</a:t>
            </a:r>
          </a:p>
        </p:txBody>
      </p:sp>
      <p:cxnSp>
        <p:nvCxnSpPr>
          <p:cNvPr id="17454" name="Connector 17453"/>
          <p:cNvCxnSpPr/>
          <p:nvPr/>
        </p:nvCxnSpPr>
        <p:spPr>
          <a:xfrm>
            <a:off x="5391912"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5" name="Rounded Rectangle 17454"/>
          <p:cNvSpPr/>
          <p:nvPr/>
        </p:nvSpPr>
        <p:spPr>
          <a:xfrm>
            <a:off x="5510784"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Certificate</a:t>
            </a:r>
          </a:p>
          <a:p>
            <a:pPr algn="ctr"/>
            <a:r>
              <a:rPr sz="750" b="0" i="0">
                <a:solidFill>
                  <a:srgbClr val="5B6573"/>
                </a:solidFill>
                <a:latin typeface="Calibri"/>
              </a:rPr>
              <a:t>issued + signed</a:t>
            </a:r>
          </a:p>
        </p:txBody>
      </p:sp>
      <p:cxnSp>
        <p:nvCxnSpPr>
          <p:cNvPr id="17456" name="Connector 17455"/>
          <p:cNvCxnSpPr/>
          <p:nvPr/>
        </p:nvCxnSpPr>
        <p:spPr>
          <a:xfrm>
            <a:off x="6678168" y="5843016"/>
            <a:ext cx="109728"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7" name="Rounded Rectangle 17456"/>
          <p:cNvSpPr/>
          <p:nvPr/>
        </p:nvSpPr>
        <p:spPr>
          <a:xfrm>
            <a:off x="6797040" y="5559552"/>
            <a:ext cx="1158240" cy="566928"/>
          </a:xfrm>
          <a:prstGeom prst="roundRect">
            <a:avLst>
              <a:gd name="adj" fmla="val 9677"/>
            </a:avLst>
          </a:prstGeom>
          <a:solidFill>
            <a:srgbClr val="FFFFFF"/>
          </a:solidFill>
          <a:ln w="15240">
            <a:solidFill>
              <a:srgbClr val="D9661F"/>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i="0">
                <a:solidFill>
                  <a:srgbClr val="D9661F"/>
                </a:solidFill>
                <a:latin typeface="Calibri"/>
              </a:rPr>
              <a:t>Owner told</a:t>
            </a:r>
          </a:p>
          <a:p>
            <a:pPr algn="ctr"/>
            <a:r>
              <a:rPr sz="750" b="0" i="0">
                <a:solidFill>
                  <a:srgbClr val="5B6573"/>
                </a:solidFill>
                <a:latin typeface="Calibri"/>
              </a:rPr>
              <a:t>SMS / email</a:t>
            </a:r>
          </a:p>
        </p:txBody>
      </p:sp>
      <p:sp>
        <p:nvSpPr>
          <p:cNvPr id="17458" name="TextBox 17457"/>
          <p:cNvSpPr txBox="1"/>
          <p:nvPr/>
        </p:nvSpPr>
        <p:spPr>
          <a:xfrm>
            <a:off x="8183879" y="1170432"/>
            <a:ext cx="3639312" cy="274320"/>
          </a:xfrm>
          <a:prstGeom prst="rect">
            <a:avLst/>
          </a:prstGeom>
          <a:noFill/>
        </p:spPr>
        <p:txBody>
          <a:bodyPr wrap="square" anchor="t" lIns="0" rIns="0" tIns="0" bIns="0">
            <a:spAutoFit/>
          </a:bodyPr>
          <a:lstStyle/>
          <a:p>
            <a:pPr algn="l"/>
            <a:r>
              <a:rPr sz="1250" b="1" i="0">
                <a:solidFill>
                  <a:srgbClr val="1F3F6E"/>
                </a:solidFill>
                <a:latin typeface="Calibri"/>
              </a:rPr>
              <a:t>TECHNOLOGIES TO BE USED</a:t>
            </a:r>
          </a:p>
        </p:txBody>
      </p:sp>
      <p:sp>
        <p:nvSpPr>
          <p:cNvPr id="17459" name="Rounded Rectangle 17458"/>
          <p:cNvSpPr/>
          <p:nvPr/>
        </p:nvSpPr>
        <p:spPr>
          <a:xfrm>
            <a:off x="8183879" y="144475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React 19 · TypeScript · Vite · Tailwind</a:t>
            </a:r>
            <a:r>
              <a:rPr sz="750" b="0" i="0">
                <a:solidFill>
                  <a:srgbClr val="5B6573"/>
                </a:solidFill>
                <a:latin typeface="Calibri"/>
              </a:rPr>
              <a:t>  installable, mobile-first</a:t>
            </a:r>
          </a:p>
        </p:txBody>
      </p:sp>
      <p:sp>
        <p:nvSpPr>
          <p:cNvPr id="17460" name="Rounded Rectangle 17459"/>
          <p:cNvSpPr/>
          <p:nvPr/>
        </p:nvSpPr>
        <p:spPr>
          <a:xfrm>
            <a:off x="8183879" y="1792224"/>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Service worker · local store · sync queue</a:t>
            </a:r>
            <a:r>
              <a:rPr sz="750" b="0" i="0">
                <a:solidFill>
                  <a:srgbClr val="5B6573"/>
                </a:solidFill>
                <a:latin typeface="Calibri"/>
              </a:rPr>
              <a:t>  offline work, auto sync</a:t>
            </a:r>
          </a:p>
        </p:txBody>
      </p:sp>
      <p:sp>
        <p:nvSpPr>
          <p:cNvPr id="17461" name="Rounded Rectangle 17460"/>
          <p:cNvSpPr/>
          <p:nvPr/>
        </p:nvSpPr>
        <p:spPr>
          <a:xfrm>
            <a:off x="8183879" y="2139696"/>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Supabase Postgres · RLS · Auth · Realtime</a:t>
            </a:r>
            <a:r>
              <a:rPr sz="750" b="0" i="0">
                <a:solidFill>
                  <a:srgbClr val="5B6573"/>
                </a:solidFill>
                <a:latin typeface="Calibri"/>
              </a:rPr>
              <a:t>  live, per State</a:t>
            </a:r>
          </a:p>
        </p:txBody>
      </p:sp>
      <p:sp>
        <p:nvSpPr>
          <p:cNvPr id="17462" name="Rounded Rectangle 17461"/>
          <p:cNvSpPr/>
          <p:nvPr/>
        </p:nvSpPr>
        <p:spPr>
          <a:xfrm>
            <a:off x="8183879" y="2487168"/>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Vercel functions · ECDSA P-256 · jsQR</a:t>
            </a:r>
            <a:r>
              <a:rPr sz="750" b="0" i="0">
                <a:solidFill>
                  <a:srgbClr val="5B6573"/>
                </a:solidFill>
                <a:latin typeface="Calibri"/>
              </a:rPr>
              <a:t>  sign on server, check on phone</a:t>
            </a:r>
          </a:p>
        </p:txBody>
      </p:sp>
      <p:sp>
        <p:nvSpPr>
          <p:cNvPr id="17463" name="Rounded Rectangle 17462"/>
          <p:cNvSpPr/>
          <p:nvPr/>
        </p:nvSpPr>
        <p:spPr>
          <a:xfrm>
            <a:off x="8183879" y="2834640"/>
            <a:ext cx="3639312" cy="310896"/>
          </a:xfrm>
          <a:prstGeom prst="roundRect">
            <a:avLst>
              <a:gd name="adj" fmla="val 14705"/>
            </a:avLst>
          </a:prstGeom>
          <a:solidFill>
            <a:srgbClr val="F0EA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6B3FA0"/>
                </a:solidFill>
                <a:latin typeface="Calibri"/>
              </a:rPr>
              <a:t>Google Gemini (Flash)</a:t>
            </a:r>
            <a:r>
              <a:rPr sz="750" b="0" i="0">
                <a:solidFill>
                  <a:srgbClr val="5B6573"/>
                </a:solidFill>
                <a:latin typeface="Calibri"/>
              </a:rPr>
              <a:t>  document flags, help chat</a:t>
            </a:r>
          </a:p>
        </p:txBody>
      </p:sp>
      <p:sp>
        <p:nvSpPr>
          <p:cNvPr id="17464" name="Rounded Rectangle 17463"/>
          <p:cNvSpPr/>
          <p:nvPr/>
        </p:nvSpPr>
        <p:spPr>
          <a:xfrm>
            <a:off x="8183879" y="3182112"/>
            <a:ext cx="3639312" cy="310896"/>
          </a:xfrm>
          <a:prstGeom prst="roundRect">
            <a:avLst>
              <a:gd name="adj" fmla="val 14705"/>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00" b="1" i="0">
                <a:solidFill>
                  <a:srgbClr val="1F3F6E"/>
                </a:solidFill>
                <a:latin typeface="Calibri"/>
              </a:rPr>
              <a:t>Resend · Twilio · jsPDF</a:t>
            </a:r>
            <a:r>
              <a:rPr sz="750" b="0" i="0">
                <a:solidFill>
                  <a:srgbClr val="5B6573"/>
                </a:solidFill>
                <a:latin typeface="Calibri"/>
              </a:rPr>
              <a:t>  email, SMS, certificate PDF</a:t>
            </a:r>
          </a:p>
        </p:txBody>
      </p:sp>
      <p:sp>
        <p:nvSpPr>
          <p:cNvPr id="17465" name="TextBox 17464"/>
          <p:cNvSpPr txBox="1"/>
          <p:nvPr/>
        </p:nvSpPr>
        <p:spPr>
          <a:xfrm>
            <a:off x="8183879" y="3611880"/>
            <a:ext cx="3639312" cy="274320"/>
          </a:xfrm>
          <a:prstGeom prst="rect">
            <a:avLst/>
          </a:prstGeom>
          <a:noFill/>
        </p:spPr>
        <p:txBody>
          <a:bodyPr wrap="square" anchor="t" lIns="0" rIns="0" tIns="0" bIns="0">
            <a:spAutoFit/>
          </a:bodyPr>
          <a:lstStyle/>
          <a:p>
            <a:pPr algn="l"/>
            <a:r>
              <a:rPr sz="1250" b="1" i="0">
                <a:solidFill>
                  <a:srgbClr val="1F3F6E"/>
                </a:solidFill>
                <a:latin typeface="Calibri"/>
              </a:rPr>
              <a:t>ON A PHONE, FROM THE LIVE PROTOTYPE</a:t>
            </a:r>
          </a:p>
        </p:txBody>
      </p:sp>
      <p:pic>
        <p:nvPicPr>
          <p:cNvPr id="17466" name="Picture 17465" descr="shot7_verify.jpg"/>
          <p:cNvPicPr>
            <a:picLocks noChangeAspect="1"/>
          </p:cNvPicPr>
          <p:nvPr/>
        </p:nvPicPr>
        <p:blipFill>
          <a:blip r:embed="rId4"/>
          <a:srcRect b="43981"/>
          <a:stretch>
            <a:fillRect/>
          </a:stretch>
        </p:blipFill>
        <p:spPr>
          <a:xfrm>
            <a:off x="8183879" y="3904487"/>
            <a:ext cx="1764792" cy="2137278"/>
          </a:xfrm>
          <a:prstGeom prst="rect">
            <a:avLst/>
          </a:prstGeom>
          <a:ln w="9525">
            <a:solidFill>
              <a:srgbClr val="CBD5E1"/>
            </a:solidFill>
          </a:ln>
        </p:spPr>
      </p:pic>
      <p:sp>
        <p:nvSpPr>
          <p:cNvPr id="17467" name="TextBox 17466"/>
          <p:cNvSpPr txBox="1"/>
          <p:nvPr/>
        </p:nvSpPr>
        <p:spPr>
          <a:xfrm>
            <a:off x="8183879" y="6069198"/>
            <a:ext cx="1764792" cy="274320"/>
          </a:xfrm>
          <a:prstGeom prst="rect">
            <a:avLst/>
          </a:prstGeom>
          <a:noFill/>
        </p:spPr>
        <p:txBody>
          <a:bodyPr wrap="square" anchor="t" lIns="0" rIns="0" tIns="0" bIns="0">
            <a:spAutoFit/>
          </a:bodyPr>
          <a:lstStyle/>
          <a:p>
            <a:pPr algn="ctr"/>
            <a:r>
              <a:rPr sz="800" b="1" i="0">
                <a:solidFill>
                  <a:srgbClr val="1F2937"/>
                </a:solidFill>
                <a:latin typeface="Calibri"/>
              </a:rPr>
              <a:t>Buyer scans an edited copy: rejected</a:t>
            </a:r>
          </a:p>
        </p:txBody>
      </p:sp>
      <p:pic>
        <p:nvPicPr>
          <p:cNvPr id="17468" name="Picture 17467" descr="shot7_officer.jpg"/>
          <p:cNvPicPr>
            <a:picLocks noChangeAspect="1"/>
          </p:cNvPicPr>
          <p:nvPr/>
        </p:nvPicPr>
        <p:blipFill>
          <a:blip r:embed="rId5"/>
          <a:srcRect t="20379" b="23602"/>
          <a:stretch>
            <a:fillRect/>
          </a:stretch>
        </p:blipFill>
        <p:spPr>
          <a:xfrm>
            <a:off x="10058400" y="3904487"/>
            <a:ext cx="1764792" cy="2137278"/>
          </a:xfrm>
          <a:prstGeom prst="rect">
            <a:avLst/>
          </a:prstGeom>
          <a:ln w="9525">
            <a:solidFill>
              <a:srgbClr val="CBD5E1"/>
            </a:solidFill>
          </a:ln>
        </p:spPr>
      </p:pic>
      <p:sp>
        <p:nvSpPr>
          <p:cNvPr id="17469" name="TextBox 17468"/>
          <p:cNvSpPr txBox="1"/>
          <p:nvPr/>
        </p:nvSpPr>
        <p:spPr>
          <a:xfrm>
            <a:off x="10058400" y="6069198"/>
            <a:ext cx="1764792" cy="274320"/>
          </a:xfrm>
          <a:prstGeom prst="rect">
            <a:avLst/>
          </a:prstGeom>
          <a:noFill/>
        </p:spPr>
        <p:txBody>
          <a:bodyPr wrap="square" anchor="t" lIns="0" rIns="0" tIns="0" bIns="0">
            <a:spAutoFit/>
          </a:bodyPr>
          <a:lstStyle/>
          <a:p>
            <a:pPr algn="ctr"/>
            <a:r>
              <a:rPr sz="800" b="1" i="0">
                <a:solidFill>
                  <a:srgbClr val="1F2937"/>
                </a:solidFill>
                <a:latin typeface="Calibri"/>
              </a:rPr>
              <a:t>Over the legal limit: flagged at once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FEASIBILITY AND VIABILITY</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6949440" cy="274320"/>
          </a:xfrm>
          <a:prstGeom prst="rect">
            <a:avLst/>
          </a:prstGeom>
          <a:noFill/>
        </p:spPr>
        <p:txBody>
          <a:bodyPr wrap="square" anchor="t" lIns="0" rIns="0" tIns="0" bIns="0">
            <a:spAutoFit/>
          </a:bodyPr>
          <a:lstStyle/>
          <a:p>
            <a:pPr algn="l"/>
            <a:r>
              <a:rPr sz="1250" b="1" i="0">
                <a:solidFill>
                  <a:srgbClr val="1F3F6E"/>
                </a:solidFill>
                <a:latin typeface="Calibri"/>
              </a:rPr>
              <a:t>ANALYSIS OF THE FEASIBILITY OF THE IDEA: what is built vs planned</a:t>
            </a:r>
          </a:p>
        </p:txBody>
      </p:sp>
      <p:sp>
        <p:nvSpPr>
          <p:cNvPr id="17411" name="Rectangle 17410"/>
          <p:cNvSpPr/>
          <p:nvPr/>
        </p:nvSpPr>
        <p:spPr>
          <a:xfrm>
            <a:off x="365760" y="1444752"/>
            <a:ext cx="260604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50" b="1" i="0">
                <a:solidFill>
                  <a:srgbClr val="FFFFFF"/>
                </a:solidFill>
                <a:latin typeface="Calibri"/>
              </a:rPr>
              <a:t>PS requirement</a:t>
            </a:r>
          </a:p>
        </p:txBody>
      </p:sp>
      <p:sp>
        <p:nvSpPr>
          <p:cNvPr id="17412" name="Rectangle 17411"/>
          <p:cNvSpPr/>
          <p:nvPr/>
        </p:nvSpPr>
        <p:spPr>
          <a:xfrm>
            <a:off x="2971800" y="1444752"/>
            <a:ext cx="233172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50" b="1" i="0">
                <a:solidFill>
                  <a:srgbClr val="FFFFFF"/>
                </a:solidFill>
                <a:latin typeface="Calibri"/>
              </a:rPr>
              <a:t>Live today</a:t>
            </a:r>
          </a:p>
        </p:txBody>
      </p:sp>
      <p:sp>
        <p:nvSpPr>
          <p:cNvPr id="17413" name="Rectangle 17412"/>
          <p:cNvSpPr/>
          <p:nvPr/>
        </p:nvSpPr>
        <p:spPr>
          <a:xfrm>
            <a:off x="5303520" y="1444752"/>
            <a:ext cx="2011680" cy="251460"/>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50" b="1" i="0">
                <a:solidFill>
                  <a:srgbClr val="FFFFFF"/>
                </a:solidFill>
                <a:latin typeface="Calibri"/>
              </a:rPr>
              <a:t>Next</a:t>
            </a:r>
          </a:p>
        </p:txBody>
      </p:sp>
      <p:sp>
        <p:nvSpPr>
          <p:cNvPr id="17414" name="Rectangle 17413"/>
          <p:cNvSpPr/>
          <p:nvPr/>
        </p:nvSpPr>
        <p:spPr>
          <a:xfrm>
            <a:off x="365760" y="169621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Registration, profiles, secure login</a:t>
            </a:r>
          </a:p>
        </p:txBody>
      </p:sp>
      <p:sp>
        <p:nvSpPr>
          <p:cNvPr id="17415" name="Rectangle 17414"/>
          <p:cNvSpPr/>
          <p:nvPr/>
        </p:nvSpPr>
        <p:spPr>
          <a:xfrm>
            <a:off x="2971800" y="169621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real accounts, 6 roles</a:t>
            </a:r>
          </a:p>
        </p:txBody>
      </p:sp>
      <p:sp>
        <p:nvSpPr>
          <p:cNvPr id="17416" name="Rectangle 17415"/>
          <p:cNvSpPr/>
          <p:nvPr/>
        </p:nvSpPr>
        <p:spPr>
          <a:xfrm>
            <a:off x="5303520" y="169621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e-Pramaan, phone OTP</a:t>
            </a:r>
          </a:p>
        </p:txBody>
      </p:sp>
      <p:sp>
        <p:nvSpPr>
          <p:cNvPr id="17417" name="Rectangle 17416"/>
          <p:cNvSpPr/>
          <p:nvPr/>
        </p:nvSpPr>
        <p:spPr>
          <a:xfrm>
            <a:off x="365760" y="194767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Apply for (re-)verification</a:t>
            </a:r>
          </a:p>
        </p:txBody>
      </p:sp>
      <p:sp>
        <p:nvSpPr>
          <p:cNvPr id="17418" name="Rectangle 17417"/>
          <p:cNvSpPr/>
          <p:nvPr/>
        </p:nvSpPr>
        <p:spPr>
          <a:xfrm>
            <a:off x="2971800" y="194767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docs, fee, approval mark vs DoCA register</a:t>
            </a:r>
          </a:p>
        </p:txBody>
      </p:sp>
      <p:sp>
        <p:nvSpPr>
          <p:cNvPr id="17419" name="Rectangle 17418"/>
          <p:cNvSpPr/>
          <p:nvPr/>
        </p:nvSpPr>
        <p:spPr>
          <a:xfrm>
            <a:off x="5303520" y="194767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treasury payment</a:t>
            </a:r>
          </a:p>
        </p:txBody>
      </p:sp>
      <p:sp>
        <p:nvSpPr>
          <p:cNvPr id="17420" name="Rectangle 17419"/>
          <p:cNvSpPr/>
          <p:nvPr/>
        </p:nvSpPr>
        <p:spPr>
          <a:xfrm>
            <a:off x="365760" y="219913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Scheduling, allocation LMO / GATC</a:t>
            </a:r>
          </a:p>
        </p:txBody>
      </p:sp>
      <p:sp>
        <p:nvSpPr>
          <p:cNvPr id="17421" name="Rectangle 17420"/>
          <p:cNvSpPr/>
          <p:nvPr/>
        </p:nvSpPr>
        <p:spPr>
          <a:xfrm>
            <a:off x="2971800" y="219913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district + workload</a:t>
            </a:r>
          </a:p>
        </p:txBody>
      </p:sp>
      <p:sp>
        <p:nvSpPr>
          <p:cNvPr id="17422" name="Rectangle 17421"/>
          <p:cNvSpPr/>
          <p:nvPr/>
        </p:nvSpPr>
        <p:spPr>
          <a:xfrm>
            <a:off x="5303520" y="219913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officer calendars</a:t>
            </a:r>
          </a:p>
        </p:txBody>
      </p:sp>
      <p:sp>
        <p:nvSpPr>
          <p:cNvPr id="17423" name="Rectangle 17422"/>
          <p:cNvSpPr/>
          <p:nvPr/>
        </p:nvSpPr>
        <p:spPr>
          <a:xfrm>
            <a:off x="365760" y="245059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Inspection results recorded</a:t>
            </a:r>
          </a:p>
        </p:txBody>
      </p:sp>
      <p:sp>
        <p:nvSpPr>
          <p:cNvPr id="17424" name="Rectangle 17423"/>
          <p:cNvSpPr/>
          <p:nvPr/>
        </p:nvSpPr>
        <p:spPr>
          <a:xfrm>
            <a:off x="2971800" y="245059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MPE computed, photos, GPS</a:t>
            </a:r>
          </a:p>
        </p:txBody>
      </p:sp>
      <p:sp>
        <p:nvSpPr>
          <p:cNvPr id="17425" name="Rectangle 17424"/>
          <p:cNvSpPr/>
          <p:nvPr/>
        </p:nvSpPr>
        <p:spPr>
          <a:xfrm>
            <a:off x="5303520" y="245059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cloud photo storage</a:t>
            </a:r>
          </a:p>
        </p:txBody>
      </p:sp>
      <p:sp>
        <p:nvSpPr>
          <p:cNvPr id="17426" name="Rectangle 17425"/>
          <p:cNvSpPr/>
          <p:nvPr/>
        </p:nvSpPr>
        <p:spPr>
          <a:xfrm>
            <a:off x="365760" y="270205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QR certificate + authentication</a:t>
            </a:r>
          </a:p>
        </p:txBody>
      </p:sp>
      <p:sp>
        <p:nvSpPr>
          <p:cNvPr id="17427" name="Rectangle 17426"/>
          <p:cNvSpPr/>
          <p:nvPr/>
        </p:nvSpPr>
        <p:spPr>
          <a:xfrm>
            <a:off x="2971800" y="270205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signed QR, revocation</a:t>
            </a:r>
          </a:p>
        </p:txBody>
      </p:sp>
      <p:sp>
        <p:nvSpPr>
          <p:cNvPr id="17428" name="Rectangle 17427"/>
          <p:cNvSpPr/>
          <p:nvPr/>
        </p:nvSpPr>
        <p:spPr>
          <a:xfrm>
            <a:off x="5303520" y="270205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HSM-held key</a:t>
            </a:r>
          </a:p>
        </p:txBody>
      </p:sp>
      <p:sp>
        <p:nvSpPr>
          <p:cNvPr id="17429" name="Rectangle 17428"/>
          <p:cNvSpPr/>
          <p:nvPr/>
        </p:nvSpPr>
        <p:spPr>
          <a:xfrm>
            <a:off x="365760" y="295351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Validity tracking, alerts</a:t>
            </a:r>
          </a:p>
        </p:txBody>
      </p:sp>
      <p:sp>
        <p:nvSpPr>
          <p:cNvPr id="17430" name="Rectangle 17429"/>
          <p:cNvSpPr/>
          <p:nvPr/>
        </p:nvSpPr>
        <p:spPr>
          <a:xfrm>
            <a:off x="2971800" y="295351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30/15/7/1-day reminders</a:t>
            </a:r>
          </a:p>
        </p:txBody>
      </p:sp>
      <p:sp>
        <p:nvSpPr>
          <p:cNvPr id="17431" name="Rectangle 17430"/>
          <p:cNvSpPr/>
          <p:nvPr/>
        </p:nvSpPr>
        <p:spPr>
          <a:xfrm>
            <a:off x="5303520" y="295351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nightly server job</a:t>
            </a:r>
          </a:p>
        </p:txBody>
      </p:sp>
      <p:sp>
        <p:nvSpPr>
          <p:cNvPr id="17432" name="Rectangle 17431"/>
          <p:cNvSpPr/>
          <p:nvPr/>
        </p:nvSpPr>
        <p:spPr>
          <a:xfrm>
            <a:off x="365760" y="3204972"/>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SMS / email updates</a:t>
            </a:r>
          </a:p>
        </p:txBody>
      </p:sp>
      <p:sp>
        <p:nvSpPr>
          <p:cNvPr id="17433" name="Rectangle 17432"/>
          <p:cNvSpPr/>
          <p:nvPr/>
        </p:nvSpPr>
        <p:spPr>
          <a:xfrm>
            <a:off x="2971800" y="3204972"/>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D9661F"/>
                </a:solidFill>
                <a:latin typeface="Calibri"/>
              </a:rPr>
              <a:t>◐ email + SMS wired, keys pending</a:t>
            </a:r>
          </a:p>
        </p:txBody>
      </p:sp>
      <p:sp>
        <p:nvSpPr>
          <p:cNvPr id="17434" name="Rectangle 17433"/>
          <p:cNvSpPr/>
          <p:nvPr/>
        </p:nvSpPr>
        <p:spPr>
          <a:xfrm>
            <a:off x="5303520" y="3204972"/>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NIC SMS gateway</a:t>
            </a:r>
          </a:p>
        </p:txBody>
      </p:sp>
      <p:sp>
        <p:nvSpPr>
          <p:cNvPr id="17435" name="Rectangle 17434"/>
          <p:cNvSpPr/>
          <p:nvPr/>
        </p:nvSpPr>
        <p:spPr>
          <a:xfrm>
            <a:off x="365760" y="345643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Dashboards: pending, inspections</a:t>
            </a:r>
          </a:p>
        </p:txBody>
      </p:sp>
      <p:sp>
        <p:nvSpPr>
          <p:cNvPr id="17436" name="Rectangle 17435"/>
          <p:cNvSpPr/>
          <p:nvPr/>
        </p:nvSpPr>
        <p:spPr>
          <a:xfrm>
            <a:off x="2971800" y="345643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stage, ageing, district</a:t>
            </a:r>
          </a:p>
        </p:txBody>
      </p:sp>
      <p:sp>
        <p:nvSpPr>
          <p:cNvPr id="17437" name="Rectangle 17436"/>
          <p:cNvSpPr/>
          <p:nvPr/>
        </p:nvSpPr>
        <p:spPr>
          <a:xfrm>
            <a:off x="5303520" y="345643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state-wide wallboard</a:t>
            </a:r>
          </a:p>
        </p:txBody>
      </p:sp>
      <p:sp>
        <p:nvSpPr>
          <p:cNvPr id="17438" name="Rectangle 17437"/>
          <p:cNvSpPr/>
          <p:nvPr/>
        </p:nvSpPr>
        <p:spPr>
          <a:xfrm>
            <a:off x="365760" y="3707891"/>
            <a:ext cx="260604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Search, export, print</a:t>
            </a:r>
          </a:p>
        </p:txBody>
      </p:sp>
      <p:sp>
        <p:nvSpPr>
          <p:cNvPr id="17439" name="Rectangle 17438"/>
          <p:cNvSpPr/>
          <p:nvPr/>
        </p:nvSpPr>
        <p:spPr>
          <a:xfrm>
            <a:off x="2971800" y="3707891"/>
            <a:ext cx="233172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search, PDF, CSV</a:t>
            </a:r>
          </a:p>
        </p:txBody>
      </p:sp>
      <p:sp>
        <p:nvSpPr>
          <p:cNvPr id="17440" name="Rectangle 17439"/>
          <p:cNvSpPr/>
          <p:nvPr/>
        </p:nvSpPr>
        <p:spPr>
          <a:xfrm>
            <a:off x="5303520" y="3707891"/>
            <a:ext cx="2011680" cy="251460"/>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bulk audit export</a:t>
            </a:r>
          </a:p>
        </p:txBody>
      </p:sp>
      <p:sp>
        <p:nvSpPr>
          <p:cNvPr id="17441" name="Rectangle 17440"/>
          <p:cNvSpPr/>
          <p:nvPr/>
        </p:nvSpPr>
        <p:spPr>
          <a:xfrm>
            <a:off x="365760" y="3959352"/>
            <a:ext cx="260604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1F2937"/>
                </a:solidFill>
                <a:latin typeface="Calibri"/>
              </a:rPr>
              <a:t>Mobile app for field officers</a:t>
            </a:r>
          </a:p>
        </p:txBody>
      </p:sp>
      <p:sp>
        <p:nvSpPr>
          <p:cNvPr id="17442" name="Rectangle 17441"/>
          <p:cNvSpPr/>
          <p:nvPr/>
        </p:nvSpPr>
        <p:spPr>
          <a:xfrm>
            <a:off x="2971800" y="3959352"/>
            <a:ext cx="233172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E7B4A"/>
                </a:solidFill>
                <a:latin typeface="Calibri"/>
              </a:rPr>
              <a:t>✔ installable, offline</a:t>
            </a:r>
          </a:p>
        </p:txBody>
      </p:sp>
      <p:sp>
        <p:nvSpPr>
          <p:cNvPr id="17443" name="Rectangle 17442"/>
          <p:cNvSpPr/>
          <p:nvPr/>
        </p:nvSpPr>
        <p:spPr>
          <a:xfrm>
            <a:off x="5303520" y="3959352"/>
            <a:ext cx="2011680" cy="25146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5B6573"/>
                </a:solidFill>
                <a:latin typeface="Calibri"/>
              </a:rPr>
              <a:t>Android package</a:t>
            </a:r>
          </a:p>
        </p:txBody>
      </p:sp>
      <p:sp>
        <p:nvSpPr>
          <p:cNvPr id="17444" name="TextBox 17443"/>
          <p:cNvSpPr txBox="1"/>
          <p:nvPr/>
        </p:nvSpPr>
        <p:spPr>
          <a:xfrm>
            <a:off x="365760" y="4261104"/>
            <a:ext cx="6949440" cy="274320"/>
          </a:xfrm>
          <a:prstGeom prst="rect">
            <a:avLst/>
          </a:prstGeom>
          <a:noFill/>
        </p:spPr>
        <p:txBody>
          <a:bodyPr wrap="square" anchor="t" lIns="0" rIns="0" tIns="0" bIns="0">
            <a:spAutoFit/>
          </a:bodyPr>
          <a:lstStyle/>
          <a:p>
            <a:pPr algn="l"/>
            <a:r>
              <a:rPr sz="1100" b="1" i="0">
                <a:solidFill>
                  <a:srgbClr val="D9661F"/>
                </a:solidFill>
                <a:latin typeface="Calibri"/>
              </a:rPr>
              <a:t>HOW WE TEST WITH REAL OFFICERS, THEN SCALE</a:t>
            </a:r>
          </a:p>
        </p:txBody>
      </p:sp>
      <p:sp>
        <p:nvSpPr>
          <p:cNvPr id="17445" name="Rounded Rectangle 17444"/>
          <p:cNvSpPr/>
          <p:nvPr/>
        </p:nvSpPr>
        <p:spPr>
          <a:xfrm>
            <a:off x="365760"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1 · Field trial</a:t>
            </a:r>
          </a:p>
          <a:p>
            <a:pPr algn="l"/>
            <a:r>
              <a:rPr sz="800" b="0" i="0">
                <a:solidFill>
                  <a:srgbClr val="1F2937"/>
                </a:solidFill>
                <a:latin typeface="Calibri"/>
              </a:rPr>
              <a:t>5 LMOs + 1 GATC, 10 inspections each; go ahead only if usability (SUS) ≥ 70</a:t>
            </a:r>
          </a:p>
        </p:txBody>
      </p:sp>
      <p:cxnSp>
        <p:nvCxnSpPr>
          <p:cNvPr id="17446" name="Connector 17445"/>
          <p:cNvCxnSpPr/>
          <p:nvPr/>
        </p:nvCxnSpPr>
        <p:spPr>
          <a:xfrm>
            <a:off x="2025395" y="4846320"/>
            <a:ext cx="100584"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7" name="Rounded Rectangle 17446"/>
          <p:cNvSpPr/>
          <p:nvPr/>
        </p:nvSpPr>
        <p:spPr>
          <a:xfrm>
            <a:off x="2130551"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2 · District pilot</a:t>
            </a:r>
          </a:p>
          <a:p>
            <a:pPr algn="l"/>
            <a:r>
              <a:rPr sz="800" b="0" i="0">
                <a:solidFill>
                  <a:srgbClr val="1F2937"/>
                </a:solidFill>
                <a:latin typeface="Calibri"/>
              </a:rPr>
              <a:t>All instruments of one district, vs the paper register</a:t>
            </a:r>
          </a:p>
        </p:txBody>
      </p:sp>
      <p:cxnSp>
        <p:nvCxnSpPr>
          <p:cNvPr id="17448" name="Connector 17447"/>
          <p:cNvCxnSpPr/>
          <p:nvPr/>
        </p:nvCxnSpPr>
        <p:spPr>
          <a:xfrm>
            <a:off x="3790187" y="4846320"/>
            <a:ext cx="100585"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49" name="Rounded Rectangle 17448"/>
          <p:cNvSpPr/>
          <p:nvPr/>
        </p:nvSpPr>
        <p:spPr>
          <a:xfrm>
            <a:off x="3895344"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3 · State rollout</a:t>
            </a:r>
          </a:p>
          <a:p>
            <a:pPr algn="l"/>
            <a:r>
              <a:rPr sz="800" b="0" i="0">
                <a:solidFill>
                  <a:srgbClr val="1F2937"/>
                </a:solidFill>
                <a:latin typeface="Calibri"/>
              </a:rPr>
              <a:t>State loads fees and officers; NIC SMS, treasury, e-Pramaan</a:t>
            </a:r>
          </a:p>
        </p:txBody>
      </p:sp>
      <p:cxnSp>
        <p:nvCxnSpPr>
          <p:cNvPr id="17450" name="Connector 17449"/>
          <p:cNvCxnSpPr/>
          <p:nvPr/>
        </p:nvCxnSpPr>
        <p:spPr>
          <a:xfrm>
            <a:off x="5554979" y="4846320"/>
            <a:ext cx="100585" cy="0"/>
          </a:xfrm>
          <a:prstGeom prst="line">
            <a:avLst/>
          </a:prstGeom>
          <a:ln w="19050">
            <a:solidFill>
              <a:srgbClr val="D9661F"/>
            </a:solidFill>
            <a:tailEnd type="triangle" w="med" h="med"/>
          </a:ln>
        </p:spPr>
        <p:style>
          <a:lnRef idx="2">
            <a:schemeClr val="accent1"/>
          </a:lnRef>
          <a:fillRef idx="0">
            <a:schemeClr val="accent1"/>
          </a:fillRef>
          <a:effectRef idx="1">
            <a:schemeClr val="accent1"/>
          </a:effectRef>
          <a:fontRef idx="minor">
            <a:schemeClr val="tx1"/>
          </a:fontRef>
        </p:style>
      </p:cxnSp>
      <p:sp>
        <p:nvSpPr>
          <p:cNvPr id="17451" name="Rounded Rectangle 17450"/>
          <p:cNvSpPr/>
          <p:nvPr/>
        </p:nvSpPr>
        <p:spPr>
          <a:xfrm>
            <a:off x="5660136" y="4507992"/>
            <a:ext cx="1655063" cy="676656"/>
          </a:xfrm>
          <a:prstGeom prst="roundRect">
            <a:avLst>
              <a:gd name="adj" fmla="val 8108"/>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D9661F"/>
                </a:solidFill>
                <a:latin typeface="Calibri"/>
              </a:rPr>
              <a:t>4 · Multi-State</a:t>
            </a:r>
          </a:p>
          <a:p>
            <a:pPr algn="l"/>
            <a:r>
              <a:rPr sz="800" b="0" i="0">
                <a:solidFill>
                  <a:srgbClr val="1F2937"/>
                </a:solidFill>
                <a:latin typeface="Calibri"/>
              </a:rPr>
              <a:t>DoCA offers it to States: shared platform or State cloud</a:t>
            </a:r>
          </a:p>
        </p:txBody>
      </p:sp>
      <p:sp>
        <p:nvSpPr>
          <p:cNvPr id="17452" name="TextBox 17451"/>
          <p:cNvSpPr txBox="1"/>
          <p:nvPr/>
        </p:nvSpPr>
        <p:spPr>
          <a:xfrm>
            <a:off x="365760" y="5257800"/>
            <a:ext cx="6949440" cy="274320"/>
          </a:xfrm>
          <a:prstGeom prst="rect">
            <a:avLst/>
          </a:prstGeom>
          <a:noFill/>
        </p:spPr>
        <p:txBody>
          <a:bodyPr wrap="square" anchor="t" lIns="0" rIns="0" tIns="0" bIns="0">
            <a:spAutoFit/>
          </a:bodyPr>
          <a:lstStyle/>
          <a:p>
            <a:pPr algn="l"/>
            <a:r>
              <a:rPr sz="1100" b="1" i="0">
                <a:solidFill>
                  <a:srgbClr val="1E7B4A"/>
                </a:solidFill>
                <a:latin typeface="Calibri"/>
              </a:rPr>
              <a:t>VIABILITY: HOW IT GROWS, SURVIVES AND IS FUNDED</a:t>
            </a:r>
          </a:p>
        </p:txBody>
      </p:sp>
      <p:sp>
        <p:nvSpPr>
          <p:cNvPr id="17453" name="Rounded Rectangle 17452"/>
          <p:cNvSpPr/>
          <p:nvPr/>
        </p:nvSpPr>
        <p:spPr>
          <a:xfrm>
            <a:off x="365760"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1E7B4A"/>
                </a:solidFill>
                <a:latin typeface="Calibri"/>
              </a:rPr>
              <a:t>Grow in the market</a:t>
            </a:r>
          </a:p>
          <a:p>
            <a:pPr algn="l"/>
            <a:r>
              <a:rPr sz="750" b="0" i="0">
                <a:solidFill>
                  <a:srgbClr val="1F2937"/>
                </a:solidFill>
                <a:latin typeface="Calibri"/>
              </a:rPr>
              <a:t>Buyers are DoCA and the 36 State / UT Legal Metrology departments; traders and citizens use it free. Each State that adopts is the reference for the next.</a:t>
            </a:r>
          </a:p>
        </p:txBody>
      </p:sp>
      <p:sp>
        <p:nvSpPr>
          <p:cNvPr id="17454" name="Rounded Rectangle 17453"/>
          <p:cNvSpPr/>
          <p:nvPr/>
        </p:nvSpPr>
        <p:spPr>
          <a:xfrm>
            <a:off x="2718816"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1E7B4A"/>
                </a:solidFill>
                <a:latin typeface="Calibri"/>
              </a:rPr>
              <a:t>Survive</a:t>
            </a:r>
          </a:p>
          <a:p>
            <a:pPr algn="l"/>
            <a:r>
              <a:rPr sz="750" b="0" i="0">
                <a:solidFill>
                  <a:srgbClr val="1F2937"/>
                </a:solidFill>
                <a:latin typeface="Calibri"/>
              </a:rPr>
              <a:t>No licence fee, pay-per-use cloud. Running cost fits in the service charge States already add to verification fees. No lock-in: public source code, standard Postgres, can move to State cloud.</a:t>
            </a:r>
          </a:p>
        </p:txBody>
      </p:sp>
      <p:sp>
        <p:nvSpPr>
          <p:cNvPr id="17455" name="Rounded Rectangle 17454"/>
          <p:cNvSpPr/>
          <p:nvPr/>
        </p:nvSpPr>
        <p:spPr>
          <a:xfrm>
            <a:off x="5071872" y="5504688"/>
            <a:ext cx="2243328" cy="749808"/>
          </a:xfrm>
          <a:prstGeom prst="roundRect">
            <a:avLst>
              <a:gd name="adj" fmla="val 7317"/>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64008" rIns="64008" tIns="27432" bIns="27432"/>
          <a:lstStyle/>
          <a:p>
            <a:pPr algn="l"/>
            <a:r>
              <a:rPr sz="950" b="1" i="0">
                <a:solidFill>
                  <a:srgbClr val="1E7B4A"/>
                </a:solidFill>
                <a:latin typeface="Calibri"/>
              </a:rPr>
              <a:t>Get funded</a:t>
            </a:r>
          </a:p>
          <a:p>
            <a:pPr algn="l"/>
            <a:r>
              <a:rPr sz="750" b="0" i="0">
                <a:solidFill>
                  <a:srgbClr val="1F2937"/>
                </a:solidFill>
                <a:latin typeface="Calibri"/>
              </a:rPr>
              <a:t>SIH award and incubation first, then Startup India Seed Fund or MeitY Startup Hub grants to reach the pilot; State e-governance budgets pay for rollout as a work order.</a:t>
            </a:r>
          </a:p>
        </p:txBody>
      </p:sp>
      <p:sp>
        <p:nvSpPr>
          <p:cNvPr id="17456" name="TextBox 17455"/>
          <p:cNvSpPr txBox="1"/>
          <p:nvPr/>
        </p:nvSpPr>
        <p:spPr>
          <a:xfrm>
            <a:off x="7543800" y="1097280"/>
            <a:ext cx="1737360" cy="329184"/>
          </a:xfrm>
          <a:prstGeom prst="rect">
            <a:avLst/>
          </a:prstGeom>
          <a:noFill/>
        </p:spPr>
        <p:txBody>
          <a:bodyPr wrap="square" anchor="t" lIns="0" rIns="0" tIns="0" bIns="0">
            <a:spAutoFit/>
          </a:bodyPr>
          <a:lstStyle/>
          <a:p>
            <a:pPr algn="l"/>
            <a:r>
              <a:rPr sz="1000" b="1" i="0">
                <a:solidFill>
                  <a:srgbClr val="1F3F6E"/>
                </a:solidFill>
                <a:latin typeface="Calibri"/>
              </a:rPr>
              <a:t>POTENTIAL CHALLENGES AND RISKS</a:t>
            </a:r>
          </a:p>
        </p:txBody>
      </p:sp>
      <p:sp>
        <p:nvSpPr>
          <p:cNvPr id="17457" name="TextBox 17456"/>
          <p:cNvSpPr txBox="1"/>
          <p:nvPr/>
        </p:nvSpPr>
        <p:spPr>
          <a:xfrm>
            <a:off x="9281160" y="1097280"/>
            <a:ext cx="2542032" cy="329184"/>
          </a:xfrm>
          <a:prstGeom prst="rect">
            <a:avLst/>
          </a:prstGeom>
          <a:noFill/>
        </p:spPr>
        <p:txBody>
          <a:bodyPr wrap="square" anchor="t" lIns="0" rIns="0" tIns="0" bIns="0">
            <a:spAutoFit/>
          </a:bodyPr>
          <a:lstStyle/>
          <a:p>
            <a:pPr algn="l"/>
            <a:r>
              <a:rPr sz="1000" b="1" i="0">
                <a:solidFill>
                  <a:srgbClr val="1F3F6E"/>
                </a:solidFill>
                <a:latin typeface="Calibri"/>
              </a:rPr>
              <a:t>STRATEGIES FOR OVERCOMING THESE CHALLENGES</a:t>
            </a:r>
          </a:p>
        </p:txBody>
      </p:sp>
      <p:sp>
        <p:nvSpPr>
          <p:cNvPr id="17458" name="Rectangle 17457"/>
          <p:cNvSpPr/>
          <p:nvPr/>
        </p:nvSpPr>
        <p:spPr>
          <a:xfrm>
            <a:off x="7543800" y="1444752"/>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No network at site</a:t>
            </a:r>
          </a:p>
        </p:txBody>
      </p:sp>
      <p:sp>
        <p:nvSpPr>
          <p:cNvPr id="17459" name="Rectangle 17458"/>
          <p:cNvSpPr/>
          <p:nvPr/>
        </p:nvSpPr>
        <p:spPr>
          <a:xfrm>
            <a:off x="9281160" y="1444752"/>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Offline app; syncs, signs and notifies later</a:t>
            </a:r>
          </a:p>
        </p:txBody>
      </p:sp>
      <p:sp>
        <p:nvSpPr>
          <p:cNvPr id="17460" name="Rectangle 17459"/>
          <p:cNvSpPr/>
          <p:nvPr/>
        </p:nvSpPr>
        <p:spPr>
          <a:xfrm>
            <a:off x="7543800" y="1874519"/>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Fake / copied QR</a:t>
            </a:r>
          </a:p>
        </p:txBody>
      </p:sp>
      <p:sp>
        <p:nvSpPr>
          <p:cNvPr id="17461" name="Rectangle 17460"/>
          <p:cNvSpPr/>
          <p:nvPr/>
        </p:nvSpPr>
        <p:spPr>
          <a:xfrm>
            <a:off x="9281160" y="1874519"/>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Signed QR + revocation list; serial shown on scan</a:t>
            </a:r>
          </a:p>
        </p:txBody>
      </p:sp>
      <p:sp>
        <p:nvSpPr>
          <p:cNvPr id="17462" name="Rectangle 17461"/>
          <p:cNvSpPr/>
          <p:nvPr/>
        </p:nvSpPr>
        <p:spPr>
          <a:xfrm>
            <a:off x="7543800" y="2304288"/>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Rules differ by State</a:t>
            </a:r>
          </a:p>
        </p:txBody>
      </p:sp>
      <p:sp>
        <p:nvSpPr>
          <p:cNvPr id="17463" name="Rectangle 17462"/>
          <p:cNvSpPr/>
          <p:nvPr/>
        </p:nvSpPr>
        <p:spPr>
          <a:xfrm>
            <a:off x="9281160" y="2304288"/>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Fees and validity are data per State</a:t>
            </a:r>
          </a:p>
        </p:txBody>
      </p:sp>
      <p:sp>
        <p:nvSpPr>
          <p:cNvPr id="17464" name="Rectangle 17463"/>
          <p:cNvSpPr/>
          <p:nvPr/>
        </p:nvSpPr>
        <p:spPr>
          <a:xfrm>
            <a:off x="7543800" y="2734056"/>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Data privacy (DPDP 2023)</a:t>
            </a:r>
          </a:p>
        </p:txBody>
      </p:sp>
      <p:sp>
        <p:nvSpPr>
          <p:cNvPr id="17465" name="Rectangle 17464"/>
          <p:cNvSpPr/>
          <p:nvPr/>
        </p:nvSpPr>
        <p:spPr>
          <a:xfrm>
            <a:off x="9281160" y="2734056"/>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Row-level security, minimal public fields</a:t>
            </a:r>
          </a:p>
        </p:txBody>
      </p:sp>
      <p:sp>
        <p:nvSpPr>
          <p:cNvPr id="17466" name="Rectangle 17465"/>
          <p:cNvSpPr/>
          <p:nvPr/>
        </p:nvSpPr>
        <p:spPr>
          <a:xfrm>
            <a:off x="7543800" y="3163824"/>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AI mistakes</a:t>
            </a:r>
          </a:p>
        </p:txBody>
      </p:sp>
      <p:sp>
        <p:nvSpPr>
          <p:cNvPr id="17467" name="Rectangle 17466"/>
          <p:cNvSpPr/>
          <p:nvPr/>
        </p:nvSpPr>
        <p:spPr>
          <a:xfrm>
            <a:off x="9281160" y="3163824"/>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Advisory only; officer decides; logged</a:t>
            </a:r>
          </a:p>
        </p:txBody>
      </p:sp>
      <p:sp>
        <p:nvSpPr>
          <p:cNvPr id="17468" name="Rectangle 17467"/>
          <p:cNvSpPr/>
          <p:nvPr/>
        </p:nvSpPr>
        <p:spPr>
          <a:xfrm>
            <a:off x="7543800" y="3593591"/>
            <a:ext cx="1737360" cy="384048"/>
          </a:xfrm>
          <a:prstGeom prst="rect">
            <a:avLst/>
          </a:prstGeom>
          <a:solidFill>
            <a:srgbClr val="FCEF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1" i="0">
                <a:solidFill>
                  <a:srgbClr val="D9661F"/>
                </a:solidFill>
                <a:latin typeface="Calibri"/>
              </a:rPr>
              <a:t>Officer adoption</a:t>
            </a:r>
          </a:p>
        </p:txBody>
      </p:sp>
      <p:sp>
        <p:nvSpPr>
          <p:cNvPr id="17469" name="Rectangle 17468"/>
          <p:cNvSpPr/>
          <p:nvPr/>
        </p:nvSpPr>
        <p:spPr>
          <a:xfrm>
            <a:off x="9281160" y="3593591"/>
            <a:ext cx="2542032" cy="38404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64008" rIns="64008" tIns="27432" bIns="27432"/>
          <a:lstStyle/>
          <a:p>
            <a:pPr algn="l"/>
            <a:r>
              <a:rPr sz="900" b="0" i="0">
                <a:solidFill>
                  <a:srgbClr val="1F2937"/>
                </a:solidFill>
                <a:latin typeface="Calibri"/>
              </a:rPr>
              <a:t>Field trial first; plain home screen per role; text size, contrast, Hindi</a:t>
            </a:r>
          </a:p>
        </p:txBody>
      </p:sp>
      <p:sp>
        <p:nvSpPr>
          <p:cNvPr id="17470" name="Rounded Rectangle 17469"/>
          <p:cNvSpPr/>
          <p:nvPr/>
        </p:nvSpPr>
        <p:spPr>
          <a:xfrm>
            <a:off x="7543800" y="4160520"/>
            <a:ext cx="4279392" cy="2057400"/>
          </a:xfrm>
          <a:prstGeom prst="roundRect">
            <a:avLst>
              <a:gd name="adj" fmla="val 3555"/>
            </a:avLst>
          </a:prstGeom>
          <a:solidFill>
            <a:srgbClr val="E6EE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71" name="Picture 17470" descr="image.png">
            <a:hlinkClick r:id="rId5"/>
          </p:cNvPr>
          <p:cNvPicPr>
            <a:picLocks noChangeAspect="1"/>
          </p:cNvPicPr>
          <p:nvPr/>
        </p:nvPicPr>
        <p:blipFill>
          <a:blip r:embed="rId4"/>
          <a:stretch>
            <a:fillRect/>
          </a:stretch>
        </p:blipFill>
        <p:spPr>
          <a:xfrm>
            <a:off x="7653527" y="4270248"/>
            <a:ext cx="1325880" cy="1325880"/>
          </a:xfrm>
          <a:prstGeom prst="rect">
            <a:avLst/>
          </a:prstGeom>
        </p:spPr>
      </p:pic>
      <p:sp>
        <p:nvSpPr>
          <p:cNvPr id="17472" name="TextBox 17471"/>
          <p:cNvSpPr txBox="1"/>
          <p:nvPr/>
        </p:nvSpPr>
        <p:spPr>
          <a:xfrm>
            <a:off x="9098280" y="4270248"/>
            <a:ext cx="2633472" cy="1874519"/>
          </a:xfrm>
          <a:prstGeom prst="rect">
            <a:avLst/>
          </a:prstGeom>
          <a:noFill/>
        </p:spPr>
        <p:txBody>
          <a:bodyPr wrap="square" anchor="t" lIns="0" rIns="0" tIns="0" bIns="0">
            <a:spAutoFit/>
          </a:bodyPr>
          <a:lstStyle/>
          <a:p>
            <a:pPr algn="l">
              <a:spcAft>
                <a:spcPts val="300"/>
              </a:spcAft>
            </a:pPr>
            <a:r>
              <a:rPr sz="1300" b="1" i="0">
                <a:solidFill>
                  <a:srgbClr val="1F3F6E"/>
                </a:solidFill>
                <a:latin typeface="Calibri"/>
              </a:rPr>
              <a:t>Complete live demo</a:t>
            </a:r>
          </a:p>
          <a:p>
            <a:pPr algn="l">
              <a:spcAft>
                <a:spcPts val="300"/>
              </a:spcAft>
            </a:pPr>
            <a:r>
              <a:rPr sz="950" b="0" i="0">
                <a:solidFill>
                  <a:srgbClr val="1F2937"/>
                </a:solidFill>
                <a:latin typeface="Calibri"/>
              </a:rPr>
              <a:t>Scan for the guided demo: register → apply → officer inspects (try offline) → signed certificate → scan the QR on another phone. Each step ticks itself.</a:t>
            </a:r>
          </a:p>
          <a:p>
            <a:pPr algn="l">
              <a:spcAft>
                <a:spcPts val="300"/>
              </a:spcAft>
            </a:pPr>
            <a:r>
              <a:rPr sz="950" b="1" i="0">
                <a:solidFill>
                  <a:srgbClr val="1F2937"/>
                </a:solidFill>
                <a:latin typeface="Calibri"/>
              </a:rPr>
              <a:t>Evaluator password: TulaDemo@2026</a:t>
            </a:r>
          </a:p>
          <a:p>
            <a:pPr algn="l">
              <a:spcAft>
                <a:spcPts val="300"/>
              </a:spcAft>
            </a:pPr>
            <a:r>
              <a:rPr sz="1000" b="1" i="0" u="sng">
                <a:solidFill>
                  <a:srgbClr val="0070C0"/>
                </a:solidFill>
                <a:latin typeface="Calibri"/>
                <a:hlinkClick r:id="rId5"/>
              </a:rPr>
              <a:t>tula-legal-metrology.vercel.app/demo</a:t>
            </a:r>
          </a:p>
        </p:txBody>
      </p:sp>
    </p:spTree>
    <p:extLst>
      <p:ext uri="{BB962C8B-B14F-4D97-AF65-F5344CB8AC3E}">
        <p14:creationId xmlns:p14="http://schemas.microsoft.com/office/powerpoint/2010/main" val="37533879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IMPACT AND BENEFITS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5</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12" name="Oval 11"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8229600" cy="274320"/>
          </a:xfrm>
          <a:prstGeom prst="rect">
            <a:avLst/>
          </a:prstGeom>
          <a:noFill/>
        </p:spPr>
        <p:txBody>
          <a:bodyPr wrap="square" anchor="t" lIns="0" rIns="0" tIns="0" bIns="0">
            <a:spAutoFit/>
          </a:bodyPr>
          <a:lstStyle/>
          <a:p>
            <a:pPr algn="l"/>
            <a:r>
              <a:rPr sz="1250" b="1" i="0">
                <a:solidFill>
                  <a:srgbClr val="1F3F6E"/>
                </a:solidFill>
                <a:latin typeface="Calibri"/>
              </a:rPr>
              <a:t>POTENTIAL IMPACT ON THE TARGET AUDIENCE</a:t>
            </a:r>
          </a:p>
        </p:txBody>
      </p:sp>
      <p:sp>
        <p:nvSpPr>
          <p:cNvPr id="17411" name="Rounded Rectangle 17410"/>
          <p:cNvSpPr/>
          <p:nvPr/>
        </p:nvSpPr>
        <p:spPr>
          <a:xfrm>
            <a:off x="365760"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12" name="TextBox 17411"/>
          <p:cNvSpPr txBox="1"/>
          <p:nvPr/>
        </p:nvSpPr>
        <p:spPr>
          <a:xfrm>
            <a:off x="502920" y="1517904"/>
            <a:ext cx="1904238" cy="320040"/>
          </a:xfrm>
          <a:prstGeom prst="rect">
            <a:avLst/>
          </a:prstGeom>
          <a:noFill/>
        </p:spPr>
        <p:txBody>
          <a:bodyPr wrap="square" anchor="t" lIns="0" rIns="0" tIns="0" bIns="0">
            <a:spAutoFit/>
          </a:bodyPr>
          <a:lstStyle/>
          <a:p>
            <a:pPr algn="l"/>
            <a:r>
              <a:rPr sz="1300" b="1" i="0">
                <a:solidFill>
                  <a:srgbClr val="0070C0"/>
                </a:solidFill>
                <a:latin typeface="Calibri"/>
              </a:rPr>
              <a:t>LMOs &amp; GATCs</a:t>
            </a:r>
          </a:p>
        </p:txBody>
      </p:sp>
      <p:sp>
        <p:nvSpPr>
          <p:cNvPr id="17413" name="Oval 17412"/>
          <p:cNvSpPr/>
          <p:nvPr/>
        </p:nvSpPr>
        <p:spPr>
          <a:xfrm>
            <a:off x="2526029" y="1499616"/>
            <a:ext cx="420624" cy="420624"/>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14" name="Picture 17413" descr="image.png"/>
          <p:cNvPicPr>
            <a:picLocks noChangeAspect="1"/>
          </p:cNvPicPr>
          <p:nvPr/>
        </p:nvPicPr>
        <p:blipFill>
          <a:blip r:embed="rId4"/>
          <a:stretch>
            <a:fillRect/>
          </a:stretch>
        </p:blipFill>
        <p:spPr>
          <a:xfrm>
            <a:off x="2617470" y="1591056"/>
            <a:ext cx="237744" cy="237744"/>
          </a:xfrm>
          <a:prstGeom prst="rect">
            <a:avLst/>
          </a:prstGeom>
        </p:spPr>
      </p:pic>
      <p:sp>
        <p:nvSpPr>
          <p:cNvPr id="17415" name="TextBox 17414"/>
          <p:cNvSpPr txBox="1"/>
          <p:nvPr/>
        </p:nvSpPr>
        <p:spPr>
          <a:xfrm>
            <a:off x="502920"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Jobs on the phone, even offline</a:t>
            </a:r>
          </a:p>
          <a:p>
            <a:pPr algn="l">
              <a:spcAft>
                <a:spcPts val="200"/>
              </a:spcAft>
            </a:pPr>
            <a:r>
              <a:rPr sz="1000" b="0" i="0">
                <a:solidFill>
                  <a:srgbClr val="1F2937"/>
                </a:solidFill>
                <a:latin typeface="Calibri"/>
              </a:rPr>
              <a:t>•  Pass / fail calculated for them</a:t>
            </a:r>
          </a:p>
          <a:p>
            <a:pPr algn="l">
              <a:spcAft>
                <a:spcPts val="200"/>
              </a:spcAft>
            </a:pPr>
            <a:r>
              <a:rPr sz="1000" b="0" i="0">
                <a:solidFill>
                  <a:srgbClr val="1F2937"/>
                </a:solidFill>
                <a:latin typeface="Calibri"/>
              </a:rPr>
              <a:t>•  Certificate issued on site</a:t>
            </a:r>
          </a:p>
        </p:txBody>
      </p:sp>
      <p:sp>
        <p:nvSpPr>
          <p:cNvPr id="17416" name="Rounded Rectangle 17415"/>
          <p:cNvSpPr/>
          <p:nvPr/>
        </p:nvSpPr>
        <p:spPr>
          <a:xfrm>
            <a:off x="3275838"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17" name="TextBox 17416"/>
          <p:cNvSpPr txBox="1"/>
          <p:nvPr/>
        </p:nvSpPr>
        <p:spPr>
          <a:xfrm>
            <a:off x="3412998" y="1517904"/>
            <a:ext cx="1904238" cy="320040"/>
          </a:xfrm>
          <a:prstGeom prst="rect">
            <a:avLst/>
          </a:prstGeom>
          <a:noFill/>
        </p:spPr>
        <p:txBody>
          <a:bodyPr wrap="square" anchor="t" lIns="0" rIns="0" tIns="0" bIns="0">
            <a:spAutoFit/>
          </a:bodyPr>
          <a:lstStyle/>
          <a:p>
            <a:pPr algn="l"/>
            <a:r>
              <a:rPr sz="1300" b="1" i="0">
                <a:solidFill>
                  <a:srgbClr val="1E7B4A"/>
                </a:solidFill>
                <a:latin typeface="Calibri"/>
              </a:rPr>
              <a:t>Businesses</a:t>
            </a:r>
          </a:p>
        </p:txBody>
      </p:sp>
      <p:sp>
        <p:nvSpPr>
          <p:cNvPr id="17418" name="Oval 17417"/>
          <p:cNvSpPr/>
          <p:nvPr/>
        </p:nvSpPr>
        <p:spPr>
          <a:xfrm>
            <a:off x="5436107" y="1499616"/>
            <a:ext cx="420624" cy="420624"/>
          </a:xfrm>
          <a:prstGeom prst="ellipse">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19" name="Picture 17418" descr="image.png"/>
          <p:cNvPicPr>
            <a:picLocks noChangeAspect="1"/>
          </p:cNvPicPr>
          <p:nvPr/>
        </p:nvPicPr>
        <p:blipFill>
          <a:blip r:embed="rId5"/>
          <a:stretch>
            <a:fillRect/>
          </a:stretch>
        </p:blipFill>
        <p:spPr>
          <a:xfrm>
            <a:off x="5527548" y="1591056"/>
            <a:ext cx="237744" cy="237744"/>
          </a:xfrm>
          <a:prstGeom prst="rect">
            <a:avLst/>
          </a:prstGeom>
        </p:spPr>
      </p:pic>
      <p:sp>
        <p:nvSpPr>
          <p:cNvPr id="17420" name="TextBox 17419"/>
          <p:cNvSpPr txBox="1"/>
          <p:nvPr/>
        </p:nvSpPr>
        <p:spPr>
          <a:xfrm>
            <a:off x="3412998"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Apply and pay without a visit</a:t>
            </a:r>
          </a:p>
          <a:p>
            <a:pPr algn="l">
              <a:spcAft>
                <a:spcPts val="200"/>
              </a:spcAft>
            </a:pPr>
            <a:r>
              <a:rPr sz="1000" b="0" i="0">
                <a:solidFill>
                  <a:srgbClr val="1F2937"/>
                </a:solidFill>
                <a:latin typeface="Calibri"/>
              </a:rPr>
              <a:t>•  SMS / email at every step</a:t>
            </a:r>
          </a:p>
          <a:p>
            <a:pPr algn="l">
              <a:spcAft>
                <a:spcPts val="200"/>
              </a:spcAft>
            </a:pPr>
            <a:r>
              <a:rPr sz="1000" b="0" i="0">
                <a:solidFill>
                  <a:srgbClr val="1F2937"/>
                </a:solidFill>
                <a:latin typeface="Calibri"/>
              </a:rPr>
              <a:t>•  Reminder before a stamp expires</a:t>
            </a:r>
          </a:p>
        </p:txBody>
      </p:sp>
      <p:sp>
        <p:nvSpPr>
          <p:cNvPr id="17421" name="Rounded Rectangle 17420"/>
          <p:cNvSpPr/>
          <p:nvPr/>
        </p:nvSpPr>
        <p:spPr>
          <a:xfrm>
            <a:off x="6185916"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22" name="TextBox 17421"/>
          <p:cNvSpPr txBox="1"/>
          <p:nvPr/>
        </p:nvSpPr>
        <p:spPr>
          <a:xfrm>
            <a:off x="6323076" y="1517904"/>
            <a:ext cx="1904238" cy="320040"/>
          </a:xfrm>
          <a:prstGeom prst="rect">
            <a:avLst/>
          </a:prstGeom>
          <a:noFill/>
        </p:spPr>
        <p:txBody>
          <a:bodyPr wrap="square" anchor="t" lIns="0" rIns="0" tIns="0" bIns="0">
            <a:spAutoFit/>
          </a:bodyPr>
          <a:lstStyle/>
          <a:p>
            <a:pPr algn="l"/>
            <a:r>
              <a:rPr sz="1300" b="1" i="0">
                <a:solidFill>
                  <a:srgbClr val="D9661F"/>
                </a:solidFill>
                <a:latin typeface="Calibri"/>
              </a:rPr>
              <a:t>Consumers</a:t>
            </a:r>
          </a:p>
        </p:txBody>
      </p:sp>
      <p:sp>
        <p:nvSpPr>
          <p:cNvPr id="17423" name="Oval 17422"/>
          <p:cNvSpPr/>
          <p:nvPr/>
        </p:nvSpPr>
        <p:spPr>
          <a:xfrm>
            <a:off x="8346186" y="1499616"/>
            <a:ext cx="420624" cy="420624"/>
          </a:xfrm>
          <a:prstGeom prst="ellipse">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24" name="Picture 17423" descr="image.png"/>
          <p:cNvPicPr>
            <a:picLocks noChangeAspect="1"/>
          </p:cNvPicPr>
          <p:nvPr/>
        </p:nvPicPr>
        <p:blipFill>
          <a:blip r:embed="rId6"/>
          <a:stretch>
            <a:fillRect/>
          </a:stretch>
        </p:blipFill>
        <p:spPr>
          <a:xfrm>
            <a:off x="8437626" y="1591056"/>
            <a:ext cx="237744" cy="237744"/>
          </a:xfrm>
          <a:prstGeom prst="rect">
            <a:avLst/>
          </a:prstGeom>
        </p:spPr>
      </p:pic>
      <p:sp>
        <p:nvSpPr>
          <p:cNvPr id="17425" name="TextBox 17424"/>
          <p:cNvSpPr txBox="1"/>
          <p:nvPr/>
        </p:nvSpPr>
        <p:spPr>
          <a:xfrm>
            <a:off x="6323076"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Scan any certificate QR</a:t>
            </a:r>
          </a:p>
          <a:p>
            <a:pPr algn="l">
              <a:spcAft>
                <a:spcPts val="200"/>
              </a:spcAft>
            </a:pPr>
            <a:r>
              <a:rPr sz="1000" b="0" i="0">
                <a:solidFill>
                  <a:srgbClr val="1F2937"/>
                </a:solidFill>
                <a:latin typeface="Calibri"/>
              </a:rPr>
              <a:t>•  Fakes and edits are rejected</a:t>
            </a:r>
          </a:p>
          <a:p>
            <a:pPr algn="l">
              <a:spcAft>
                <a:spcPts val="200"/>
              </a:spcAft>
            </a:pPr>
            <a:r>
              <a:rPr sz="1000" b="0" i="0">
                <a:solidFill>
                  <a:srgbClr val="1F2937"/>
                </a:solidFill>
                <a:latin typeface="Calibri"/>
              </a:rPr>
              <a:t>•  Report a problem in two taps</a:t>
            </a:r>
          </a:p>
        </p:txBody>
      </p:sp>
      <p:sp>
        <p:nvSpPr>
          <p:cNvPr id="17426" name="Rounded Rectangle 17425"/>
          <p:cNvSpPr/>
          <p:nvPr/>
        </p:nvSpPr>
        <p:spPr>
          <a:xfrm>
            <a:off x="9095994" y="1444752"/>
            <a:ext cx="2727198" cy="1371600"/>
          </a:xfrm>
          <a:prstGeom prst="roundRect">
            <a:avLst>
              <a:gd name="adj" fmla="val 5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27" name="TextBox 17426"/>
          <p:cNvSpPr txBox="1"/>
          <p:nvPr/>
        </p:nvSpPr>
        <p:spPr>
          <a:xfrm>
            <a:off x="9233154" y="1517904"/>
            <a:ext cx="1904238" cy="320040"/>
          </a:xfrm>
          <a:prstGeom prst="rect">
            <a:avLst/>
          </a:prstGeom>
          <a:noFill/>
        </p:spPr>
        <p:txBody>
          <a:bodyPr wrap="square" anchor="t" lIns="0" rIns="0" tIns="0" bIns="0">
            <a:spAutoFit/>
          </a:bodyPr>
          <a:lstStyle/>
          <a:p>
            <a:pPr algn="l"/>
            <a:r>
              <a:rPr sz="1300" b="1" i="0">
                <a:solidFill>
                  <a:srgbClr val="1F3F6E"/>
                </a:solidFill>
                <a:latin typeface="Calibri"/>
              </a:rPr>
              <a:t>Government</a:t>
            </a:r>
          </a:p>
        </p:txBody>
      </p:sp>
      <p:sp>
        <p:nvSpPr>
          <p:cNvPr id="17428" name="Oval 17427"/>
          <p:cNvSpPr/>
          <p:nvPr/>
        </p:nvSpPr>
        <p:spPr>
          <a:xfrm>
            <a:off x="11256264" y="1499616"/>
            <a:ext cx="420624" cy="420624"/>
          </a:xfrm>
          <a:prstGeom prst="ellipse">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29" name="Picture 17428" descr="image.png"/>
          <p:cNvPicPr>
            <a:picLocks noChangeAspect="1"/>
          </p:cNvPicPr>
          <p:nvPr/>
        </p:nvPicPr>
        <p:blipFill>
          <a:blip r:embed="rId7"/>
          <a:stretch>
            <a:fillRect/>
          </a:stretch>
        </p:blipFill>
        <p:spPr>
          <a:xfrm>
            <a:off x="11347704" y="1591056"/>
            <a:ext cx="237744" cy="237744"/>
          </a:xfrm>
          <a:prstGeom prst="rect">
            <a:avLst/>
          </a:prstGeom>
        </p:spPr>
      </p:pic>
      <p:sp>
        <p:nvSpPr>
          <p:cNvPr id="17430" name="TextBox 17429"/>
          <p:cNvSpPr txBox="1"/>
          <p:nvPr/>
        </p:nvSpPr>
        <p:spPr>
          <a:xfrm>
            <a:off x="9233154" y="1883664"/>
            <a:ext cx="2498598" cy="914400"/>
          </a:xfrm>
          <a:prstGeom prst="rect">
            <a:avLst/>
          </a:prstGeom>
          <a:noFill/>
        </p:spPr>
        <p:txBody>
          <a:bodyPr wrap="square" anchor="t" lIns="0" rIns="0" tIns="0" bIns="0">
            <a:spAutoFit/>
          </a:bodyPr>
          <a:lstStyle/>
          <a:p>
            <a:pPr algn="l">
              <a:spcAft>
                <a:spcPts val="200"/>
              </a:spcAft>
            </a:pPr>
            <a:r>
              <a:rPr sz="1000" b="0" i="0">
                <a:solidFill>
                  <a:srgbClr val="1F2937"/>
                </a:solidFill>
                <a:latin typeface="Calibri"/>
              </a:rPr>
              <a:t>•  Pending by stage, age, district</a:t>
            </a:r>
          </a:p>
          <a:p>
            <a:pPr algn="l">
              <a:spcAft>
                <a:spcPts val="200"/>
              </a:spcAft>
            </a:pPr>
            <a:r>
              <a:rPr sz="1000" b="0" i="0">
                <a:solidFill>
                  <a:srgbClr val="1F2937"/>
                </a:solidFill>
                <a:latin typeface="Calibri"/>
              </a:rPr>
              <a:t>•  Inspections due and overdue</a:t>
            </a:r>
          </a:p>
          <a:p>
            <a:pPr algn="l">
              <a:spcAft>
                <a:spcPts val="200"/>
              </a:spcAft>
            </a:pPr>
            <a:r>
              <a:rPr sz="1000" b="0" i="0">
                <a:solidFill>
                  <a:srgbClr val="1F2937"/>
                </a:solidFill>
                <a:latin typeface="Calibri"/>
              </a:rPr>
              <a:t>•  Full audit trail per instrument</a:t>
            </a:r>
          </a:p>
        </p:txBody>
      </p:sp>
      <p:sp>
        <p:nvSpPr>
          <p:cNvPr id="17431" name="TextBox 17430"/>
          <p:cNvSpPr txBox="1"/>
          <p:nvPr/>
        </p:nvSpPr>
        <p:spPr>
          <a:xfrm>
            <a:off x="365760" y="2926080"/>
            <a:ext cx="10972800" cy="274320"/>
          </a:xfrm>
          <a:prstGeom prst="rect">
            <a:avLst/>
          </a:prstGeom>
          <a:noFill/>
        </p:spPr>
        <p:txBody>
          <a:bodyPr wrap="square" anchor="t" lIns="0" rIns="0" tIns="0" bIns="0">
            <a:spAutoFit/>
          </a:bodyPr>
          <a:lstStyle/>
          <a:p>
            <a:pPr algn="l"/>
            <a:r>
              <a:rPr sz="1250" b="1" i="0">
                <a:solidFill>
                  <a:srgbClr val="1E7B4A"/>
                </a:solidFill>
                <a:latin typeface="Calibri"/>
              </a:rPr>
              <a:t>MEASURED ON THE LIVE SYSTEM (30 Sep 2026, scripted end-to-end run on the production database)</a:t>
            </a:r>
          </a:p>
        </p:txBody>
      </p:sp>
      <p:sp>
        <p:nvSpPr>
          <p:cNvPr id="17432" name="Rounded Rectangle 17431"/>
          <p:cNvSpPr/>
          <p:nvPr/>
        </p:nvSpPr>
        <p:spPr>
          <a:xfrm>
            <a:off x="365760"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2 min 51 s</a:t>
            </a:r>
          </a:p>
          <a:p>
            <a:pPr algn="ctr"/>
            <a:r>
              <a:rPr sz="900" b="0" i="0">
                <a:solidFill>
                  <a:srgbClr val="E6F4EC"/>
                </a:solidFill>
                <a:latin typeface="Calibri"/>
              </a:rPr>
              <a:t>application filed → signed certificate (system time, 3 people, no paper)</a:t>
            </a:r>
          </a:p>
        </p:txBody>
      </p:sp>
      <p:sp>
        <p:nvSpPr>
          <p:cNvPr id="17433" name="Rounded Rectangle 17432"/>
          <p:cNvSpPr/>
          <p:nvPr/>
        </p:nvSpPr>
        <p:spPr>
          <a:xfrm>
            <a:off x="3275838"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6 s</a:t>
            </a:r>
          </a:p>
          <a:p>
            <a:pPr algn="ctr"/>
            <a:r>
              <a:rPr sz="900" b="0" i="0">
                <a:solidFill>
                  <a:srgbClr val="E6F4EC"/>
                </a:solidFill>
                <a:latin typeface="Calibri"/>
              </a:rPr>
              <a:t>certificate issued → signed by the server</a:t>
            </a:r>
          </a:p>
        </p:txBody>
      </p:sp>
      <p:sp>
        <p:nvSpPr>
          <p:cNvPr id="17434" name="Rounded Rectangle 17433"/>
          <p:cNvSpPr/>
          <p:nvPr/>
        </p:nvSpPr>
        <p:spPr>
          <a:xfrm>
            <a:off x="6185916"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6 / 6</a:t>
            </a:r>
          </a:p>
          <a:p>
            <a:pPr algn="ctr"/>
            <a:r>
              <a:rPr sz="900" b="0" i="0">
                <a:solidFill>
                  <a:srgbClr val="E6F4EC"/>
                </a:solidFill>
                <a:latin typeface="Calibri"/>
              </a:rPr>
              <a:t>forged or edited QR copies rejected (automated tests)</a:t>
            </a:r>
          </a:p>
        </p:txBody>
      </p:sp>
      <p:sp>
        <p:nvSpPr>
          <p:cNvPr id="17435" name="Rounded Rectangle 17434"/>
          <p:cNvSpPr/>
          <p:nvPr/>
        </p:nvSpPr>
        <p:spPr>
          <a:xfrm>
            <a:off x="9095994" y="3182112"/>
            <a:ext cx="2727198" cy="896112"/>
          </a:xfrm>
          <a:prstGeom prst="roundRect">
            <a:avLst>
              <a:gd name="adj" fmla="val 8163"/>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2200" b="1" i="0">
                <a:solidFill>
                  <a:srgbClr val="FFFFFF"/>
                </a:solidFill>
                <a:latin typeface="Calibri"/>
              </a:rPr>
              <a:t>0</a:t>
            </a:r>
          </a:p>
          <a:p>
            <a:pPr algn="ctr"/>
            <a:r>
              <a:rPr sz="900" b="0" i="0">
                <a:solidFill>
                  <a:srgbClr val="E6F4EC"/>
                </a:solidFill>
                <a:latin typeface="Calibri"/>
              </a:rPr>
              <a:t>paper forms and office visits in the run</a:t>
            </a:r>
          </a:p>
        </p:txBody>
      </p:sp>
      <p:sp>
        <p:nvSpPr>
          <p:cNvPr id="17436" name="TextBox 17435"/>
          <p:cNvSpPr txBox="1"/>
          <p:nvPr/>
        </p:nvSpPr>
        <p:spPr>
          <a:xfrm>
            <a:off x="365760" y="4187952"/>
            <a:ext cx="10972800" cy="274320"/>
          </a:xfrm>
          <a:prstGeom prst="rect">
            <a:avLst/>
          </a:prstGeom>
          <a:noFill/>
        </p:spPr>
        <p:txBody>
          <a:bodyPr wrap="square" anchor="t" lIns="0" rIns="0" tIns="0" bIns="0">
            <a:spAutoFit/>
          </a:bodyPr>
          <a:lstStyle/>
          <a:p>
            <a:pPr algn="l"/>
            <a:r>
              <a:rPr sz="1250" b="1" i="0">
                <a:solidFill>
                  <a:srgbClr val="1F3F6E"/>
                </a:solidFill>
                <a:latin typeface="Calibri"/>
              </a:rPr>
              <a:t>PILOT TARGETS (to be compared with the pilot district's paper register)</a:t>
            </a:r>
          </a:p>
        </p:txBody>
      </p:sp>
      <p:sp>
        <p:nvSpPr>
          <p:cNvPr id="17437" name="Rounded Rectangle 17436"/>
          <p:cNvSpPr/>
          <p:nvPr/>
        </p:nvSpPr>
        <p:spPr>
          <a:xfrm>
            <a:off x="365760"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 7 days</a:t>
            </a:r>
          </a:p>
          <a:p>
            <a:pPr algn="ctr"/>
            <a:r>
              <a:rPr sz="900" b="0" i="0">
                <a:solidFill>
                  <a:srgbClr val="D6E2F0"/>
                </a:solidFill>
                <a:latin typeface="Calibri"/>
              </a:rPr>
              <a:t>application → certificate (median)</a:t>
            </a:r>
          </a:p>
        </p:txBody>
      </p:sp>
      <p:sp>
        <p:nvSpPr>
          <p:cNvPr id="17438" name="Rounded Rectangle 17437"/>
          <p:cNvSpPr/>
          <p:nvPr/>
        </p:nvSpPr>
        <p:spPr>
          <a:xfrm>
            <a:off x="3275838"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&lt; 3 s</a:t>
            </a:r>
          </a:p>
          <a:p>
            <a:pPr algn="ctr"/>
            <a:r>
              <a:rPr sz="900" b="0" i="0">
                <a:solidFill>
                  <a:srgbClr val="D6E2F0"/>
                </a:solidFill>
                <a:latin typeface="Calibri"/>
              </a:rPr>
              <a:t>certificate check by QR scan</a:t>
            </a:r>
          </a:p>
        </p:txBody>
      </p:sp>
      <p:sp>
        <p:nvSpPr>
          <p:cNvPr id="17439" name="Rounded Rectangle 17438"/>
          <p:cNvSpPr/>
          <p:nvPr/>
        </p:nvSpPr>
        <p:spPr>
          <a:xfrm>
            <a:off x="6185916"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100%</a:t>
            </a:r>
          </a:p>
          <a:p>
            <a:pPr algn="ctr"/>
            <a:r>
              <a:rPr sz="900" b="0" i="0">
                <a:solidFill>
                  <a:srgbClr val="D6E2F0"/>
                </a:solidFill>
                <a:latin typeface="Calibri"/>
              </a:rPr>
              <a:t>due instruments reminded 30 days early</a:t>
            </a:r>
          </a:p>
        </p:txBody>
      </p:sp>
      <p:sp>
        <p:nvSpPr>
          <p:cNvPr id="17440" name="Rounded Rectangle 17439"/>
          <p:cNvSpPr/>
          <p:nvPr/>
        </p:nvSpPr>
        <p:spPr>
          <a:xfrm>
            <a:off x="9095994" y="4443984"/>
            <a:ext cx="2727198" cy="731520"/>
          </a:xfrm>
          <a:prstGeom prst="roundRect">
            <a:avLst>
              <a:gd name="adj" fmla="val 10000"/>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i="0">
                <a:solidFill>
                  <a:srgbClr val="FFFFFF"/>
                </a:solidFill>
                <a:latin typeface="Calibri"/>
              </a:rPr>
              <a:t>0</a:t>
            </a:r>
          </a:p>
          <a:p>
            <a:pPr algn="ctr"/>
            <a:r>
              <a:rPr sz="900" b="0" i="0">
                <a:solidFill>
                  <a:srgbClr val="D6E2F0"/>
                </a:solidFill>
                <a:latin typeface="Calibri"/>
              </a:rPr>
              <a:t>paper certificates in the pilot district</a:t>
            </a:r>
          </a:p>
        </p:txBody>
      </p:sp>
      <p:sp>
        <p:nvSpPr>
          <p:cNvPr id="17441" name="TextBox 17440"/>
          <p:cNvSpPr txBox="1"/>
          <p:nvPr/>
        </p:nvSpPr>
        <p:spPr>
          <a:xfrm>
            <a:off x="365760" y="5266944"/>
            <a:ext cx="10058400" cy="274320"/>
          </a:xfrm>
          <a:prstGeom prst="rect">
            <a:avLst/>
          </a:prstGeom>
          <a:noFill/>
        </p:spPr>
        <p:txBody>
          <a:bodyPr wrap="square" anchor="t" lIns="0" rIns="0" tIns="0" bIns="0">
            <a:spAutoFit/>
          </a:bodyPr>
          <a:lstStyle/>
          <a:p>
            <a:pPr algn="l"/>
            <a:r>
              <a:rPr sz="1250" b="1" i="0">
                <a:solidFill>
                  <a:srgbClr val="1F3F6E"/>
                </a:solidFill>
                <a:latin typeface="Calibri"/>
              </a:rPr>
              <a:t>BENEFITS OF THE SOLUTION (SOCIAL, ECONOMIC, ENVIRONMENTAL, ETC.)</a:t>
            </a:r>
          </a:p>
        </p:txBody>
      </p:sp>
      <p:sp>
        <p:nvSpPr>
          <p:cNvPr id="17442" name="Rounded Rectangle 17441"/>
          <p:cNvSpPr/>
          <p:nvPr/>
        </p:nvSpPr>
        <p:spPr>
          <a:xfrm>
            <a:off x="365760" y="5522976"/>
            <a:ext cx="1143000" cy="713232"/>
          </a:xfrm>
          <a:prstGeom prst="roundRect">
            <a:avLst>
              <a:gd name="adj" fmla="val 7692"/>
            </a:avLst>
          </a:prstGeom>
          <a:solidFill>
            <a:srgbClr val="D9661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Social</a:t>
            </a:r>
          </a:p>
        </p:txBody>
      </p:sp>
      <p:sp>
        <p:nvSpPr>
          <p:cNvPr id="17443" name="Rounded Rectangle 17442"/>
          <p:cNvSpPr/>
          <p:nvPr/>
        </p:nvSpPr>
        <p:spPr>
          <a:xfrm>
            <a:off x="1508760"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Fair weight at shops, pumps and mandis. Buyers can check.</a:t>
            </a:r>
          </a:p>
        </p:txBody>
      </p:sp>
      <p:sp>
        <p:nvSpPr>
          <p:cNvPr id="17444" name="Rounded Rectangle 17443"/>
          <p:cNvSpPr/>
          <p:nvPr/>
        </p:nvSpPr>
        <p:spPr>
          <a:xfrm>
            <a:off x="3275838" y="5522976"/>
            <a:ext cx="1143000" cy="713232"/>
          </a:xfrm>
          <a:prstGeom prst="roundRect">
            <a:avLst>
              <a:gd name="adj" fmla="val 7692"/>
            </a:avLst>
          </a:prstGeom>
          <a:solidFill>
            <a:srgbClr val="1E7B4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Economic</a:t>
            </a:r>
          </a:p>
        </p:txBody>
      </p:sp>
      <p:sp>
        <p:nvSpPr>
          <p:cNvPr id="17445" name="Rounded Rectangle 17444"/>
          <p:cNvSpPr/>
          <p:nvPr/>
        </p:nvSpPr>
        <p:spPr>
          <a:xfrm>
            <a:off x="4418838"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Fewer visits and faster renewals for traders and MSMEs.</a:t>
            </a:r>
          </a:p>
        </p:txBody>
      </p:sp>
      <p:sp>
        <p:nvSpPr>
          <p:cNvPr id="17446" name="Rounded Rectangle 17445"/>
          <p:cNvSpPr/>
          <p:nvPr/>
        </p:nvSpPr>
        <p:spPr>
          <a:xfrm>
            <a:off x="6185916" y="5522976"/>
            <a:ext cx="1143000" cy="713232"/>
          </a:xfrm>
          <a:prstGeom prst="roundRect">
            <a:avLst>
              <a:gd name="adj" fmla="val 7692"/>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Environmental</a:t>
            </a:r>
          </a:p>
        </p:txBody>
      </p:sp>
      <p:sp>
        <p:nvSpPr>
          <p:cNvPr id="17447" name="Rounded Rectangle 17446"/>
          <p:cNvSpPr/>
          <p:nvPr/>
        </p:nvSpPr>
        <p:spPr>
          <a:xfrm>
            <a:off x="7328916"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Paperless forms, certificates and records.</a:t>
            </a:r>
          </a:p>
        </p:txBody>
      </p:sp>
      <p:sp>
        <p:nvSpPr>
          <p:cNvPr id="17448" name="Rounded Rectangle 17447"/>
          <p:cNvSpPr/>
          <p:nvPr/>
        </p:nvSpPr>
        <p:spPr>
          <a:xfrm>
            <a:off x="9095994" y="5522976"/>
            <a:ext cx="1143000" cy="713232"/>
          </a:xfrm>
          <a:prstGeom prst="roundRect">
            <a:avLst>
              <a:gd name="adj" fmla="val 7692"/>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7432" rIns="27432" tIns="27432" bIns="27432"/>
          <a:lstStyle/>
          <a:p>
            <a:pPr algn="ctr"/>
            <a:r>
              <a:rPr sz="1000" b="1" i="0">
                <a:solidFill>
                  <a:srgbClr val="FFFFFF"/>
                </a:solidFill>
                <a:latin typeface="Calibri"/>
              </a:rPr>
              <a:t>Governance</a:t>
            </a:r>
          </a:p>
        </p:txBody>
      </p:sp>
      <p:sp>
        <p:nvSpPr>
          <p:cNvPr id="17449" name="Rounded Rectangle 17448"/>
          <p:cNvSpPr/>
          <p:nvPr/>
        </p:nvSpPr>
        <p:spPr>
          <a:xfrm>
            <a:off x="10238994" y="5522976"/>
            <a:ext cx="1584198" cy="713232"/>
          </a:xfrm>
          <a:prstGeom prst="roundRect">
            <a:avLst>
              <a:gd name="adj" fmla="val 7692"/>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50" b="0" i="0">
                <a:solidFill>
                  <a:srgbClr val="1F2937"/>
                </a:solidFill>
                <a:latin typeface="Calibri"/>
              </a:rPr>
              <a:t>One auditable trail from application to enforcement.</a:t>
            </a:r>
          </a:p>
        </p:txBody>
      </p:sp>
    </p:spTree>
    <p:extLst>
      <p:ext uri="{BB962C8B-B14F-4D97-AF65-F5344CB8AC3E}">
        <p14:creationId xmlns:p14="http://schemas.microsoft.com/office/powerpoint/2010/main" val="29971441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D4F69D3-EEB0-4C4C-9434-B9960FB5854C}"/>
              </a:ext>
            </a:extLst>
          </p:cNvPr>
          <p:cNvSpPr>
            <a:spLocks noChangeArrowheads="1"/>
          </p:cNvSpPr>
          <p:nvPr/>
        </p:nvSpPr>
        <p:spPr bwMode="auto">
          <a:xfrm>
            <a:off x="0" y="6354762"/>
            <a:ext cx="12191999" cy="503238"/>
          </a:xfrm>
          <a:prstGeom prst="rect">
            <a:avLst/>
          </a:prstGeom>
          <a:solidFill>
            <a:srgbClr val="0070C0"/>
          </a:solidFill>
          <a:ln w="9525">
            <a:noFill/>
            <a:miter lim="800000"/>
            <a:headEnd/>
            <a:tailEnd/>
          </a:ln>
          <a:effectLst>
            <a:outerShdw dist="23000" dir="5400000" rotWithShape="0">
              <a:srgbClr val="808080">
                <a:alpha val="34999"/>
              </a:srgbClr>
            </a:outerShdw>
          </a:effectLst>
        </p:spPr>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C0504D">
                  <a:lumMod val="75000"/>
                </a:srgbClr>
              </a:solidFill>
              <a:effectLst/>
              <a:uLnTx/>
              <a:uFillTx/>
              <a:latin typeface="Calibri"/>
              <a:ea typeface="ＭＳ Ｐゴシック" pitchFamily="1" charset="-128"/>
              <a:cs typeface="+mn-cs"/>
            </a:endParaRPr>
          </a:p>
        </p:txBody>
      </p:sp>
      <p:sp>
        <p:nvSpPr>
          <p:cNvPr id="17409" name="Title 1"/>
          <p:cNvSpPr>
            <a:spLocks noGrp="1"/>
          </p:cNvSpPr>
          <p:nvPr>
            <p:ph type="title"/>
          </p:nvPr>
        </p:nvSpPr>
        <p:spPr/>
        <p:txBody>
          <a:bodyPr/>
          <a:lstStyle/>
          <a:p>
            <a:pPr eaLnBrk="1" hangingPunct="1"/>
            <a:r>
              <a:rPr lang="en-US" sz="3600" b="1" dirty="0">
                <a:latin typeface="Times New Roman" panose="02020603050405020304" pitchFamily="18" charset="0"/>
                <a:ea typeface="ＭＳ Ｐゴシック" pitchFamily="1" charset="-128"/>
                <a:cs typeface="Times New Roman" panose="02020603050405020304" pitchFamily="18" charset="0"/>
              </a:rPr>
              <a:t>RESEARCH  AND REFERENCES</a:t>
            </a:r>
          </a:p>
        </p:txBody>
      </p:sp>
      <p:sp>
        <p:nvSpPr>
          <p:cNvPr id="6" name="Slide Number Placeholder 5"/>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677C3CE7-23F7-4828-823C-E0205DF2CF97}" type="slidenum">
              <a:rPr kumimoji="0" lang="en-US" sz="1200" b="1" i="0" u="none" strike="noStrike" kern="1200" cap="none" spc="0" normalizeH="0" baseline="0" noProof="0">
                <a:ln>
                  <a:noFill/>
                </a:ln>
                <a:solidFill>
                  <a:prstClr val="white"/>
                </a:solidFill>
                <a:effectLst/>
                <a:uLnTx/>
                <a:uFillTx/>
                <a:latin typeface="TradeGothic" pitchFamily="1" charset="0"/>
                <a:ea typeface="ＭＳ Ｐゴシック" pitchFamily="1"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6</a:t>
            </a:fld>
            <a:endParaRPr kumimoji="0" lang="en-US" sz="1200" b="1" i="0" u="none" strike="noStrike" kern="1200" cap="none" spc="0" normalizeH="0" baseline="0" noProof="0" dirty="0">
              <a:ln>
                <a:noFill/>
              </a:ln>
              <a:solidFill>
                <a:prstClr val="white"/>
              </a:solidFill>
              <a:effectLst/>
              <a:uLnTx/>
              <a:uFillTx/>
              <a:latin typeface="TradeGothic" pitchFamily="1" charset="0"/>
              <a:ea typeface="ＭＳ Ｐゴシック" pitchFamily="1" charset="-128"/>
              <a:cs typeface="+mn-cs"/>
            </a:endParaRPr>
          </a:p>
        </p:txBody>
      </p:sp>
      <p:sp>
        <p:nvSpPr>
          <p:cNvPr id="7" name="Footer Placeholder 6"/>
          <p:cNvSpPr>
            <a:spLocks noGrp="1"/>
          </p:cNvSpPr>
          <p:nvPr>
            <p:ph type="ftr" sz="quarter" idx="11"/>
          </p:nvPr>
        </p:nvSpPr>
        <p:spPr>
          <a:xfrm>
            <a:off x="4648200" y="6356353"/>
            <a:ext cx="3204000" cy="365125"/>
          </a:xfrm>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white"/>
                </a:solidFill>
                <a:effectLst/>
                <a:uLnTx/>
                <a:uFillTx/>
                <a:latin typeface="TradeGothic"/>
                <a:ea typeface="+mn-ea"/>
                <a:cs typeface="+mn-cs"/>
              </a:rPr>
              <a:t>@SIH Idea submission- TULA</a:t>
            </a:r>
            <a:endParaRPr kumimoji="0" lang="en-US" sz="1200" b="0" i="0" u="none" strike="noStrike" kern="1200" cap="none" spc="0" normalizeH="0" baseline="0" noProof="0" dirty="0">
              <a:ln>
                <a:noFill/>
              </a:ln>
              <a:solidFill>
                <a:prstClr val="white"/>
              </a:solidFill>
              <a:effectLst/>
              <a:uLnTx/>
              <a:uFillTx/>
              <a:latin typeface="TradeGothic"/>
              <a:ea typeface="+mn-ea"/>
              <a:cs typeface="+mn-cs"/>
            </a:endParaRPr>
          </a:p>
        </p:txBody>
      </p:sp>
      <p:sp>
        <p:nvSpPr>
          <p:cNvPr id="9" name="Oval 8" descr="Your startup LOGO">
            <a:extLst>
              <a:ext uri="{FF2B5EF4-FFF2-40B4-BE49-F238E27FC236}">
                <a16:creationId xmlns:a16="http://schemas.microsoft.com/office/drawing/2014/main" id="{5DBCE864-823D-4A13-9607-5DA1F0ED5FB8}"/>
              </a:ext>
              <a:ext uri="{C183D7F6-B498-43B3-948B-1728B52AA6E4}">
                <adec:decorative xmlns:adec="http://schemas.microsoft.com/office/drawing/2017/decorative" xmlns="" val="0"/>
              </a:ext>
            </a:extLst>
          </p:cNvPr>
          <p:cNvSpPr/>
          <p:nvPr/>
        </p:nvSpPr>
        <p:spPr>
          <a:xfrm>
            <a:off x="329773" y="252246"/>
            <a:ext cx="1251857" cy="807334"/>
          </a:xfrm>
          <a:prstGeom prst="ellipse">
            <a:avLst/>
          </a:prstGeom>
        </p:spPr>
        <p:style>
          <a:lnRef idx="2">
            <a:schemeClr val="accent4"/>
          </a:lnRef>
          <a:fillRef idx="1">
            <a:schemeClr val="lt1"/>
          </a:fillRef>
          <a:effectRef idx="0">
            <a:schemeClr val="accent4"/>
          </a:effectRef>
          <a:fontRef idx="minor">
            <a:schemeClr val="dk1"/>
          </a:fontRef>
        </p:style>
        <p:txBody>
          <a:bodyPr rtlCol="0" anchor="ctr"/>
          <a:lstStyle/>
          <a:p>
            <a:pPr algn="ctr"/>
            <a:r>
              <a:rPr lang="en-US" dirty="0" sz="1000" b="0" i="0">
                <a:solidFill>
                  <a:srgbClr val="1F3F6E"/>
                </a:solidFill>
                <a:latin typeface="Calibri"/>
              </a:rPr>
              <a:t>Team</a:t>
            </a:r>
            <a:endParaRPr lang="en-IN" dirty="0"/>
          </a:p>
          <a:p>
            <a:pPr algn="ctr"/>
            <a:r>
              <a:rPr sz="1000" b="1" i="0">
                <a:solidFill>
                  <a:srgbClr val="1F3F6E"/>
                </a:solidFill>
                <a:latin typeface="Calibri"/>
              </a:rPr>
              <a:t>FriendlyFire</a:t>
            </a:r>
          </a:p>
        </p:txBody>
      </p:sp>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80086" y="1500"/>
            <a:ext cx="2249850" cy="1062337"/>
          </a:xfrm>
          <a:prstGeom prst="rect">
            <a:avLst/>
          </a:prstGeom>
        </p:spPr>
      </p:pic>
      <p:sp>
        <p:nvSpPr>
          <p:cNvPr id="17410" name="TextBox 17409"/>
          <p:cNvSpPr txBox="1"/>
          <p:nvPr/>
        </p:nvSpPr>
        <p:spPr>
          <a:xfrm>
            <a:off x="365760" y="1170432"/>
            <a:ext cx="7315200" cy="274320"/>
          </a:xfrm>
          <a:prstGeom prst="rect">
            <a:avLst/>
          </a:prstGeom>
          <a:noFill/>
        </p:spPr>
        <p:txBody>
          <a:bodyPr wrap="square" anchor="t" lIns="0" rIns="0" tIns="0" bIns="0">
            <a:spAutoFit/>
          </a:bodyPr>
          <a:lstStyle/>
          <a:p>
            <a:pPr algn="l"/>
            <a:r>
              <a:rPr sz="1250" b="1" i="0">
                <a:solidFill>
                  <a:srgbClr val="1F3F6E"/>
                </a:solidFill>
                <a:latin typeface="Calibri"/>
              </a:rPr>
              <a:t>DETAILS / LINKS OF THE REFERENCE AND RESEARCH WORK</a:t>
            </a:r>
          </a:p>
        </p:txBody>
      </p:sp>
      <p:sp>
        <p:nvSpPr>
          <p:cNvPr id="17411" name="TextBox 17410"/>
          <p:cNvSpPr txBox="1"/>
          <p:nvPr/>
        </p:nvSpPr>
        <p:spPr>
          <a:xfrm>
            <a:off x="868680" y="1444752"/>
            <a:ext cx="3108960" cy="256032"/>
          </a:xfrm>
          <a:prstGeom prst="rect">
            <a:avLst/>
          </a:prstGeom>
          <a:noFill/>
        </p:spPr>
        <p:txBody>
          <a:bodyPr wrap="square" anchor="t" lIns="0" rIns="0" tIns="0" bIns="0">
            <a:spAutoFit/>
          </a:bodyPr>
          <a:lstStyle/>
          <a:p>
            <a:pPr algn="l"/>
            <a:r>
              <a:rPr sz="1100" b="1" i="0">
                <a:solidFill>
                  <a:srgbClr val="5B6573"/>
                </a:solidFill>
                <a:latin typeface="Calibri"/>
              </a:rPr>
              <a:t>RESEARCH FINDING</a:t>
            </a:r>
          </a:p>
        </p:txBody>
      </p:sp>
      <p:sp>
        <p:nvSpPr>
          <p:cNvPr id="17412" name="TextBox 17411"/>
          <p:cNvSpPr txBox="1"/>
          <p:nvPr/>
        </p:nvSpPr>
        <p:spPr>
          <a:xfrm>
            <a:off x="4315968" y="1444752"/>
            <a:ext cx="2926080" cy="256032"/>
          </a:xfrm>
          <a:prstGeom prst="rect">
            <a:avLst/>
          </a:prstGeom>
          <a:noFill/>
        </p:spPr>
        <p:txBody>
          <a:bodyPr wrap="square" anchor="t" lIns="0" rIns="0" tIns="0" bIns="0">
            <a:spAutoFit/>
          </a:bodyPr>
          <a:lstStyle/>
          <a:p>
            <a:pPr algn="l"/>
            <a:r>
              <a:rPr sz="1100" b="1" i="0">
                <a:solidFill>
                  <a:srgbClr val="1E7B4A"/>
                </a:solidFill>
                <a:latin typeface="Calibri"/>
              </a:rPr>
              <a:t>DESIGN DECISION IN TULA</a:t>
            </a:r>
          </a:p>
        </p:txBody>
      </p:sp>
      <p:sp>
        <p:nvSpPr>
          <p:cNvPr id="17413" name="Oval 17412"/>
          <p:cNvSpPr/>
          <p:nvPr/>
        </p:nvSpPr>
        <p:spPr>
          <a:xfrm>
            <a:off x="365760" y="1920240"/>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1</a:t>
            </a:r>
          </a:p>
        </p:txBody>
      </p:sp>
      <p:sp>
        <p:nvSpPr>
          <p:cNvPr id="17414" name="Rounded Rectangle 17413"/>
          <p:cNvSpPr/>
          <p:nvPr/>
        </p:nvSpPr>
        <p:spPr>
          <a:xfrm>
            <a:off x="868680" y="1737360"/>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880" b="0" i="0">
                <a:solidFill>
                  <a:srgbClr val="1F2937"/>
                </a:solidFill>
                <a:latin typeface="Calibri"/>
              </a:rPr>
              <a:t>Sec. 24: every instrument used in trade is verified and stamped. GATC Rules 2013 let approved test centres verify some.</a:t>
            </a:r>
          </a:p>
        </p:txBody>
      </p:sp>
      <p:cxnSp>
        <p:nvCxnSpPr>
          <p:cNvPr id="17415" name="Connector 17414"/>
          <p:cNvCxnSpPr/>
          <p:nvPr/>
        </p:nvCxnSpPr>
        <p:spPr>
          <a:xfrm>
            <a:off x="4059936" y="2066543"/>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16" name="Rounded Rectangle 17415"/>
          <p:cNvSpPr/>
          <p:nvPr/>
        </p:nvSpPr>
        <p:spPr>
          <a:xfrm>
            <a:off x="4315968" y="1737360"/>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30" b="1" i="0">
                <a:solidFill>
                  <a:srgbClr val="1E7B4A"/>
                </a:solidFill>
                <a:latin typeface="Calibri"/>
              </a:rPr>
              <a:t>One workflow for LMO and GATC, routed by district and equipment</a:t>
            </a:r>
          </a:p>
        </p:txBody>
      </p:sp>
      <p:sp>
        <p:nvSpPr>
          <p:cNvPr id="17417" name="Oval 17416"/>
          <p:cNvSpPr/>
          <p:nvPr/>
        </p:nvSpPr>
        <p:spPr>
          <a:xfrm>
            <a:off x="365760" y="2670048"/>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2</a:t>
            </a:r>
          </a:p>
        </p:txBody>
      </p:sp>
      <p:sp>
        <p:nvSpPr>
          <p:cNvPr id="17418" name="Rounded Rectangle 17417"/>
          <p:cNvSpPr/>
          <p:nvPr/>
        </p:nvSpPr>
        <p:spPr>
          <a:xfrm>
            <a:off x="868680" y="2487168"/>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880" b="0" i="0">
                <a:solidFill>
                  <a:srgbClr val="1F2937"/>
                </a:solidFill>
                <a:latin typeface="Calibri"/>
              </a:rPr>
              <a:t>Delhi and Gujarat publish the same Schedule IX fees; rule 16 adds on-site and late fees; validity is rule 27 (12 or 24 months).</a:t>
            </a:r>
          </a:p>
        </p:txBody>
      </p:sp>
      <p:cxnSp>
        <p:nvCxnSpPr>
          <p:cNvPr id="17419" name="Connector 17418"/>
          <p:cNvCxnSpPr/>
          <p:nvPr/>
        </p:nvCxnSpPr>
        <p:spPr>
          <a:xfrm>
            <a:off x="4059936" y="2816351"/>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0" name="Rounded Rectangle 17419"/>
          <p:cNvSpPr/>
          <p:nvPr/>
        </p:nvSpPr>
        <p:spPr>
          <a:xfrm>
            <a:off x="4315968" y="2487168"/>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30" b="1" i="0">
                <a:solidFill>
                  <a:srgbClr val="1E7B4A"/>
                </a:solidFill>
                <a:latin typeface="Calibri"/>
              </a:rPr>
              <a:t>Gazetted schedules loaded as data; every fee cites its item and links the source</a:t>
            </a:r>
          </a:p>
        </p:txBody>
      </p:sp>
      <p:sp>
        <p:nvSpPr>
          <p:cNvPr id="17421" name="Oval 17420"/>
          <p:cNvSpPr/>
          <p:nvPr/>
        </p:nvSpPr>
        <p:spPr>
          <a:xfrm>
            <a:off x="365760" y="3419856"/>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3</a:t>
            </a:r>
          </a:p>
        </p:txBody>
      </p:sp>
      <p:sp>
        <p:nvSpPr>
          <p:cNvPr id="17422" name="Rounded Rectangle 17421"/>
          <p:cNvSpPr/>
          <p:nvPr/>
        </p:nvSpPr>
        <p:spPr>
          <a:xfrm>
            <a:off x="868680" y="3236976"/>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880" b="0" i="0">
                <a:solidFill>
                  <a:srgbClr val="1F2937"/>
                </a:solidFill>
                <a:latin typeface="Calibri"/>
              </a:rPr>
              <a:t>Certificate form is Schedule VIII; the stamp carries the officer's number and a quarter mark A to D (rule 15).</a:t>
            </a:r>
          </a:p>
        </p:txBody>
      </p:sp>
      <p:cxnSp>
        <p:nvCxnSpPr>
          <p:cNvPr id="17423" name="Connector 17422"/>
          <p:cNvCxnSpPr/>
          <p:nvPr/>
        </p:nvCxnSpPr>
        <p:spPr>
          <a:xfrm>
            <a:off x="4059936" y="3566160"/>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4" name="Rounded Rectangle 17423"/>
          <p:cNvSpPr/>
          <p:nvPr/>
        </p:nvSpPr>
        <p:spPr>
          <a:xfrm>
            <a:off x="4315968" y="3236976"/>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30" b="1" i="0">
                <a:solidFill>
                  <a:srgbClr val="1E7B4A"/>
                </a:solidFill>
                <a:latin typeface="Calibri"/>
              </a:rPr>
              <a:t>Certificate and PDF follow Schedule VIII, signed and QR-checkable</a:t>
            </a:r>
          </a:p>
        </p:txBody>
      </p:sp>
      <p:sp>
        <p:nvSpPr>
          <p:cNvPr id="17425" name="Oval 17424"/>
          <p:cNvSpPr/>
          <p:nvPr/>
        </p:nvSpPr>
        <p:spPr>
          <a:xfrm>
            <a:off x="365760" y="4169663"/>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4</a:t>
            </a:r>
          </a:p>
        </p:txBody>
      </p:sp>
      <p:sp>
        <p:nvSpPr>
          <p:cNvPr id="17426" name="Rounded Rectangle 17425"/>
          <p:cNvSpPr/>
          <p:nvPr/>
        </p:nvSpPr>
        <p:spPr>
          <a:xfrm>
            <a:off x="868680" y="3986783"/>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880" b="0" i="0">
                <a:solidFill>
                  <a:srgbClr val="1F2937"/>
                </a:solidFill>
                <a:latin typeface="Calibri"/>
              </a:rPr>
              <a:t>DoCA publishes all 10,050 model approvals since 2011, but no register of individual verified instruments.</a:t>
            </a:r>
          </a:p>
        </p:txBody>
      </p:sp>
      <p:cxnSp>
        <p:nvCxnSpPr>
          <p:cNvPr id="17427" name="Connector 17426"/>
          <p:cNvCxnSpPr/>
          <p:nvPr/>
        </p:nvCxnSpPr>
        <p:spPr>
          <a:xfrm>
            <a:off x="4059936" y="4315968"/>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28" name="Rounded Rectangle 17427"/>
          <p:cNvSpPr/>
          <p:nvPr/>
        </p:nvSpPr>
        <p:spPr>
          <a:xfrm>
            <a:off x="4315968" y="3986783"/>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30" b="1" i="0">
                <a:solidFill>
                  <a:srgbClr val="1E7B4A"/>
                </a:solidFill>
                <a:latin typeface="Calibri"/>
              </a:rPr>
              <a:t>Approval mark checked against the DoCA register; TULA adds the missing per-instrument record</a:t>
            </a:r>
          </a:p>
        </p:txBody>
      </p:sp>
      <p:sp>
        <p:nvSpPr>
          <p:cNvPr id="17429" name="Oval 17428"/>
          <p:cNvSpPr/>
          <p:nvPr/>
        </p:nvSpPr>
        <p:spPr>
          <a:xfrm>
            <a:off x="365760" y="4919472"/>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5</a:t>
            </a:r>
          </a:p>
        </p:txBody>
      </p:sp>
      <p:sp>
        <p:nvSpPr>
          <p:cNvPr id="17430" name="Rounded Rectangle 17429"/>
          <p:cNvSpPr/>
          <p:nvPr/>
        </p:nvSpPr>
        <p:spPr>
          <a:xfrm>
            <a:off x="868680" y="4736592"/>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880" b="0" i="0">
                <a:solidFill>
                  <a:srgbClr val="1F2937"/>
                </a:solidFill>
                <a:latin typeface="Calibri"/>
              </a:rPr>
              <a:t>MPE limits come from OIML R 76 (scales) and R 117 (fuel dispensers).</a:t>
            </a:r>
          </a:p>
        </p:txBody>
      </p:sp>
      <p:cxnSp>
        <p:nvCxnSpPr>
          <p:cNvPr id="17431" name="Connector 17430"/>
          <p:cNvCxnSpPr/>
          <p:nvPr/>
        </p:nvCxnSpPr>
        <p:spPr>
          <a:xfrm>
            <a:off x="4059936" y="5065776"/>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2" name="Rounded Rectangle 17431"/>
          <p:cNvSpPr/>
          <p:nvPr/>
        </p:nvSpPr>
        <p:spPr>
          <a:xfrm>
            <a:off x="4315968" y="4736592"/>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30" b="1" i="0">
                <a:solidFill>
                  <a:srgbClr val="1E7B4A"/>
                </a:solidFill>
                <a:latin typeface="Calibri"/>
              </a:rPr>
              <a:t>Pass / fail computed from recorded readings, not typed</a:t>
            </a:r>
          </a:p>
        </p:txBody>
      </p:sp>
      <p:sp>
        <p:nvSpPr>
          <p:cNvPr id="17433" name="Oval 17432"/>
          <p:cNvSpPr/>
          <p:nvPr/>
        </p:nvSpPr>
        <p:spPr>
          <a:xfrm>
            <a:off x="365760" y="5669280"/>
            <a:ext cx="347472" cy="347472"/>
          </a:xfrm>
          <a:prstGeom prst="ellipse">
            <a:avLst/>
          </a:prstGeom>
          <a:solidFill>
            <a:srgbClr val="0070C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lstStyle/>
          <a:p>
            <a:pPr algn="ctr"/>
            <a:r>
              <a:rPr sz="1050" b="1" i="0">
                <a:solidFill>
                  <a:srgbClr val="FFFFFF"/>
                </a:solidFill>
                <a:latin typeface="Calibri"/>
              </a:rPr>
              <a:t>6</a:t>
            </a:r>
          </a:p>
        </p:txBody>
      </p:sp>
      <p:sp>
        <p:nvSpPr>
          <p:cNvPr id="17434" name="Rounded Rectangle 17433"/>
          <p:cNvSpPr/>
          <p:nvPr/>
        </p:nvSpPr>
        <p:spPr>
          <a:xfrm>
            <a:off x="868680" y="5486400"/>
            <a:ext cx="3154680" cy="658368"/>
          </a:xfrm>
          <a:prstGeom prst="roundRect">
            <a:avLst>
              <a:gd name="adj" fmla="val 8333"/>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880" b="0" i="0">
                <a:solidFill>
                  <a:srgbClr val="1F2937"/>
                </a:solidFill>
                <a:latin typeface="Calibri"/>
              </a:rPr>
              <a:t>A buyer cannot tell a genuine stamp from a fake; field sites often have no network.</a:t>
            </a:r>
          </a:p>
        </p:txBody>
      </p:sp>
      <p:cxnSp>
        <p:nvCxnSpPr>
          <p:cNvPr id="17435" name="Connector 17434"/>
          <p:cNvCxnSpPr/>
          <p:nvPr/>
        </p:nvCxnSpPr>
        <p:spPr>
          <a:xfrm>
            <a:off x="4059936" y="5815584"/>
            <a:ext cx="219456" cy="0"/>
          </a:xfrm>
          <a:prstGeom prst="line">
            <a:avLst/>
          </a:prstGeom>
          <a:ln w="25400">
            <a:solidFill>
              <a:srgbClr val="1E7B4A"/>
            </a:solidFill>
            <a:tailEnd type="triangle" w="med" h="med"/>
          </a:ln>
        </p:spPr>
        <p:style>
          <a:lnRef idx="2">
            <a:schemeClr val="accent1"/>
          </a:lnRef>
          <a:fillRef idx="0">
            <a:schemeClr val="accent1"/>
          </a:fillRef>
          <a:effectRef idx="1">
            <a:schemeClr val="accent1"/>
          </a:effectRef>
          <a:fontRef idx="minor">
            <a:schemeClr val="tx1"/>
          </a:fontRef>
        </p:style>
      </p:cxnSp>
      <p:sp>
        <p:nvSpPr>
          <p:cNvPr id="17436" name="Rounded Rectangle 17435"/>
          <p:cNvSpPr/>
          <p:nvPr/>
        </p:nvSpPr>
        <p:spPr>
          <a:xfrm>
            <a:off x="4315968" y="5486400"/>
            <a:ext cx="3017520" cy="658368"/>
          </a:xfrm>
          <a:prstGeom prst="roundRect">
            <a:avLst>
              <a:gd name="adj" fmla="val 8333"/>
            </a:avLst>
          </a:prstGeom>
          <a:solidFill>
            <a:srgbClr val="E6F4EC"/>
          </a:solidFill>
          <a:ln w="12700">
            <a:solidFill>
              <a:srgbClr val="1E7B4A"/>
            </a:solidFill>
          </a:ln>
          <a:effectLst/>
        </p:spPr>
        <p:style>
          <a:lnRef idx="1">
            <a:schemeClr val="accent1"/>
          </a:lnRef>
          <a:fillRef idx="3">
            <a:schemeClr val="accent1"/>
          </a:fillRef>
          <a:effectRef idx="2">
            <a:schemeClr val="accent1"/>
          </a:effectRef>
          <a:fontRef idx="minor">
            <a:schemeClr val="lt1"/>
          </a:fontRef>
        </p:style>
        <p:txBody>
          <a:bodyPr rtlCol="0" anchor="ctr" wrap="square" tIns="27432" bIns="27432"/>
          <a:lstStyle/>
          <a:p>
            <a:pPr algn="l"/>
            <a:r>
              <a:rPr sz="930" b="1" i="0">
                <a:solidFill>
                  <a:srgbClr val="1E7B4A"/>
                </a:solidFill>
                <a:latin typeface="Calibri"/>
              </a:rPr>
              <a:t>Signed QR anyone can check, offline; officer app works offline</a:t>
            </a:r>
          </a:p>
        </p:txBody>
      </p:sp>
      <p:sp>
        <p:nvSpPr>
          <p:cNvPr id="17437" name="Rounded Rectangle 17436"/>
          <p:cNvSpPr/>
          <p:nvPr/>
        </p:nvSpPr>
        <p:spPr>
          <a:xfrm>
            <a:off x="7589520" y="1444752"/>
            <a:ext cx="4233672" cy="1874519"/>
          </a:xfrm>
          <a:prstGeom prst="roundRect">
            <a:avLst>
              <a:gd name="adj" fmla="val 2926"/>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sp>
        <p:nvSpPr>
          <p:cNvPr id="17438" name="TextBox 17437"/>
          <p:cNvSpPr txBox="1"/>
          <p:nvPr/>
        </p:nvSpPr>
        <p:spPr>
          <a:xfrm>
            <a:off x="7726680" y="1481328"/>
            <a:ext cx="3959352" cy="274320"/>
          </a:xfrm>
          <a:prstGeom prst="rect">
            <a:avLst/>
          </a:prstGeom>
          <a:noFill/>
        </p:spPr>
        <p:txBody>
          <a:bodyPr wrap="square" anchor="t" lIns="0" rIns="0" tIns="0" bIns="0">
            <a:spAutoFit/>
          </a:bodyPr>
          <a:lstStyle/>
          <a:p>
            <a:pPr algn="l"/>
            <a:r>
              <a:rPr sz="1200" b="1" i="0">
                <a:solidFill>
                  <a:srgbClr val="0070C0"/>
                </a:solidFill>
                <a:latin typeface="Calibri"/>
              </a:rPr>
              <a:t>References (official, click to open)</a:t>
            </a:r>
          </a:p>
        </p:txBody>
      </p:sp>
      <p:sp>
        <p:nvSpPr>
          <p:cNvPr id="17439" name="TextBox 17438"/>
          <p:cNvSpPr txBox="1"/>
          <p:nvPr/>
        </p:nvSpPr>
        <p:spPr>
          <a:xfrm>
            <a:off x="7726680" y="1755648"/>
            <a:ext cx="3959352" cy="1536192"/>
          </a:xfrm>
          <a:prstGeom prst="rect">
            <a:avLst/>
          </a:prstGeom>
          <a:noFill/>
        </p:spPr>
        <p:txBody>
          <a:bodyPr wrap="square">
            <a:spAutoFit/>
          </a:bodyPr>
          <a:lstStyle/>
          <a:p>
            <a:pPr>
              <a:spcAft>
                <a:spcPts val="150"/>
              </a:spcAft>
            </a:pPr>
            <a:r>
              <a:rPr sz="900" b="1" i="0">
                <a:solidFill>
                  <a:srgbClr val="0070C0"/>
                </a:solidFill>
                <a:latin typeface="Calibri"/>
              </a:rPr>
              <a:t>1.  </a:t>
            </a:r>
            <a:r>
              <a:rPr sz="900" b="0" i="0" u="sng">
                <a:solidFill>
                  <a:srgbClr val="1F3F6E"/>
                </a:solidFill>
                <a:latin typeface="Calibri"/>
                <a:hlinkClick r:id="rId4"/>
              </a:rPr>
              <a:t>Legal Metrology Act, 2009</a:t>
            </a:r>
          </a:p>
          <a:p>
            <a:pPr>
              <a:spcAft>
                <a:spcPts val="150"/>
              </a:spcAft>
            </a:pPr>
            <a:r>
              <a:rPr sz="900" b="1" i="0">
                <a:solidFill>
                  <a:srgbClr val="0070C0"/>
                </a:solidFill>
                <a:latin typeface="Calibri"/>
              </a:rPr>
              <a:t>2.  </a:t>
            </a:r>
            <a:r>
              <a:rPr sz="900" b="0" i="0" u="sng">
                <a:solidFill>
                  <a:srgbClr val="1F3F6E"/>
                </a:solidFill>
                <a:latin typeface="Calibri"/>
                <a:hlinkClick r:id="rId5"/>
              </a:rPr>
              <a:t>Delhi LM (Enforcement) Rules 2011: Sch. VIII, IX, XI</a:t>
            </a:r>
          </a:p>
          <a:p>
            <a:pPr>
              <a:spcAft>
                <a:spcPts val="150"/>
              </a:spcAft>
            </a:pPr>
            <a:r>
              <a:rPr sz="900" b="1" i="0">
                <a:solidFill>
                  <a:srgbClr val="0070C0"/>
                </a:solidFill>
                <a:latin typeface="Calibri"/>
              </a:rPr>
              <a:t>3.  </a:t>
            </a:r>
            <a:r>
              <a:rPr sz="900" b="0" i="0" u="sng">
                <a:solidFill>
                  <a:srgbClr val="1F3F6E"/>
                </a:solidFill>
                <a:latin typeface="Calibri"/>
                <a:hlinkClick r:id="rId6"/>
              </a:rPr>
              <a:t>Gujarat fee schedule (Schedule IX)</a:t>
            </a:r>
          </a:p>
          <a:p>
            <a:pPr>
              <a:spcAft>
                <a:spcPts val="150"/>
              </a:spcAft>
            </a:pPr>
            <a:r>
              <a:rPr sz="900" b="1" i="0">
                <a:solidFill>
                  <a:srgbClr val="0070C0"/>
                </a:solidFill>
                <a:latin typeface="Calibri"/>
              </a:rPr>
              <a:t>4.  </a:t>
            </a:r>
            <a:r>
              <a:rPr sz="900" b="0" i="0" u="sng">
                <a:solidFill>
                  <a:srgbClr val="1F3F6E"/>
                </a:solidFill>
                <a:latin typeface="Calibri"/>
                <a:hlinkClick r:id="rId7"/>
              </a:rPr>
              <a:t>Delhi W&amp;M FAQ: validity periods</a:t>
            </a:r>
          </a:p>
          <a:p>
            <a:pPr>
              <a:spcAft>
                <a:spcPts val="150"/>
              </a:spcAft>
            </a:pPr>
            <a:r>
              <a:rPr sz="900" b="1" i="0">
                <a:solidFill>
                  <a:srgbClr val="0070C0"/>
                </a:solidFill>
                <a:latin typeface="Calibri"/>
              </a:rPr>
              <a:t>5.  </a:t>
            </a:r>
            <a:r>
              <a:rPr sz="900" b="0" i="0" u="sng">
                <a:solidFill>
                  <a:srgbClr val="1F3F6E"/>
                </a:solidFill>
                <a:latin typeface="Calibri"/>
                <a:hlinkClick r:id="rId8"/>
              </a:rPr>
              <a:t>DoCA Model Approval register (10,050 entries)</a:t>
            </a:r>
          </a:p>
          <a:p>
            <a:pPr>
              <a:spcAft>
                <a:spcPts val="150"/>
              </a:spcAft>
            </a:pPr>
            <a:r>
              <a:rPr sz="900" b="1" i="0">
                <a:solidFill>
                  <a:srgbClr val="0070C0"/>
                </a:solidFill>
                <a:latin typeface="Calibri"/>
              </a:rPr>
              <a:t>6.  </a:t>
            </a:r>
            <a:r>
              <a:rPr sz="900" b="0" i="0" u="sng">
                <a:solidFill>
                  <a:srgbClr val="1F3F6E"/>
                </a:solidFill>
                <a:latin typeface="Calibri"/>
                <a:hlinkClick r:id="rId9"/>
              </a:rPr>
              <a:t>OIML R 76-1 (scales)</a:t>
            </a:r>
          </a:p>
          <a:p>
            <a:pPr>
              <a:spcAft>
                <a:spcPts val="150"/>
              </a:spcAft>
            </a:pPr>
            <a:r>
              <a:rPr sz="900" b="1" i="0">
                <a:solidFill>
                  <a:srgbClr val="0070C0"/>
                </a:solidFill>
                <a:latin typeface="Calibri"/>
              </a:rPr>
              <a:t>7.  </a:t>
            </a:r>
            <a:r>
              <a:rPr sz="900" b="0" i="0" u="sng">
                <a:solidFill>
                  <a:srgbClr val="1F3F6E"/>
                </a:solidFill>
                <a:latin typeface="Calibri"/>
                <a:hlinkClick r:id="rId10"/>
              </a:rPr>
              <a:t>OIML R 117-1 (fuel dispensers)</a:t>
            </a:r>
          </a:p>
          <a:p>
            <a:pPr>
              <a:spcAft>
                <a:spcPts val="150"/>
              </a:spcAft>
            </a:pPr>
            <a:r>
              <a:rPr sz="900" b="1" i="0">
                <a:solidFill>
                  <a:srgbClr val="0070C0"/>
                </a:solidFill>
                <a:latin typeface="Calibri"/>
              </a:rPr>
              <a:t>8.  </a:t>
            </a:r>
            <a:r>
              <a:rPr sz="900" b="0" i="0" u="sng">
                <a:solidFill>
                  <a:srgbClr val="1F3F6E"/>
                </a:solidFill>
                <a:latin typeface="Calibri"/>
                <a:hlinkClick r:id="rId11"/>
              </a:rPr>
              <a:t>All sources, with what each is used for</a:t>
            </a:r>
          </a:p>
        </p:txBody>
      </p:sp>
      <p:sp>
        <p:nvSpPr>
          <p:cNvPr id="17440" name="TextBox 17439"/>
          <p:cNvSpPr txBox="1"/>
          <p:nvPr/>
        </p:nvSpPr>
        <p:spPr>
          <a:xfrm>
            <a:off x="7589520" y="3401568"/>
            <a:ext cx="4233672" cy="274320"/>
          </a:xfrm>
          <a:prstGeom prst="rect">
            <a:avLst/>
          </a:prstGeom>
          <a:noFill/>
        </p:spPr>
        <p:txBody>
          <a:bodyPr wrap="square" anchor="t" lIns="0" rIns="0" tIns="0" bIns="0">
            <a:spAutoFit/>
          </a:bodyPr>
          <a:lstStyle/>
          <a:p>
            <a:pPr algn="l"/>
            <a:r>
              <a:rPr sz="1150" b="1" i="0">
                <a:solidFill>
                  <a:srgbClr val="1F3F6E"/>
                </a:solidFill>
                <a:latin typeface="Calibri"/>
              </a:rPr>
              <a:t>COMPARED WITH TODAY</a:t>
            </a:r>
          </a:p>
        </p:txBody>
      </p:sp>
      <p:sp>
        <p:nvSpPr>
          <p:cNvPr id="17441" name="Rectangle 17440"/>
          <p:cNvSpPr/>
          <p:nvPr/>
        </p:nvSpPr>
        <p:spPr>
          <a:xfrm>
            <a:off x="7589520" y="3639312"/>
            <a:ext cx="105156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
            </a:r>
          </a:p>
        </p:txBody>
      </p:sp>
      <p:sp>
        <p:nvSpPr>
          <p:cNvPr id="17442" name="Rectangle 17441"/>
          <p:cNvSpPr/>
          <p:nvPr/>
        </p:nvSpPr>
        <p:spPr>
          <a:xfrm>
            <a:off x="8641080" y="3639312"/>
            <a:ext cx="8686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Paper</a:t>
            </a:r>
          </a:p>
        </p:txBody>
      </p:sp>
      <p:sp>
        <p:nvSpPr>
          <p:cNvPr id="17443" name="Rectangle 17442"/>
          <p:cNvSpPr/>
          <p:nvPr/>
        </p:nvSpPr>
        <p:spPr>
          <a:xfrm>
            <a:off x="9509760" y="3639312"/>
            <a:ext cx="1097280"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Typical State portal</a:t>
            </a:r>
          </a:p>
        </p:txBody>
      </p:sp>
      <p:sp>
        <p:nvSpPr>
          <p:cNvPr id="17444" name="Rectangle 17443"/>
          <p:cNvSpPr/>
          <p:nvPr/>
        </p:nvSpPr>
        <p:spPr>
          <a:xfrm>
            <a:off x="10607040" y="3639312"/>
            <a:ext cx="1216152" cy="201168"/>
          </a:xfrm>
          <a:prstGeom prst="rect">
            <a:avLst/>
          </a:prstGeom>
          <a:solidFill>
            <a:srgbClr val="1F3F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FFFFFF"/>
                </a:solidFill>
                <a:latin typeface="Calibri"/>
              </a:rPr>
              <a:t>TULA</a:t>
            </a:r>
          </a:p>
        </p:txBody>
      </p:sp>
      <p:sp>
        <p:nvSpPr>
          <p:cNvPr id="17445" name="Rectangle 17444"/>
          <p:cNvSpPr/>
          <p:nvPr/>
        </p:nvSpPr>
        <p:spPr>
          <a:xfrm>
            <a:off x="7589520" y="3840480"/>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Certificate</a:t>
            </a:r>
          </a:p>
        </p:txBody>
      </p:sp>
      <p:sp>
        <p:nvSpPr>
          <p:cNvPr id="17446" name="Rectangle 17445"/>
          <p:cNvSpPr/>
          <p:nvPr/>
        </p:nvSpPr>
        <p:spPr>
          <a:xfrm>
            <a:off x="8641080" y="3840480"/>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copyable paper</a:t>
            </a:r>
          </a:p>
        </p:txBody>
      </p:sp>
      <p:sp>
        <p:nvSpPr>
          <p:cNvPr id="17447" name="Rectangle 17446"/>
          <p:cNvSpPr/>
          <p:nvPr/>
        </p:nvSpPr>
        <p:spPr>
          <a:xfrm>
            <a:off x="9509760" y="3840480"/>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editable PDF</a:t>
            </a:r>
          </a:p>
        </p:txBody>
      </p:sp>
      <p:sp>
        <p:nvSpPr>
          <p:cNvPr id="17448" name="Rectangle 17447"/>
          <p:cNvSpPr/>
          <p:nvPr/>
        </p:nvSpPr>
        <p:spPr>
          <a:xfrm>
            <a:off x="10607040" y="3840480"/>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signed QR</a:t>
            </a:r>
          </a:p>
        </p:txBody>
      </p:sp>
      <p:sp>
        <p:nvSpPr>
          <p:cNvPr id="17449" name="Rectangle 17448"/>
          <p:cNvSpPr/>
          <p:nvPr/>
        </p:nvSpPr>
        <p:spPr>
          <a:xfrm>
            <a:off x="7589520" y="4041648"/>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Buyer can check</a:t>
            </a:r>
          </a:p>
        </p:txBody>
      </p:sp>
      <p:sp>
        <p:nvSpPr>
          <p:cNvPr id="17450" name="Rectangle 17449"/>
          <p:cNvSpPr/>
          <p:nvPr/>
        </p:nvSpPr>
        <p:spPr>
          <a:xfrm>
            <a:off x="8641080" y="4041648"/>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no</a:t>
            </a:r>
          </a:p>
        </p:txBody>
      </p:sp>
      <p:sp>
        <p:nvSpPr>
          <p:cNvPr id="17451" name="Rectangle 17450"/>
          <p:cNvSpPr/>
          <p:nvPr/>
        </p:nvSpPr>
        <p:spPr>
          <a:xfrm>
            <a:off x="9509760" y="4041648"/>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rarely</a:t>
            </a:r>
          </a:p>
        </p:txBody>
      </p:sp>
      <p:sp>
        <p:nvSpPr>
          <p:cNvPr id="17452" name="Rectangle 17451"/>
          <p:cNvSpPr/>
          <p:nvPr/>
        </p:nvSpPr>
        <p:spPr>
          <a:xfrm>
            <a:off x="10607040" y="4041648"/>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any phone, offline</a:t>
            </a:r>
          </a:p>
        </p:txBody>
      </p:sp>
      <p:sp>
        <p:nvSpPr>
          <p:cNvPr id="17453" name="Rectangle 17452"/>
          <p:cNvSpPr/>
          <p:nvPr/>
        </p:nvSpPr>
        <p:spPr>
          <a:xfrm>
            <a:off x="7589520" y="4242816"/>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Field record</a:t>
            </a:r>
          </a:p>
        </p:txBody>
      </p:sp>
      <p:sp>
        <p:nvSpPr>
          <p:cNvPr id="17454" name="Rectangle 17453"/>
          <p:cNvSpPr/>
          <p:nvPr/>
        </p:nvSpPr>
        <p:spPr>
          <a:xfrm>
            <a:off x="8641080" y="4242816"/>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register</a:t>
            </a:r>
          </a:p>
        </p:txBody>
      </p:sp>
      <p:sp>
        <p:nvSpPr>
          <p:cNvPr id="17455" name="Rectangle 17454"/>
          <p:cNvSpPr/>
          <p:nvPr/>
        </p:nvSpPr>
        <p:spPr>
          <a:xfrm>
            <a:off x="9509760" y="4242816"/>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typed later</a:t>
            </a:r>
          </a:p>
        </p:txBody>
      </p:sp>
      <p:sp>
        <p:nvSpPr>
          <p:cNvPr id="17456" name="Rectangle 17455"/>
          <p:cNvSpPr/>
          <p:nvPr/>
        </p:nvSpPr>
        <p:spPr>
          <a:xfrm>
            <a:off x="10607040" y="4242816"/>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phone, offline</a:t>
            </a:r>
          </a:p>
        </p:txBody>
      </p:sp>
      <p:sp>
        <p:nvSpPr>
          <p:cNvPr id="17457" name="Rectangle 17456"/>
          <p:cNvSpPr/>
          <p:nvPr/>
        </p:nvSpPr>
        <p:spPr>
          <a:xfrm>
            <a:off x="7589520" y="4443984"/>
            <a:ext cx="105156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Pass / fail</a:t>
            </a:r>
          </a:p>
        </p:txBody>
      </p:sp>
      <p:sp>
        <p:nvSpPr>
          <p:cNvPr id="17458" name="Rectangle 17457"/>
          <p:cNvSpPr/>
          <p:nvPr/>
        </p:nvSpPr>
        <p:spPr>
          <a:xfrm>
            <a:off x="8641080" y="4443984"/>
            <a:ext cx="8686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judgement</a:t>
            </a:r>
          </a:p>
        </p:txBody>
      </p:sp>
      <p:sp>
        <p:nvSpPr>
          <p:cNvPr id="17459" name="Rectangle 17458"/>
          <p:cNvSpPr/>
          <p:nvPr/>
        </p:nvSpPr>
        <p:spPr>
          <a:xfrm>
            <a:off x="9509760" y="4443984"/>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typed</a:t>
            </a:r>
          </a:p>
        </p:txBody>
      </p:sp>
      <p:sp>
        <p:nvSpPr>
          <p:cNvPr id="17460" name="Rectangle 17459"/>
          <p:cNvSpPr/>
          <p:nvPr/>
        </p:nvSpPr>
        <p:spPr>
          <a:xfrm>
            <a:off x="10607040" y="4443984"/>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computed vs MPE</a:t>
            </a:r>
          </a:p>
        </p:txBody>
      </p:sp>
      <p:sp>
        <p:nvSpPr>
          <p:cNvPr id="17461" name="Rectangle 17460"/>
          <p:cNvSpPr/>
          <p:nvPr/>
        </p:nvSpPr>
        <p:spPr>
          <a:xfrm>
            <a:off x="7589520" y="4645152"/>
            <a:ext cx="105156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F2937"/>
                </a:solidFill>
                <a:latin typeface="Calibri"/>
              </a:rPr>
              <a:t>Across States</a:t>
            </a:r>
          </a:p>
        </p:txBody>
      </p:sp>
      <p:sp>
        <p:nvSpPr>
          <p:cNvPr id="17462" name="Rectangle 17461"/>
          <p:cNvSpPr/>
          <p:nvPr/>
        </p:nvSpPr>
        <p:spPr>
          <a:xfrm>
            <a:off x="8641080" y="4645152"/>
            <a:ext cx="8686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separate</a:t>
            </a:r>
          </a:p>
        </p:txBody>
      </p:sp>
      <p:sp>
        <p:nvSpPr>
          <p:cNvPr id="17463" name="Rectangle 17462"/>
          <p:cNvSpPr/>
          <p:nvPr/>
        </p:nvSpPr>
        <p:spPr>
          <a:xfrm>
            <a:off x="9509760" y="4645152"/>
            <a:ext cx="1097280" cy="201168"/>
          </a:xfrm>
          <a:prstGeom prst="rect">
            <a:avLst/>
          </a:prstGeom>
          <a:solidFill>
            <a:srgbClr val="F1F4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0" i="0">
                <a:solidFill>
                  <a:srgbClr val="5B6573"/>
                </a:solidFill>
                <a:latin typeface="Calibri"/>
              </a:rPr>
              <a:t>one per State</a:t>
            </a:r>
          </a:p>
        </p:txBody>
      </p:sp>
      <p:sp>
        <p:nvSpPr>
          <p:cNvPr id="17464" name="Rectangle 17463"/>
          <p:cNvSpPr/>
          <p:nvPr/>
        </p:nvSpPr>
        <p:spPr>
          <a:xfrm>
            <a:off x="10607040" y="4645152"/>
            <a:ext cx="1216152" cy="201168"/>
          </a:xfrm>
          <a:prstGeom prst="rect">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l"/>
            <a:r>
              <a:rPr sz="800" b="1" i="0">
                <a:solidFill>
                  <a:srgbClr val="1E7B4A"/>
                </a:solidFill>
                <a:latin typeface="Calibri"/>
              </a:rPr>
              <a:t>one platform</a:t>
            </a:r>
          </a:p>
        </p:txBody>
      </p:sp>
      <p:sp>
        <p:nvSpPr>
          <p:cNvPr id="17465" name="Rounded Rectangle 17464"/>
          <p:cNvSpPr/>
          <p:nvPr/>
        </p:nvSpPr>
        <p:spPr>
          <a:xfrm>
            <a:off x="7589520" y="4892040"/>
            <a:ext cx="4233672" cy="1344168"/>
          </a:xfrm>
          <a:prstGeom prst="roundRect">
            <a:avLst>
              <a:gd name="adj" fmla="val 4081"/>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p>
        </p:txBody>
      </p:sp>
      <p:pic>
        <p:nvPicPr>
          <p:cNvPr id="17466" name="Picture 17465" descr="image.png">
            <a:hlinkClick r:id="rId13"/>
          </p:cNvPr>
          <p:cNvPicPr>
            <a:picLocks noChangeAspect="1"/>
          </p:cNvPicPr>
          <p:nvPr/>
        </p:nvPicPr>
        <p:blipFill>
          <a:blip r:embed="rId12"/>
          <a:stretch>
            <a:fillRect/>
          </a:stretch>
        </p:blipFill>
        <p:spPr>
          <a:xfrm>
            <a:off x="7680960" y="4965192"/>
            <a:ext cx="1188720" cy="1188720"/>
          </a:xfrm>
          <a:prstGeom prst="rect">
            <a:avLst/>
          </a:prstGeom>
        </p:spPr>
      </p:pic>
      <p:sp>
        <p:nvSpPr>
          <p:cNvPr id="17467" name="TextBox 17466"/>
          <p:cNvSpPr txBox="1"/>
          <p:nvPr/>
        </p:nvSpPr>
        <p:spPr>
          <a:xfrm>
            <a:off x="8961120" y="4983480"/>
            <a:ext cx="2770632" cy="1188720"/>
          </a:xfrm>
          <a:prstGeom prst="rect">
            <a:avLst/>
          </a:prstGeom>
          <a:noFill/>
        </p:spPr>
        <p:txBody>
          <a:bodyPr wrap="square" anchor="t" lIns="0" rIns="0" tIns="0" bIns="0">
            <a:spAutoFit/>
          </a:bodyPr>
          <a:lstStyle/>
          <a:p>
            <a:pPr algn="l">
              <a:spcAft>
                <a:spcPts val="200"/>
              </a:spcAft>
            </a:pPr>
            <a:r>
              <a:rPr sz="1200" b="1" i="0">
                <a:solidFill>
                  <a:srgbClr val="1E7B4A"/>
                </a:solidFill>
                <a:latin typeface="Calibri"/>
              </a:rPr>
              <a:t>Scan: a real certificate</a:t>
            </a:r>
          </a:p>
          <a:p>
            <a:pPr algn="l">
              <a:spcAft>
                <a:spcPts val="200"/>
              </a:spcAft>
            </a:pPr>
            <a:r>
              <a:rPr sz="950" b="0" i="0">
                <a:solidFill>
                  <a:srgbClr val="1F2937"/>
                </a:solidFill>
                <a:latin typeface="Calibri"/>
              </a:rPr>
              <a:t>DL/LM/2026/08913, issued and signed on the live system on 30 Sep 2026. Your phone checks the signature.</a:t>
            </a:r>
          </a:p>
          <a:p>
            <a:pPr algn="l">
              <a:spcAft>
                <a:spcPts val="200"/>
              </a:spcAft>
            </a:pPr>
            <a:r>
              <a:rPr sz="850" b="0" i="0">
                <a:solidFill>
                  <a:srgbClr val="5B6573"/>
                </a:solidFill>
                <a:latin typeface="Calibri"/>
              </a:rPr>
              <a:t>Code: </a:t>
            </a:r>
            <a:r>
              <a:rPr sz="850" b="0" i="0" u="sng">
                <a:solidFill>
                  <a:srgbClr val="5B6573"/>
                </a:solidFill>
                <a:latin typeface="Calibri"/>
                <a:hlinkClick r:id="rId14"/>
              </a:rPr>
              <a:t>github.com/prerak2507/tula-legal-metrology</a:t>
            </a:r>
          </a:p>
        </p:txBody>
      </p:sp>
    </p:spTree>
    <p:extLst>
      <p:ext uri="{BB962C8B-B14F-4D97-AF65-F5344CB8AC3E}">
        <p14:creationId xmlns:p14="http://schemas.microsoft.com/office/powerpoint/2010/main" val="39167886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7489</TotalTime>
  <Words>325</Words>
  <Application>Microsoft Office PowerPoint</Application>
  <PresentationFormat>Widescreen</PresentationFormat>
  <Paragraphs>62</Paragraphs>
  <Slides>7</Slides>
  <Notes>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ＭＳ Ｐゴシック</vt:lpstr>
      <vt:lpstr>Arial</vt:lpstr>
      <vt:lpstr>Calibri</vt:lpstr>
      <vt:lpstr>Garamond</vt:lpstr>
      <vt:lpstr>Times New Roman</vt:lpstr>
      <vt:lpstr>TradeGothic</vt:lpstr>
      <vt:lpstr>Wingdings</vt:lpstr>
      <vt:lpstr>Office Theme</vt:lpstr>
      <vt:lpstr>SMART INDIA HACKATHON 2026</vt:lpstr>
      <vt:lpstr> IDEA TITLE</vt:lpstr>
      <vt:lpstr>TECHNICAL APPROACH</vt:lpstr>
      <vt:lpstr>FEASIBILITY AND VIABILITY</vt:lpstr>
      <vt:lpstr>IMPACT AND BENEFITS</vt:lpstr>
      <vt:lpstr>RESEARCH  AND REFERENCES</vt:lpstr>
      <vt:lpstr>PowerPoint Presentation</vt:lpstr>
    </vt:vector>
  </TitlesOfParts>
  <Manager/>
  <Company>Crowdfunder, Inc.</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Investor Pitch Deck Template</dc:title>
  <dc:subject/>
  <dc:creator>Crowdfunder</dc:creator>
  <cp:keywords/>
  <dc:description/>
  <cp:lastModifiedBy>AICTE</cp:lastModifiedBy>
  <cp:revision>148</cp:revision>
  <dcterms:created xsi:type="dcterms:W3CDTF">2013-12-12T18:46:50Z</dcterms:created>
  <dcterms:modified xsi:type="dcterms:W3CDTF">2026-06-02T09:29:39Z</dcterms:modified>
  <cp:category/>
</cp:coreProperties>
</file>