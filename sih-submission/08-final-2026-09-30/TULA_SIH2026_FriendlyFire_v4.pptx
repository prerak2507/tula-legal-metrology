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today.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are measured on the live system today;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rule or a field reality.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 Fill Team ID before exporting.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sz="2600" b="1" i="0">
                <a:solidFill>
                  <a:srgbClr val="FFFFFF"/>
                </a:solidFill>
                <a:latin typeface="Calibri"/>
              </a:rPr>
              <a:t>TULA  </a:t>
            </a:r>
            <a:r>
              <a:rPr sz="130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_______</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760720"/>
            <a:ext cx="6035040" cy="274320"/>
          </a:xfrm>
          <a:prstGeom prst="rect">
            <a:avLst/>
          </a:prstGeom>
          <a:noFill/>
        </p:spPr>
        <p:txBody>
          <a:bodyPr wrap="square" anchor="t" lIns="0" rIns="0" tIns="0" bIns="0">
            <a:spAutoFit/>
          </a:bodyPr>
          <a:lstStyle/>
          <a:p>
            <a:pPr algn="l"/>
            <a:r>
              <a:rPr sz="1250" b="1" i="1">
                <a:solidFill>
                  <a:srgbClr val="0070C0"/>
                </a:solidFill>
                <a:latin typeface="Calibri"/>
              </a:rPr>
              <a:t>One instrument → one digital ID → one certificate anyone can check</a:t>
            </a:r>
          </a:p>
        </p:txBody>
      </p:sp>
      <p:sp>
        <p:nvSpPr>
          <p:cNvPr id="41" name="TextBox 40"/>
          <p:cNvSpPr txBox="1"/>
          <p:nvPr/>
        </p:nvSpPr>
        <p:spPr>
          <a:xfrm>
            <a:off x="384048" y="6053328"/>
            <a:ext cx="6035040" cy="274320"/>
          </a:xfrm>
          <a:prstGeom prst="rect">
            <a:avLst/>
          </a:prstGeom>
          <a:noFill/>
        </p:spPr>
        <p:txBody>
          <a:bodyPr wrap="square" anchor="t" lIns="0" rIns="0" tIns="0" bIns="0">
            <a:spAutoFit/>
          </a:bodyPr>
          <a:lstStyle/>
          <a:p>
            <a:pPr algn="l"/>
            <a:r>
              <a:rPr sz="1100" b="1" i="0">
                <a:solidFill>
                  <a:srgbClr val="1E7B4A"/>
                </a:solidFill>
                <a:latin typeface="Calibri"/>
              </a:rPr>
              <a:t>Live prototype: </a:t>
            </a:r>
            <a:r>
              <a:rPr sz="1100" b="0" i="0">
                <a:solidFill>
                  <a:srgbClr val="1E7B4A"/>
                </a:solidFill>
                <a:latin typeface="Calibri"/>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r>
              <a:rPr sz="1200" b="1" i="0">
                <a:solidFill>
                  <a:srgbClr val="1F3F6E"/>
                </a:solidFill>
                <a:latin typeface="Calibri"/>
              </a:rPr>
              <a:t>A live web + mobile platform: every instrument gets a permanent Digital ID, </a:t>
            </a:r>
            <a:r>
              <a:rPr sz="12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anchor="t" lIns="0" rIns="0" tIns="0" bIns="0">
            <a:spAutoFit/>
          </a:bodyPr>
          <a:lstStyle/>
          <a:p>
            <a:pPr algn="l"/>
            <a:r>
              <a:rPr sz="125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Register</a:t>
            </a:r>
          </a:p>
          <a:p>
            <a:pPr algn="ctr"/>
            <a:r>
              <a:rPr sz="90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Apply</a:t>
            </a:r>
          </a:p>
          <a:p>
            <a:pPr algn="ctr"/>
            <a:r>
              <a:rPr sz="900" b="0" i="0">
                <a:solidFill>
                  <a:srgbClr val="5B6573"/>
                </a:solidFill>
                <a:latin typeface="Calibri"/>
              </a:rPr>
              <a:t>upload docs, fee by State rule</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6B3FA0"/>
                </a:solidFill>
                <a:latin typeface="Calibri"/>
              </a:rPr>
              <a:t>Scrutiny</a:t>
            </a:r>
          </a:p>
          <a:p>
            <a:pPr algn="ctr"/>
            <a:r>
              <a:rPr sz="900" b="0" i="0">
                <a:solidFill>
                  <a:srgbClr val="5B6573"/>
                </a:solidFill>
                <a:latin typeface="Calibri"/>
              </a:rPr>
              <a:t>officer checks, AI flags</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Assign</a:t>
            </a:r>
          </a:p>
          <a:p>
            <a:pPr algn="ctr"/>
            <a:r>
              <a:rPr sz="90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Inspect</a:t>
            </a:r>
          </a:p>
          <a:p>
            <a:pPr algn="ctr"/>
            <a:r>
              <a:rPr sz="90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D9661F"/>
                </a:solidFill>
                <a:latin typeface="Calibri"/>
              </a:rPr>
              <a:t>Decide</a:t>
            </a:r>
          </a:p>
          <a:p>
            <a:pPr algn="ctr"/>
            <a:r>
              <a:rPr sz="90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Certificate</a:t>
            </a:r>
          </a:p>
          <a:p>
            <a:pPr algn="ctr"/>
            <a:r>
              <a:rPr sz="90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Verify</a:t>
            </a:r>
          </a:p>
          <a:p>
            <a:pPr algn="ctr"/>
            <a:r>
              <a:rPr sz="90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anchor="t" lIns="0" rIns="0" tIns="0" bIns="0">
            <a:spAutoFit/>
          </a:bodyPr>
          <a:lstStyle/>
          <a:p>
            <a:pPr algn="l"/>
            <a:r>
              <a:rPr sz="10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3474720"/>
            <a:ext cx="1005840" cy="219456"/>
          </a:xfrm>
          <a:prstGeom prst="roundRect">
            <a:avLst>
              <a:gd name="adj" fmla="val 41666"/>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8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anchor="t" lIns="0" rIns="0" tIns="0" bIns="0">
            <a:spAutoFit/>
          </a:bodyPr>
          <a:lstStyle/>
          <a:p>
            <a:pPr algn="l"/>
            <a:r>
              <a:rPr sz="125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Paper records in isolated systems</a:t>
            </a:r>
          </a:p>
          <a:p>
            <a:pPr algn="l"/>
            <a:r>
              <a:rPr sz="1150" b="1" i="0">
                <a:solidFill>
                  <a:srgbClr val="1F3F6E"/>
                </a:solidFill>
                <a:latin typeface="Calibri"/>
              </a:rPr>
              <a:t>→ One live database for every State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Manual scheduling, pendency</a:t>
            </a:r>
          </a:p>
          <a:p>
            <a:pPr algn="l"/>
            <a:r>
              <a:rPr sz="11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Fake or copied certificates</a:t>
            </a:r>
          </a:p>
          <a:p>
            <a:pPr algn="l"/>
            <a:r>
              <a:rPr sz="1150" b="1" i="0">
                <a:solidFill>
                  <a:srgbClr val="1F3F6E"/>
                </a:solidFill>
                <a:latin typeface="Calibri"/>
              </a:rPr>
              <a:t>→ Signed QR: edited copies fail the scan</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Missed re-verification dates</a:t>
            </a:r>
          </a:p>
          <a:p>
            <a:pPr algn="l"/>
            <a:r>
              <a:rPr sz="11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anchor="t" lIns="0" rIns="0" tIns="0" bIns="0">
            <a:spAutoFit/>
          </a:bodyPr>
          <a:lstStyle/>
          <a:p>
            <a:pPr algn="l"/>
            <a:r>
              <a:rPr sz="125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Unfakeable QR</a:t>
            </a:r>
          </a:p>
          <a:p>
            <a:pPr algn="l"/>
            <a:r>
              <a:rPr sz="950" b="0" i="0">
                <a:solidFill>
                  <a:srgbClr val="FFFFFF"/>
                </a:solidFill>
                <a:latin typeface="Calibri"/>
              </a:rPr>
              <a:t>Server-signed (ECDSA P-256). Checked on any phone, even offline, plus a live revocation list</a:t>
            </a:r>
          </a:p>
        </p:txBody>
      </p:sp>
      <p:sp>
        <p:nvSpPr>
          <p:cNvPr id="15400" name="Rounded Rectangle 15399"/>
          <p:cNvSpPr/>
          <p:nvPr/>
        </p:nvSpPr>
        <p:spPr>
          <a:xfrm>
            <a:off x="2684678" y="5065776"/>
            <a:ext cx="2181758" cy="1161288"/>
          </a:xfrm>
          <a:prstGeom prst="roundRect">
            <a:avLst>
              <a:gd name="adj" fmla="val 5511"/>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Offline field app</a:t>
            </a:r>
          </a:p>
          <a:p>
            <a:pPr algn="l"/>
            <a:r>
              <a:rPr sz="9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Computed verdict</a:t>
            </a:r>
          </a:p>
          <a:p>
            <a:pPr algn="l"/>
            <a:r>
              <a:rPr sz="950" b="0" i="0">
                <a:solidFill>
                  <a:srgbClr val="FFFFFF"/>
                </a:solidFill>
                <a:latin typeface="Calibri"/>
              </a:rPr>
              <a:t>Readings are checked against OIML MPE limits. PASS is impossible unless every check passes</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Multi-State by design</a:t>
            </a:r>
          </a:p>
          <a:p>
            <a:pPr algn="l"/>
            <a:r>
              <a:rPr sz="950" b="0" i="0">
                <a:solidFill>
                  <a:srgbClr val="FFFFFF"/>
                </a:solidFill>
                <a:latin typeface="Calibri"/>
              </a:rPr>
              <a:t>Fees, validity and officers are data per State.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AI copilot, human decides</a:t>
            </a:r>
          </a:p>
          <a:p>
            <a:pPr algn="l"/>
            <a:r>
              <a:rPr sz="950" b="0" i="0">
                <a:solidFill>
                  <a:srgbClr val="FFFFFF"/>
                </a:solidFill>
                <a:latin typeface="Calibri"/>
              </a:rPr>
              <a:t>Gemini flags odd documents.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anchor="t" lIns="0" rIns="0" tIns="0" bIns="0">
            <a:spAutoFit/>
          </a:bodyPr>
          <a:lstStyle/>
          <a:p>
            <a:pPr algn="l"/>
            <a:r>
              <a:rPr sz="125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Trader</a:t>
            </a:r>
          </a:p>
          <a:p>
            <a:pPr algn="ctr"/>
            <a:r>
              <a:rPr sz="8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LMO / GATC</a:t>
            </a:r>
          </a:p>
          <a:p>
            <a:pPr algn="ctr"/>
            <a:r>
              <a:rPr sz="8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Controller</a:t>
            </a:r>
          </a:p>
          <a:p>
            <a:pPr algn="ctr"/>
            <a:r>
              <a:rPr sz="8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State admin</a:t>
            </a:r>
          </a:p>
          <a:p>
            <a:pPr algn="ctr"/>
            <a:r>
              <a:rPr sz="800" b="0" i="0">
                <a:solidFill>
                  <a:srgbClr val="5B6573"/>
                </a:solidFill>
                <a:latin typeface="Calibri"/>
              </a:rPr>
              <a:t>fees, rules</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Citizen</a:t>
            </a:r>
          </a:p>
          <a:p>
            <a:pPr algn="ctr"/>
            <a:r>
              <a:rPr sz="8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React PWA on Vercel</a:t>
            </a:r>
            <a:r>
              <a:rPr sz="9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3FA0"/>
                </a:solidFill>
                <a:latin typeface="Calibri"/>
              </a:rPr>
              <a:t>Vercel functions (keys stay here)</a:t>
            </a:r>
          </a:p>
          <a:p>
            <a:pPr algn="ctr"/>
            <a:r>
              <a:rPr sz="850" b="0" i="0">
                <a:solidFill>
                  <a:srgbClr val="1F2937"/>
                </a:solidFill>
                <a:latin typeface="Calibri"/>
              </a:rPr>
              <a:t>/api/sign  ECDSA private key, checks officer</a:t>
            </a:r>
          </a:p>
          <a:p>
            <a:pPr algn="ctr"/>
            <a:r>
              <a:rPr sz="8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E7B4A"/>
                </a:solidFill>
                <a:latin typeface="Calibri"/>
              </a:rPr>
              <a:t>Supabase</a:t>
            </a:r>
          </a:p>
          <a:p>
            <a:pPr algn="ctr"/>
            <a:r>
              <a:rPr sz="850" b="0" i="0">
                <a:solidFill>
                  <a:srgbClr val="1F2937"/>
                </a:solidFill>
                <a:latin typeface="Calibri"/>
              </a:rPr>
              <a:t>Auth · row-level security · realtime</a:t>
            </a:r>
          </a:p>
          <a:p>
            <a:pPr algn="ctr"/>
            <a:r>
              <a:rPr sz="8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Postgres</a:t>
            </a:r>
          </a:p>
          <a:p>
            <a:pPr algn="ctr"/>
            <a:r>
              <a:rPr sz="8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Append-only audit log</a:t>
            </a:r>
          </a:p>
          <a:p>
            <a:pPr algn="ctr"/>
            <a:r>
              <a:rPr sz="8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Rules per State</a:t>
            </a:r>
          </a:p>
          <a:p>
            <a:pPr algn="ctr"/>
            <a:r>
              <a:rPr sz="8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anchor="t" lIns="0" rIns="0" tIns="0" bIns="0">
            <a:spAutoFit/>
          </a:bodyPr>
          <a:lstStyle/>
          <a:p>
            <a:pPr algn="l"/>
            <a:r>
              <a:rPr sz="11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Officer passes</a:t>
            </a:r>
          </a:p>
          <a:p>
            <a:pPr algn="ctr"/>
            <a:r>
              <a:rPr sz="7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Server checks</a:t>
            </a:r>
          </a:p>
          <a:p>
            <a:pPr algn="ctr"/>
            <a:r>
              <a:rPr sz="7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Signs</a:t>
            </a:r>
          </a:p>
          <a:p>
            <a:pPr algn="ctr"/>
            <a:r>
              <a:rPr sz="7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QR carries</a:t>
            </a:r>
          </a:p>
          <a:p>
            <a:pPr algn="ctr"/>
            <a:r>
              <a:rPr sz="7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Any phone checks</a:t>
            </a:r>
          </a:p>
          <a:p>
            <a:pPr algn="ctr"/>
            <a:r>
              <a:rPr sz="7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Result</a:t>
            </a:r>
          </a:p>
          <a:p>
            <a:pPr algn="ctr"/>
            <a:r>
              <a:rPr sz="7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anchor="t" lIns="0" rIns="0" tIns="0" bIns="0">
            <a:spAutoFit/>
          </a:bodyPr>
          <a:lstStyle/>
          <a:p>
            <a:pPr algn="l"/>
            <a:r>
              <a:rPr sz="1150" b="1" i="0">
                <a:solidFill>
                  <a:srgbClr val="D9661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No network</a:t>
            </a:r>
          </a:p>
          <a:p>
            <a:pPr algn="ctr"/>
            <a:r>
              <a:rPr sz="7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Inspect</a:t>
            </a:r>
          </a:p>
          <a:p>
            <a:pPr algn="ctr"/>
            <a:r>
              <a:rPr sz="7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Save</a:t>
            </a:r>
          </a:p>
          <a:p>
            <a:pPr algn="ctr"/>
            <a:r>
              <a:rPr sz="7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Back online</a:t>
            </a:r>
          </a:p>
          <a:p>
            <a:pPr algn="ctr"/>
            <a:r>
              <a:rPr sz="7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Certificate</a:t>
            </a:r>
          </a:p>
          <a:p>
            <a:pPr algn="ctr"/>
            <a:r>
              <a:rPr sz="7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Owner told</a:t>
            </a:r>
          </a:p>
          <a:p>
            <a:pPr algn="ctr"/>
            <a:r>
              <a:rPr sz="7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anchor="t" lIns="0" rIns="0" tIns="0" bIns="0">
            <a:spAutoFit/>
          </a:bodyPr>
          <a:lstStyle/>
          <a:p>
            <a:pPr algn="l"/>
            <a:r>
              <a:rPr sz="1250" b="1" i="0">
                <a:solidFill>
                  <a:srgbClr val="1F3F6E"/>
                </a:solidFill>
                <a:latin typeface="Calibri"/>
              </a:rPr>
              <a:t>TECHNOLOGIES USED</a:t>
            </a:r>
          </a:p>
        </p:txBody>
      </p:sp>
      <p:sp>
        <p:nvSpPr>
          <p:cNvPr id="17459" name="Rounded Rectangle 17458"/>
          <p:cNvSpPr/>
          <p:nvPr/>
        </p:nvSpPr>
        <p:spPr>
          <a:xfrm>
            <a:off x="8183879" y="144475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React 19 · TypeScript · Vite · Tailwind</a:t>
            </a:r>
            <a:r>
              <a:rPr sz="800" b="0" i="0">
                <a:solidFill>
                  <a:srgbClr val="5B6573"/>
                </a:solidFill>
                <a:latin typeface="Calibri"/>
              </a:rPr>
              <a:t>  role-based, mobile-first UI</a:t>
            </a:r>
          </a:p>
        </p:txBody>
      </p:sp>
      <p:sp>
        <p:nvSpPr>
          <p:cNvPr id="17460" name="Rounded Rectangle 17459"/>
          <p:cNvSpPr/>
          <p:nvPr/>
        </p:nvSpPr>
        <p:spPr>
          <a:xfrm>
            <a:off x="8183879" y="181051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Service worker · local store · sync queue</a:t>
            </a:r>
            <a:r>
              <a:rPr sz="800" b="0" i="0">
                <a:solidFill>
                  <a:srgbClr val="5B6573"/>
                </a:solidFill>
                <a:latin typeface="Calibri"/>
              </a:rPr>
              <a:t>  offline work, auto sync</a:t>
            </a:r>
          </a:p>
        </p:txBody>
      </p:sp>
      <p:sp>
        <p:nvSpPr>
          <p:cNvPr id="17461" name="Rounded Rectangle 17460"/>
          <p:cNvSpPr/>
          <p:nvPr/>
        </p:nvSpPr>
        <p:spPr>
          <a:xfrm>
            <a:off x="8183879" y="217627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Supabase Postgres + RLS</a:t>
            </a:r>
            <a:r>
              <a:rPr sz="800" b="0" i="0">
                <a:solidFill>
                  <a:srgbClr val="5B6573"/>
                </a:solidFill>
                <a:latin typeface="Calibri"/>
              </a:rPr>
              <a:t>  live data, isolated per State</a:t>
            </a:r>
          </a:p>
        </p:txBody>
      </p:sp>
      <p:sp>
        <p:nvSpPr>
          <p:cNvPr id="17462" name="Rounded Rectangle 17461"/>
          <p:cNvSpPr/>
          <p:nvPr/>
        </p:nvSpPr>
        <p:spPr>
          <a:xfrm>
            <a:off x="8183879" y="254203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Supabase Auth · Realtime · RPC</a:t>
            </a:r>
            <a:r>
              <a:rPr sz="800" b="0" i="0">
                <a:solidFill>
                  <a:srgbClr val="5B6573"/>
                </a:solidFill>
                <a:latin typeface="Calibri"/>
              </a:rPr>
              <a:t>  real accounts, live screens</a:t>
            </a:r>
          </a:p>
        </p:txBody>
      </p:sp>
      <p:sp>
        <p:nvSpPr>
          <p:cNvPr id="17463" name="Rounded Rectangle 17462"/>
          <p:cNvSpPr/>
          <p:nvPr/>
        </p:nvSpPr>
        <p:spPr>
          <a:xfrm>
            <a:off x="8183879" y="290779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Vercel serverless functions</a:t>
            </a:r>
            <a:r>
              <a:rPr sz="800" b="0" i="0">
                <a:solidFill>
                  <a:srgbClr val="5B6573"/>
                </a:solidFill>
                <a:latin typeface="Calibri"/>
              </a:rPr>
              <a:t>  signing, AI, notifications</a:t>
            </a:r>
          </a:p>
        </p:txBody>
      </p:sp>
      <p:sp>
        <p:nvSpPr>
          <p:cNvPr id="17464" name="Rounded Rectangle 17463"/>
          <p:cNvSpPr/>
          <p:nvPr/>
        </p:nvSpPr>
        <p:spPr>
          <a:xfrm>
            <a:off x="8183879" y="327355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ECDSA P-256 · WebCrypto · jsQR</a:t>
            </a:r>
            <a:r>
              <a:rPr sz="800" b="0" i="0">
                <a:solidFill>
                  <a:srgbClr val="5B6573"/>
                </a:solidFill>
                <a:latin typeface="Calibri"/>
              </a:rPr>
              <a:t>  sign, verify, real QR scan</a:t>
            </a:r>
          </a:p>
        </p:txBody>
      </p:sp>
      <p:sp>
        <p:nvSpPr>
          <p:cNvPr id="17465" name="Rounded Rectangle 17464"/>
          <p:cNvSpPr/>
          <p:nvPr/>
        </p:nvSpPr>
        <p:spPr>
          <a:xfrm>
            <a:off x="8183879" y="3639312"/>
            <a:ext cx="3639312" cy="329184"/>
          </a:xfrm>
          <a:prstGeom prst="roundRect">
            <a:avLst>
              <a:gd name="adj" fmla="val 13888"/>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6B3FA0"/>
                </a:solidFill>
                <a:latin typeface="Calibri"/>
              </a:rPr>
              <a:t>Google Gemini (Flash)</a:t>
            </a:r>
            <a:r>
              <a:rPr sz="800" b="0" i="0">
                <a:solidFill>
                  <a:srgbClr val="5B6573"/>
                </a:solidFill>
                <a:latin typeface="Calibri"/>
              </a:rPr>
              <a:t>  document flags, help chat</a:t>
            </a:r>
          </a:p>
        </p:txBody>
      </p:sp>
      <p:sp>
        <p:nvSpPr>
          <p:cNvPr id="17466" name="Rounded Rectangle 17465"/>
          <p:cNvSpPr/>
          <p:nvPr/>
        </p:nvSpPr>
        <p:spPr>
          <a:xfrm>
            <a:off x="8183879" y="400507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Resend · Twilio</a:t>
            </a:r>
            <a:r>
              <a:rPr sz="800" b="0" i="0">
                <a:solidFill>
                  <a:srgbClr val="5B6573"/>
                </a:solidFill>
                <a:latin typeface="Calibri"/>
              </a:rPr>
              <a:t>  email and SMS updates</a:t>
            </a:r>
          </a:p>
        </p:txBody>
      </p:sp>
      <p:sp>
        <p:nvSpPr>
          <p:cNvPr id="17467" name="Rounded Rectangle 17466"/>
          <p:cNvSpPr/>
          <p:nvPr/>
        </p:nvSpPr>
        <p:spPr>
          <a:xfrm>
            <a:off x="8183879" y="4370832"/>
            <a:ext cx="3639312" cy="329184"/>
          </a:xfrm>
          <a:prstGeom prst="roundRect">
            <a:avLst>
              <a:gd name="adj" fmla="val 13888"/>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1" i="0">
                <a:solidFill>
                  <a:srgbClr val="1F3F6E"/>
                </a:solidFill>
                <a:latin typeface="Calibri"/>
              </a:rPr>
              <a:t>jsPDF · QR · CSV</a:t>
            </a:r>
            <a:r>
              <a:rPr sz="800" b="0" i="0">
                <a:solidFill>
                  <a:srgbClr val="5B6573"/>
                </a:solidFill>
                <a:latin typeface="Calibri"/>
              </a:rPr>
              <a:t>  certificate PDF, reports</a:t>
            </a:r>
          </a:p>
        </p:txBody>
      </p:sp>
      <p:sp>
        <p:nvSpPr>
          <p:cNvPr id="17468" name="TextBox 17467"/>
          <p:cNvSpPr txBox="1"/>
          <p:nvPr/>
        </p:nvSpPr>
        <p:spPr>
          <a:xfrm>
            <a:off x="8183879" y="4809744"/>
            <a:ext cx="3639312" cy="274320"/>
          </a:xfrm>
          <a:prstGeom prst="rect">
            <a:avLst/>
          </a:prstGeom>
          <a:noFill/>
        </p:spPr>
        <p:txBody>
          <a:bodyPr wrap="square" anchor="t" lIns="0" rIns="0" tIns="0" bIns="0">
            <a:spAutoFit/>
          </a:bodyPr>
          <a:lstStyle/>
          <a:p>
            <a:pPr algn="l"/>
            <a:r>
              <a:rPr sz="1250" b="1" i="0">
                <a:solidFill>
                  <a:srgbClr val="1F3F6E"/>
                </a:solidFill>
                <a:latin typeface="Calibri"/>
              </a:rPr>
              <a:t>IMPLEMENTATION PHASES</a:t>
            </a:r>
          </a:p>
        </p:txBody>
      </p:sp>
      <p:sp>
        <p:nvSpPr>
          <p:cNvPr id="17469" name="Oval 17468"/>
          <p:cNvSpPr/>
          <p:nvPr/>
        </p:nvSpPr>
        <p:spPr>
          <a:xfrm>
            <a:off x="8183879" y="5102352"/>
            <a:ext cx="219456" cy="219456"/>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850" b="1" i="0">
                <a:solidFill>
                  <a:srgbClr val="FFFFFF"/>
                </a:solidFill>
                <a:latin typeface="Calibri"/>
              </a:rPr>
              <a:t>1</a:t>
            </a:r>
          </a:p>
        </p:txBody>
      </p:sp>
      <p:sp>
        <p:nvSpPr>
          <p:cNvPr id="17470" name="TextBox 17469"/>
          <p:cNvSpPr txBox="1"/>
          <p:nvPr/>
        </p:nvSpPr>
        <p:spPr>
          <a:xfrm>
            <a:off x="8476488" y="5084064"/>
            <a:ext cx="3346704" cy="274320"/>
          </a:xfrm>
          <a:prstGeom prst="rect">
            <a:avLst/>
          </a:prstGeom>
          <a:noFill/>
        </p:spPr>
        <p:txBody>
          <a:bodyPr wrap="square" anchor="t" lIns="0" rIns="0" tIns="0" bIns="0">
            <a:spAutoFit/>
          </a:bodyPr>
          <a:lstStyle/>
          <a:p>
            <a:pPr algn="l"/>
            <a:r>
              <a:rPr sz="1000" b="0" i="0">
                <a:solidFill>
                  <a:srgbClr val="1F2937"/>
                </a:solidFill>
                <a:latin typeface="Calibri"/>
              </a:rPr>
              <a:t>Done: live prototype, 6 roles, full lifecycle</a:t>
            </a:r>
          </a:p>
        </p:txBody>
      </p:sp>
      <p:sp>
        <p:nvSpPr>
          <p:cNvPr id="17471" name="Oval 17470"/>
          <p:cNvSpPr/>
          <p:nvPr/>
        </p:nvSpPr>
        <p:spPr>
          <a:xfrm>
            <a:off x="8183879" y="5376672"/>
            <a:ext cx="219456" cy="219456"/>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850" b="1" i="0">
                <a:solidFill>
                  <a:srgbClr val="FFFFFF"/>
                </a:solidFill>
                <a:latin typeface="Calibri"/>
              </a:rPr>
              <a:t>2</a:t>
            </a:r>
          </a:p>
        </p:txBody>
      </p:sp>
      <p:sp>
        <p:nvSpPr>
          <p:cNvPr id="17472" name="TextBox 17471"/>
          <p:cNvSpPr txBox="1"/>
          <p:nvPr/>
        </p:nvSpPr>
        <p:spPr>
          <a:xfrm>
            <a:off x="8476488" y="5358384"/>
            <a:ext cx="3346704" cy="274320"/>
          </a:xfrm>
          <a:prstGeom prst="rect">
            <a:avLst/>
          </a:prstGeom>
          <a:noFill/>
        </p:spPr>
        <p:txBody>
          <a:bodyPr wrap="square" anchor="t" lIns="0" rIns="0" tIns="0" bIns="0">
            <a:spAutoFit/>
          </a:bodyPr>
          <a:lstStyle/>
          <a:p>
            <a:pPr algn="l"/>
            <a:r>
              <a:rPr sz="1000" b="0" i="0">
                <a:solidFill>
                  <a:srgbClr val="1F2937"/>
                </a:solidFill>
                <a:latin typeface="Calibri"/>
              </a:rPr>
              <a:t>Field trial with LMOs in one district</a:t>
            </a:r>
          </a:p>
        </p:txBody>
      </p:sp>
      <p:sp>
        <p:nvSpPr>
          <p:cNvPr id="17473" name="Oval 17472"/>
          <p:cNvSpPr/>
          <p:nvPr/>
        </p:nvSpPr>
        <p:spPr>
          <a:xfrm>
            <a:off x="8183879" y="5650992"/>
            <a:ext cx="219456" cy="21945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850" b="1" i="0">
                <a:solidFill>
                  <a:srgbClr val="FFFFFF"/>
                </a:solidFill>
                <a:latin typeface="Calibri"/>
              </a:rPr>
              <a:t>3</a:t>
            </a:r>
          </a:p>
        </p:txBody>
      </p:sp>
      <p:sp>
        <p:nvSpPr>
          <p:cNvPr id="17474" name="TextBox 17473"/>
          <p:cNvSpPr txBox="1"/>
          <p:nvPr/>
        </p:nvSpPr>
        <p:spPr>
          <a:xfrm>
            <a:off x="8476488" y="5632704"/>
            <a:ext cx="3346704" cy="274320"/>
          </a:xfrm>
          <a:prstGeom prst="rect">
            <a:avLst/>
          </a:prstGeom>
          <a:noFill/>
        </p:spPr>
        <p:txBody>
          <a:bodyPr wrap="square" anchor="t" lIns="0" rIns="0" tIns="0" bIns="0">
            <a:spAutoFit/>
          </a:bodyPr>
          <a:lstStyle/>
          <a:p>
            <a:pPr algn="l"/>
            <a:r>
              <a:rPr sz="1000" b="0" i="0">
                <a:solidFill>
                  <a:srgbClr val="1F2937"/>
                </a:solidFill>
                <a:latin typeface="Calibri"/>
              </a:rPr>
              <a:t>NIC SMS, treasury payment, e-Pramaan</a:t>
            </a:r>
          </a:p>
        </p:txBody>
      </p:sp>
      <p:sp>
        <p:nvSpPr>
          <p:cNvPr id="17475" name="Oval 17474"/>
          <p:cNvSpPr/>
          <p:nvPr/>
        </p:nvSpPr>
        <p:spPr>
          <a:xfrm>
            <a:off x="8183879" y="5925312"/>
            <a:ext cx="219456" cy="219456"/>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850" b="1" i="0">
                <a:solidFill>
                  <a:srgbClr val="FFFFFF"/>
                </a:solidFill>
                <a:latin typeface="Calibri"/>
              </a:rPr>
              <a:t>4</a:t>
            </a:r>
          </a:p>
        </p:txBody>
      </p:sp>
      <p:sp>
        <p:nvSpPr>
          <p:cNvPr id="17476" name="TextBox 17475"/>
          <p:cNvSpPr txBox="1"/>
          <p:nvPr/>
        </p:nvSpPr>
        <p:spPr>
          <a:xfrm>
            <a:off x="8476488" y="5907024"/>
            <a:ext cx="3346704" cy="274320"/>
          </a:xfrm>
          <a:prstGeom prst="rect">
            <a:avLst/>
          </a:prstGeom>
          <a:noFill/>
        </p:spPr>
        <p:txBody>
          <a:bodyPr wrap="square" anchor="t" lIns="0" rIns="0" tIns="0" bIns="0">
            <a:spAutoFit/>
          </a:bodyPr>
          <a:lstStyle/>
          <a:p>
            <a:pPr algn="l"/>
            <a:r>
              <a:rPr sz="1000" b="0" i="0">
                <a:solidFill>
                  <a:srgbClr val="1F2937"/>
                </a:solidFill>
                <a:latin typeface="Calibri"/>
              </a:rPr>
              <a:t>State rollout on State cloud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anchor="t" lIns="0" rIns="0" tIns="0" bIns="0">
            <a:spAutoFit/>
          </a:bodyPr>
          <a:lstStyle/>
          <a:p>
            <a:pPr algn="l"/>
            <a:r>
              <a:rPr sz="125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88036"/>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PS requirement</a:t>
            </a:r>
          </a:p>
        </p:txBody>
      </p:sp>
      <p:sp>
        <p:nvSpPr>
          <p:cNvPr id="17412" name="Rectangle 17411"/>
          <p:cNvSpPr/>
          <p:nvPr/>
        </p:nvSpPr>
        <p:spPr>
          <a:xfrm>
            <a:off x="2971800" y="1444752"/>
            <a:ext cx="2331720" cy="288036"/>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Live today</a:t>
            </a:r>
          </a:p>
        </p:txBody>
      </p:sp>
      <p:sp>
        <p:nvSpPr>
          <p:cNvPr id="17413" name="Rectangle 17412"/>
          <p:cNvSpPr/>
          <p:nvPr/>
        </p:nvSpPr>
        <p:spPr>
          <a:xfrm>
            <a:off x="5303520" y="1444752"/>
            <a:ext cx="2011680" cy="288036"/>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Next</a:t>
            </a:r>
          </a:p>
        </p:txBody>
      </p:sp>
      <p:sp>
        <p:nvSpPr>
          <p:cNvPr id="17414" name="Rectangle 17413"/>
          <p:cNvSpPr/>
          <p:nvPr/>
        </p:nvSpPr>
        <p:spPr>
          <a:xfrm>
            <a:off x="365760" y="1732788"/>
            <a:ext cx="260604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Registration, profiles, secure login</a:t>
            </a:r>
          </a:p>
        </p:txBody>
      </p:sp>
      <p:sp>
        <p:nvSpPr>
          <p:cNvPr id="17415" name="Rectangle 17414"/>
          <p:cNvSpPr/>
          <p:nvPr/>
        </p:nvSpPr>
        <p:spPr>
          <a:xfrm>
            <a:off x="2971800" y="1732788"/>
            <a:ext cx="233172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real accounts, 6 roles</a:t>
            </a:r>
          </a:p>
        </p:txBody>
      </p:sp>
      <p:sp>
        <p:nvSpPr>
          <p:cNvPr id="17416" name="Rectangle 17415"/>
          <p:cNvSpPr/>
          <p:nvPr/>
        </p:nvSpPr>
        <p:spPr>
          <a:xfrm>
            <a:off x="5303520" y="1732788"/>
            <a:ext cx="201168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e-Pramaan, phone OTP</a:t>
            </a:r>
          </a:p>
        </p:txBody>
      </p:sp>
      <p:sp>
        <p:nvSpPr>
          <p:cNvPr id="17417" name="Rectangle 17416"/>
          <p:cNvSpPr/>
          <p:nvPr/>
        </p:nvSpPr>
        <p:spPr>
          <a:xfrm>
            <a:off x="365760" y="2020824"/>
            <a:ext cx="260604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Apply for (re-)verification</a:t>
            </a:r>
          </a:p>
        </p:txBody>
      </p:sp>
      <p:sp>
        <p:nvSpPr>
          <p:cNvPr id="17418" name="Rectangle 17417"/>
          <p:cNvSpPr/>
          <p:nvPr/>
        </p:nvSpPr>
        <p:spPr>
          <a:xfrm>
            <a:off x="2971800" y="2020824"/>
            <a:ext cx="233172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own instruments, docs, fee</a:t>
            </a:r>
          </a:p>
        </p:txBody>
      </p:sp>
      <p:sp>
        <p:nvSpPr>
          <p:cNvPr id="17419" name="Rectangle 17418"/>
          <p:cNvSpPr/>
          <p:nvPr/>
        </p:nvSpPr>
        <p:spPr>
          <a:xfrm>
            <a:off x="5303520" y="2020824"/>
            <a:ext cx="201168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treasury payment</a:t>
            </a:r>
          </a:p>
        </p:txBody>
      </p:sp>
      <p:sp>
        <p:nvSpPr>
          <p:cNvPr id="17420" name="Rectangle 17419"/>
          <p:cNvSpPr/>
          <p:nvPr/>
        </p:nvSpPr>
        <p:spPr>
          <a:xfrm>
            <a:off x="365760" y="2308860"/>
            <a:ext cx="260604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Scheduling, allocation LMO / GATC</a:t>
            </a:r>
          </a:p>
        </p:txBody>
      </p:sp>
      <p:sp>
        <p:nvSpPr>
          <p:cNvPr id="17421" name="Rectangle 17420"/>
          <p:cNvSpPr/>
          <p:nvPr/>
        </p:nvSpPr>
        <p:spPr>
          <a:xfrm>
            <a:off x="2971800" y="2308860"/>
            <a:ext cx="233172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district + workload</a:t>
            </a:r>
          </a:p>
        </p:txBody>
      </p:sp>
      <p:sp>
        <p:nvSpPr>
          <p:cNvPr id="17422" name="Rectangle 17421"/>
          <p:cNvSpPr/>
          <p:nvPr/>
        </p:nvSpPr>
        <p:spPr>
          <a:xfrm>
            <a:off x="5303520" y="2308860"/>
            <a:ext cx="201168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officer calendars</a:t>
            </a:r>
          </a:p>
        </p:txBody>
      </p:sp>
      <p:sp>
        <p:nvSpPr>
          <p:cNvPr id="17423" name="Rectangle 17422"/>
          <p:cNvSpPr/>
          <p:nvPr/>
        </p:nvSpPr>
        <p:spPr>
          <a:xfrm>
            <a:off x="365760" y="2596896"/>
            <a:ext cx="260604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Inspection results recorded</a:t>
            </a:r>
          </a:p>
        </p:txBody>
      </p:sp>
      <p:sp>
        <p:nvSpPr>
          <p:cNvPr id="17424" name="Rectangle 17423"/>
          <p:cNvSpPr/>
          <p:nvPr/>
        </p:nvSpPr>
        <p:spPr>
          <a:xfrm>
            <a:off x="2971800" y="2596896"/>
            <a:ext cx="233172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MPE computed, photos, GPS</a:t>
            </a:r>
          </a:p>
        </p:txBody>
      </p:sp>
      <p:sp>
        <p:nvSpPr>
          <p:cNvPr id="17425" name="Rectangle 17424"/>
          <p:cNvSpPr/>
          <p:nvPr/>
        </p:nvSpPr>
        <p:spPr>
          <a:xfrm>
            <a:off x="5303520" y="2596896"/>
            <a:ext cx="201168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cloud photo storage</a:t>
            </a:r>
          </a:p>
        </p:txBody>
      </p:sp>
      <p:sp>
        <p:nvSpPr>
          <p:cNvPr id="17426" name="Rectangle 17425"/>
          <p:cNvSpPr/>
          <p:nvPr/>
        </p:nvSpPr>
        <p:spPr>
          <a:xfrm>
            <a:off x="365760" y="2884932"/>
            <a:ext cx="260604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QR certificate + authentication</a:t>
            </a:r>
          </a:p>
        </p:txBody>
      </p:sp>
      <p:sp>
        <p:nvSpPr>
          <p:cNvPr id="17427" name="Rectangle 17426"/>
          <p:cNvSpPr/>
          <p:nvPr/>
        </p:nvSpPr>
        <p:spPr>
          <a:xfrm>
            <a:off x="2971800" y="2884932"/>
            <a:ext cx="233172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signed QR, revocation</a:t>
            </a:r>
          </a:p>
        </p:txBody>
      </p:sp>
      <p:sp>
        <p:nvSpPr>
          <p:cNvPr id="17428" name="Rectangle 17427"/>
          <p:cNvSpPr/>
          <p:nvPr/>
        </p:nvSpPr>
        <p:spPr>
          <a:xfrm>
            <a:off x="5303520" y="2884932"/>
            <a:ext cx="201168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HSM-held key</a:t>
            </a:r>
          </a:p>
        </p:txBody>
      </p:sp>
      <p:sp>
        <p:nvSpPr>
          <p:cNvPr id="17429" name="Rectangle 17428"/>
          <p:cNvSpPr/>
          <p:nvPr/>
        </p:nvSpPr>
        <p:spPr>
          <a:xfrm>
            <a:off x="365760" y="3172968"/>
            <a:ext cx="260604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Validity tracking, alerts</a:t>
            </a:r>
          </a:p>
        </p:txBody>
      </p:sp>
      <p:sp>
        <p:nvSpPr>
          <p:cNvPr id="17430" name="Rectangle 17429"/>
          <p:cNvSpPr/>
          <p:nvPr/>
        </p:nvSpPr>
        <p:spPr>
          <a:xfrm>
            <a:off x="2971800" y="3172968"/>
            <a:ext cx="233172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30/15/7/1-day reminders</a:t>
            </a:r>
          </a:p>
        </p:txBody>
      </p:sp>
      <p:sp>
        <p:nvSpPr>
          <p:cNvPr id="17431" name="Rectangle 17430"/>
          <p:cNvSpPr/>
          <p:nvPr/>
        </p:nvSpPr>
        <p:spPr>
          <a:xfrm>
            <a:off x="5303520" y="3172968"/>
            <a:ext cx="201168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nightly server job</a:t>
            </a:r>
          </a:p>
        </p:txBody>
      </p:sp>
      <p:sp>
        <p:nvSpPr>
          <p:cNvPr id="17432" name="Rectangle 17431"/>
          <p:cNvSpPr/>
          <p:nvPr/>
        </p:nvSpPr>
        <p:spPr>
          <a:xfrm>
            <a:off x="365760" y="3461004"/>
            <a:ext cx="260604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SMS / email updates</a:t>
            </a:r>
          </a:p>
        </p:txBody>
      </p:sp>
      <p:sp>
        <p:nvSpPr>
          <p:cNvPr id="17433" name="Rectangle 17432"/>
          <p:cNvSpPr/>
          <p:nvPr/>
        </p:nvSpPr>
        <p:spPr>
          <a:xfrm>
            <a:off x="2971800" y="3461004"/>
            <a:ext cx="233172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D9661F"/>
                </a:solidFill>
                <a:latin typeface="Calibri"/>
              </a:rPr>
              <a:t>◐ email + SMS wired, keys pending</a:t>
            </a:r>
          </a:p>
        </p:txBody>
      </p:sp>
      <p:sp>
        <p:nvSpPr>
          <p:cNvPr id="17434" name="Rectangle 17433"/>
          <p:cNvSpPr/>
          <p:nvPr/>
        </p:nvSpPr>
        <p:spPr>
          <a:xfrm>
            <a:off x="5303520" y="3461004"/>
            <a:ext cx="201168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NIC SMS gateway</a:t>
            </a:r>
          </a:p>
        </p:txBody>
      </p:sp>
      <p:sp>
        <p:nvSpPr>
          <p:cNvPr id="17435" name="Rectangle 17434"/>
          <p:cNvSpPr/>
          <p:nvPr/>
        </p:nvSpPr>
        <p:spPr>
          <a:xfrm>
            <a:off x="365760" y="3749039"/>
            <a:ext cx="260604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Dashboards: pending, inspections</a:t>
            </a:r>
          </a:p>
        </p:txBody>
      </p:sp>
      <p:sp>
        <p:nvSpPr>
          <p:cNvPr id="17436" name="Rectangle 17435"/>
          <p:cNvSpPr/>
          <p:nvPr/>
        </p:nvSpPr>
        <p:spPr>
          <a:xfrm>
            <a:off x="2971800" y="3749039"/>
            <a:ext cx="233172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stage, ageing, district</a:t>
            </a:r>
          </a:p>
        </p:txBody>
      </p:sp>
      <p:sp>
        <p:nvSpPr>
          <p:cNvPr id="17437" name="Rectangle 17436"/>
          <p:cNvSpPr/>
          <p:nvPr/>
        </p:nvSpPr>
        <p:spPr>
          <a:xfrm>
            <a:off x="5303520" y="3749039"/>
            <a:ext cx="201168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state-wide wallboard</a:t>
            </a:r>
          </a:p>
        </p:txBody>
      </p:sp>
      <p:sp>
        <p:nvSpPr>
          <p:cNvPr id="17438" name="Rectangle 17437"/>
          <p:cNvSpPr/>
          <p:nvPr/>
        </p:nvSpPr>
        <p:spPr>
          <a:xfrm>
            <a:off x="365760" y="4037076"/>
            <a:ext cx="260604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Search, export, print</a:t>
            </a:r>
          </a:p>
        </p:txBody>
      </p:sp>
      <p:sp>
        <p:nvSpPr>
          <p:cNvPr id="17439" name="Rectangle 17438"/>
          <p:cNvSpPr/>
          <p:nvPr/>
        </p:nvSpPr>
        <p:spPr>
          <a:xfrm>
            <a:off x="2971800" y="4037076"/>
            <a:ext cx="233172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search, PDF, CSV</a:t>
            </a:r>
          </a:p>
        </p:txBody>
      </p:sp>
      <p:sp>
        <p:nvSpPr>
          <p:cNvPr id="17440" name="Rectangle 17439"/>
          <p:cNvSpPr/>
          <p:nvPr/>
        </p:nvSpPr>
        <p:spPr>
          <a:xfrm>
            <a:off x="5303520" y="4037076"/>
            <a:ext cx="2011680" cy="288036"/>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bulk audit export</a:t>
            </a:r>
          </a:p>
        </p:txBody>
      </p:sp>
      <p:sp>
        <p:nvSpPr>
          <p:cNvPr id="17441" name="Rectangle 17440"/>
          <p:cNvSpPr/>
          <p:nvPr/>
        </p:nvSpPr>
        <p:spPr>
          <a:xfrm>
            <a:off x="365760" y="4325112"/>
            <a:ext cx="260604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Mobile app for field officers</a:t>
            </a:r>
          </a:p>
        </p:txBody>
      </p:sp>
      <p:sp>
        <p:nvSpPr>
          <p:cNvPr id="17442" name="Rectangle 17441"/>
          <p:cNvSpPr/>
          <p:nvPr/>
        </p:nvSpPr>
        <p:spPr>
          <a:xfrm>
            <a:off x="2971800" y="4325112"/>
            <a:ext cx="233172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installable, offline</a:t>
            </a:r>
          </a:p>
        </p:txBody>
      </p:sp>
      <p:sp>
        <p:nvSpPr>
          <p:cNvPr id="17443" name="Rectangle 17442"/>
          <p:cNvSpPr/>
          <p:nvPr/>
        </p:nvSpPr>
        <p:spPr>
          <a:xfrm>
            <a:off x="5303520" y="4325112"/>
            <a:ext cx="2011680" cy="2880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Android package</a:t>
            </a:r>
          </a:p>
        </p:txBody>
      </p:sp>
      <p:sp>
        <p:nvSpPr>
          <p:cNvPr id="17444" name="TextBox 17443"/>
          <p:cNvSpPr txBox="1"/>
          <p:nvPr/>
        </p:nvSpPr>
        <p:spPr>
          <a:xfrm>
            <a:off x="365760" y="4663440"/>
            <a:ext cx="6949440" cy="274320"/>
          </a:xfrm>
          <a:prstGeom prst="rect">
            <a:avLst/>
          </a:prstGeom>
          <a:noFill/>
        </p:spPr>
        <p:txBody>
          <a:bodyPr wrap="square" anchor="t" lIns="0" rIns="0" tIns="0" bIns="0">
            <a:spAutoFit/>
          </a:bodyPr>
          <a:lstStyle/>
          <a:p>
            <a:pPr algn="l"/>
            <a:r>
              <a:rPr sz="1150" b="1" i="0">
                <a:solidFill>
                  <a:srgbClr val="D9661F"/>
                </a:solidFill>
                <a:latin typeface="Calibri"/>
              </a:rPr>
              <a:t>TESTING WITH REAL LEGAL METROLOGY OFFICERS (before final build)</a:t>
            </a:r>
          </a:p>
        </p:txBody>
      </p:sp>
      <p:sp>
        <p:nvSpPr>
          <p:cNvPr id="17445" name="Rounded Rectangle 17444"/>
          <p:cNvSpPr/>
          <p:nvPr/>
        </p:nvSpPr>
        <p:spPr>
          <a:xfrm>
            <a:off x="365760" y="4937760"/>
            <a:ext cx="1655063" cy="822960"/>
          </a:xfrm>
          <a:prstGeom prst="roundRect">
            <a:avLst>
              <a:gd name="adj" fmla="val 6666"/>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27432" bIns="27432"/>
          <a:lstStyle/>
          <a:p>
            <a:pPr algn="l"/>
            <a:r>
              <a:rPr sz="1050" b="1" i="0">
                <a:solidFill>
                  <a:srgbClr val="D9661F"/>
                </a:solidFill>
                <a:latin typeface="Calibri"/>
              </a:rPr>
              <a:t>Who</a:t>
            </a:r>
          </a:p>
          <a:p>
            <a:pPr algn="l"/>
            <a:r>
              <a:rPr sz="900" b="0" i="0">
                <a:solidFill>
                  <a:srgbClr val="1F2937"/>
                </a:solidFill>
                <a:latin typeface="Calibri"/>
              </a:rPr>
              <a:t>5 LMOs + 1 GATC, one district</a:t>
            </a:r>
          </a:p>
        </p:txBody>
      </p:sp>
      <p:sp>
        <p:nvSpPr>
          <p:cNvPr id="17446" name="Rounded Rectangle 17445"/>
          <p:cNvSpPr/>
          <p:nvPr/>
        </p:nvSpPr>
        <p:spPr>
          <a:xfrm>
            <a:off x="2130551" y="4937760"/>
            <a:ext cx="1655063" cy="822960"/>
          </a:xfrm>
          <a:prstGeom prst="roundRect">
            <a:avLst>
              <a:gd name="adj" fmla="val 6666"/>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27432" bIns="27432"/>
          <a:lstStyle/>
          <a:p>
            <a:pPr algn="l"/>
            <a:r>
              <a:rPr sz="1050" b="1" i="0">
                <a:solidFill>
                  <a:srgbClr val="D9661F"/>
                </a:solidFill>
                <a:latin typeface="Calibri"/>
              </a:rPr>
              <a:t>What</a:t>
            </a:r>
          </a:p>
          <a:p>
            <a:pPr algn="l"/>
            <a:r>
              <a:rPr sz="900" b="0" i="0">
                <a:solidFill>
                  <a:srgbClr val="1F2937"/>
                </a:solidFill>
                <a:latin typeface="Calibri"/>
              </a:rPr>
              <a:t>10 real inspections each, on their phones</a:t>
            </a:r>
          </a:p>
        </p:txBody>
      </p:sp>
      <p:sp>
        <p:nvSpPr>
          <p:cNvPr id="17447" name="Rounded Rectangle 17446"/>
          <p:cNvSpPr/>
          <p:nvPr/>
        </p:nvSpPr>
        <p:spPr>
          <a:xfrm>
            <a:off x="3895344" y="4937760"/>
            <a:ext cx="1655063" cy="822960"/>
          </a:xfrm>
          <a:prstGeom prst="roundRect">
            <a:avLst>
              <a:gd name="adj" fmla="val 6666"/>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27432" bIns="27432"/>
          <a:lstStyle/>
          <a:p>
            <a:pPr algn="l"/>
            <a:r>
              <a:rPr sz="1050" b="1" i="0">
                <a:solidFill>
                  <a:srgbClr val="D9661F"/>
                </a:solidFill>
                <a:latin typeface="Calibri"/>
              </a:rPr>
              <a:t>Measure</a:t>
            </a:r>
          </a:p>
          <a:p>
            <a:pPr algn="l"/>
            <a:r>
              <a:rPr sz="900" b="0" i="0">
                <a:solidFill>
                  <a:srgbClr val="1F2937"/>
                </a:solidFill>
                <a:latin typeface="Calibri"/>
              </a:rPr>
              <a:t>minutes per inspection, errors, usability score (SUS)</a:t>
            </a:r>
          </a:p>
        </p:txBody>
      </p:sp>
      <p:sp>
        <p:nvSpPr>
          <p:cNvPr id="17448" name="Rounded Rectangle 17447"/>
          <p:cNvSpPr/>
          <p:nvPr/>
        </p:nvSpPr>
        <p:spPr>
          <a:xfrm>
            <a:off x="5660136" y="4937760"/>
            <a:ext cx="1655063" cy="822960"/>
          </a:xfrm>
          <a:prstGeom prst="roundRect">
            <a:avLst>
              <a:gd name="adj" fmla="val 6666"/>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27432" bIns="27432"/>
          <a:lstStyle/>
          <a:p>
            <a:pPr algn="l"/>
            <a:r>
              <a:rPr sz="1050" b="1" i="0">
                <a:solidFill>
                  <a:srgbClr val="D9661F"/>
                </a:solidFill>
                <a:latin typeface="Calibri"/>
              </a:rPr>
              <a:t>Pass mark</a:t>
            </a:r>
          </a:p>
          <a:p>
            <a:pPr algn="l"/>
            <a:r>
              <a:rPr sz="900" b="0" i="0">
                <a:solidFill>
                  <a:srgbClr val="1F2937"/>
                </a:solidFill>
                <a:latin typeface="Calibri"/>
              </a:rPr>
              <a:t>SUS ≥ 70, no data-entry blockers</a:t>
            </a:r>
          </a:p>
        </p:txBody>
      </p:sp>
      <p:sp>
        <p:nvSpPr>
          <p:cNvPr id="17449" name="TextBox 17448"/>
          <p:cNvSpPr txBox="1"/>
          <p:nvPr/>
        </p:nvSpPr>
        <p:spPr>
          <a:xfrm>
            <a:off x="365760" y="5833872"/>
            <a:ext cx="6949440" cy="365760"/>
          </a:xfrm>
          <a:prstGeom prst="rect">
            <a:avLst/>
          </a:prstGeom>
          <a:noFill/>
        </p:spPr>
        <p:txBody>
          <a:bodyPr wrap="square" anchor="t" lIns="0" rIns="0" tIns="0" bIns="0">
            <a:spAutoFit/>
          </a:bodyPr>
          <a:lstStyle/>
          <a:p>
            <a:pPr algn="l"/>
            <a:r>
              <a:rPr sz="950" b="1" i="0">
                <a:solidFill>
                  <a:srgbClr val="1E7B4A"/>
                </a:solidFill>
                <a:latin typeface="Calibri"/>
              </a:rPr>
              <a:t>Feasible now: </a:t>
            </a:r>
            <a:r>
              <a:rPr sz="950" b="0" i="0">
                <a:solidFill>
                  <a:srgbClr val="1F2937"/>
                </a:solidFill>
                <a:latin typeface="Calibri"/>
              </a:rPr>
              <a:t>open-source stack, free tiers cover a district pilot, mirrors today's LMO / GATC process, follows the LM Act 2009 and GATC Rules 2013.</a:t>
            </a:r>
          </a:p>
        </p:txBody>
      </p:sp>
      <p:sp>
        <p:nvSpPr>
          <p:cNvPr id="17450" name="TextBox 17449"/>
          <p:cNvSpPr txBox="1"/>
          <p:nvPr/>
        </p:nvSpPr>
        <p:spPr>
          <a:xfrm>
            <a:off x="7543800" y="1170432"/>
            <a:ext cx="4279392" cy="274320"/>
          </a:xfrm>
          <a:prstGeom prst="rect">
            <a:avLst/>
          </a:prstGeom>
          <a:noFill/>
        </p:spPr>
        <p:txBody>
          <a:bodyPr wrap="square" anchor="t" lIns="0" rIns="0" tIns="0" bIns="0">
            <a:spAutoFit/>
          </a:bodyPr>
          <a:lstStyle/>
          <a:p>
            <a:pPr algn="l"/>
            <a:r>
              <a:rPr sz="1250" b="1" i="0">
                <a:solidFill>
                  <a:srgbClr val="1F3F6E"/>
                </a:solidFill>
                <a:latin typeface="Calibri"/>
              </a:rPr>
              <a:t>POTENTIAL CHALLENGES AND RISKS  →  STRATEGIES</a:t>
            </a:r>
          </a:p>
        </p:txBody>
      </p:sp>
      <p:sp>
        <p:nvSpPr>
          <p:cNvPr id="17451" name="Rectangle 17450"/>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No network at site</a:t>
            </a:r>
          </a:p>
        </p:txBody>
      </p:sp>
      <p:sp>
        <p:nvSpPr>
          <p:cNvPr id="17452" name="Rectangle 17451"/>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Offline app; syncs, signs and notifies later</a:t>
            </a:r>
          </a:p>
        </p:txBody>
      </p:sp>
      <p:sp>
        <p:nvSpPr>
          <p:cNvPr id="17453" name="Rectangle 17452"/>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Fake / copied QR</a:t>
            </a:r>
          </a:p>
        </p:txBody>
      </p:sp>
      <p:sp>
        <p:nvSpPr>
          <p:cNvPr id="17454" name="Rectangle 17453"/>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Signed QR + revocation list; serial shown on scan</a:t>
            </a:r>
          </a:p>
        </p:txBody>
      </p:sp>
      <p:sp>
        <p:nvSpPr>
          <p:cNvPr id="17455" name="Rectangle 17454"/>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Rules differ by State</a:t>
            </a:r>
          </a:p>
        </p:txBody>
      </p:sp>
      <p:sp>
        <p:nvSpPr>
          <p:cNvPr id="17456" name="Rectangle 17455"/>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Fees and validity are data per State</a:t>
            </a:r>
          </a:p>
        </p:txBody>
      </p:sp>
      <p:sp>
        <p:nvSpPr>
          <p:cNvPr id="17457" name="Rectangle 17456"/>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Data privacy (DPDP 2023)</a:t>
            </a:r>
          </a:p>
        </p:txBody>
      </p:sp>
      <p:sp>
        <p:nvSpPr>
          <p:cNvPr id="17458" name="Rectangle 17457"/>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Row-level security, minimal public fields</a:t>
            </a:r>
          </a:p>
        </p:txBody>
      </p:sp>
      <p:sp>
        <p:nvSpPr>
          <p:cNvPr id="17459" name="Rectangle 17458"/>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AI mistakes</a:t>
            </a:r>
          </a:p>
        </p:txBody>
      </p:sp>
      <p:sp>
        <p:nvSpPr>
          <p:cNvPr id="17460" name="Rectangle 17459"/>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Advisory only; officer decides; logged</a:t>
            </a:r>
          </a:p>
        </p:txBody>
      </p:sp>
      <p:sp>
        <p:nvSpPr>
          <p:cNvPr id="17461" name="Rectangle 17460"/>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Officer adoption</a:t>
            </a:r>
          </a:p>
        </p:txBody>
      </p:sp>
      <p:sp>
        <p:nvSpPr>
          <p:cNvPr id="17462" name="Rectangle 17461"/>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Field trial first, few-tap phone flow</a:t>
            </a:r>
          </a:p>
        </p:txBody>
      </p:sp>
      <p:sp>
        <p:nvSpPr>
          <p:cNvPr id="17463" name="Rounded Rectangle 17462"/>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64" name="Picture 17463" descr="image.png"/>
          <p:cNvPicPr>
            <a:picLocks noChangeAspect="1"/>
          </p:cNvPicPr>
          <p:nvPr/>
        </p:nvPicPr>
        <p:blipFill>
          <a:blip r:embed="rId4"/>
          <a:stretch>
            <a:fillRect/>
          </a:stretch>
        </p:blipFill>
        <p:spPr>
          <a:xfrm>
            <a:off x="7653527" y="4270248"/>
            <a:ext cx="1325880" cy="1325880"/>
          </a:xfrm>
          <a:prstGeom prst="rect">
            <a:avLst/>
          </a:prstGeom>
        </p:spPr>
      </p:pic>
      <p:sp>
        <p:nvSpPr>
          <p:cNvPr id="17465" name="TextBox 17464"/>
          <p:cNvSpPr txBox="1"/>
          <p:nvPr/>
        </p:nvSpPr>
        <p:spPr>
          <a:xfrm>
            <a:off x="9098280" y="4270248"/>
            <a:ext cx="2633472" cy="1874519"/>
          </a:xfrm>
          <a:prstGeom prst="rect">
            <a:avLst/>
          </a:prstGeom>
          <a:noFill/>
        </p:spPr>
        <p:txBody>
          <a:bodyPr wrap="square" anchor="t" lIns="0" rIns="0" tIns="0" bIns="0">
            <a:spAutoFit/>
          </a:bodyPr>
          <a:lstStyle/>
          <a:p>
            <a:pPr algn="l">
              <a:spcAft>
                <a:spcPts val="300"/>
              </a:spcAft>
            </a:pPr>
            <a:r>
              <a:rPr sz="1300" b="1" i="0">
                <a:solidFill>
                  <a:srgbClr val="1F3F6E"/>
                </a:solidFill>
                <a:latin typeface="Calibri"/>
              </a:rPr>
              <a:t>Complete live demo</a:t>
            </a:r>
          </a:p>
          <a:p>
            <a:pPr algn="l">
              <a:spcAft>
                <a:spcPts val="300"/>
              </a:spcAft>
            </a:pPr>
            <a:r>
              <a:rPr sz="9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950" b="1" i="0">
                <a:solidFill>
                  <a:srgbClr val="1F2937"/>
                </a:solidFill>
                <a:latin typeface="Calibri"/>
              </a:rPr>
              <a:t>Evaluator password: TulaDemo@2026</a:t>
            </a:r>
          </a:p>
          <a:p>
            <a:pPr algn="l">
              <a:spcAft>
                <a:spcPts val="300"/>
              </a:spcAft>
            </a:pPr>
            <a:r>
              <a:rPr sz="1000" b="1" i="0">
                <a:solidFill>
                  <a:srgbClr val="0070C0"/>
                </a:solidFill>
                <a:latin typeface="Calibri"/>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2" name="TextBox 17411"/>
          <p:cNvSpPr txBox="1"/>
          <p:nvPr/>
        </p:nvSpPr>
        <p:spPr>
          <a:xfrm>
            <a:off x="502920" y="1517904"/>
            <a:ext cx="1904238" cy="320040"/>
          </a:xfrm>
          <a:prstGeom prst="rect">
            <a:avLst/>
          </a:prstGeom>
          <a:noFill/>
        </p:spPr>
        <p:txBody>
          <a:bodyPr wrap="square" anchor="t" lIns="0" rIns="0" tIns="0" bIns="0">
            <a:spAutoFit/>
          </a:bodyPr>
          <a:lstStyle/>
          <a:p>
            <a:pPr algn="l"/>
            <a:r>
              <a:rPr sz="130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Jobs on the phone, even offline</a:t>
            </a:r>
          </a:p>
          <a:p>
            <a:pPr algn="l">
              <a:spcAft>
                <a:spcPts val="200"/>
              </a:spcAft>
            </a:pPr>
            <a:r>
              <a:rPr sz="1000" b="0" i="0">
                <a:solidFill>
                  <a:srgbClr val="1F2937"/>
                </a:solidFill>
                <a:latin typeface="Calibri"/>
              </a:rPr>
              <a:t>•  Pass / fail calculated for them</a:t>
            </a:r>
          </a:p>
          <a:p>
            <a:pPr algn="l">
              <a:spcAft>
                <a:spcPts val="200"/>
              </a:spcAft>
            </a:pPr>
            <a:r>
              <a:rPr sz="10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7" name="TextBox 17416"/>
          <p:cNvSpPr txBox="1"/>
          <p:nvPr/>
        </p:nvSpPr>
        <p:spPr>
          <a:xfrm>
            <a:off x="3412998" y="1517904"/>
            <a:ext cx="1904238" cy="320040"/>
          </a:xfrm>
          <a:prstGeom prst="rect">
            <a:avLst/>
          </a:prstGeom>
          <a:noFill/>
        </p:spPr>
        <p:txBody>
          <a:bodyPr wrap="square" anchor="t" lIns="0" rIns="0" tIns="0" bIns="0">
            <a:spAutoFit/>
          </a:bodyPr>
          <a:lstStyle/>
          <a:p>
            <a:pPr algn="l"/>
            <a:r>
              <a:rPr sz="130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Apply and pay without a visit</a:t>
            </a:r>
          </a:p>
          <a:p>
            <a:pPr algn="l">
              <a:spcAft>
                <a:spcPts val="200"/>
              </a:spcAft>
            </a:pPr>
            <a:r>
              <a:rPr sz="1000" b="0" i="0">
                <a:solidFill>
                  <a:srgbClr val="1F2937"/>
                </a:solidFill>
                <a:latin typeface="Calibri"/>
              </a:rPr>
              <a:t>•  SMS / email at every step</a:t>
            </a:r>
          </a:p>
          <a:p>
            <a:pPr algn="l">
              <a:spcAft>
                <a:spcPts val="200"/>
              </a:spcAft>
            </a:pPr>
            <a:r>
              <a:rPr sz="10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2" name="TextBox 17421"/>
          <p:cNvSpPr txBox="1"/>
          <p:nvPr/>
        </p:nvSpPr>
        <p:spPr>
          <a:xfrm>
            <a:off x="6323076" y="1517904"/>
            <a:ext cx="1904238" cy="320040"/>
          </a:xfrm>
          <a:prstGeom prst="rect">
            <a:avLst/>
          </a:prstGeom>
          <a:noFill/>
        </p:spPr>
        <p:txBody>
          <a:bodyPr wrap="square" anchor="t" lIns="0" rIns="0" tIns="0" bIns="0">
            <a:spAutoFit/>
          </a:bodyPr>
          <a:lstStyle/>
          <a:p>
            <a:pPr algn="l"/>
            <a:r>
              <a:rPr sz="1300" b="1" i="0">
                <a:solidFill>
                  <a:srgbClr val="D9661F"/>
                </a:solidFill>
                <a:latin typeface="Calibri"/>
              </a:rPr>
              <a:t>Consumers</a:t>
            </a:r>
          </a:p>
        </p:txBody>
      </p:sp>
      <p:sp>
        <p:nvSpPr>
          <p:cNvPr id="17423" name="Oval 17422"/>
          <p:cNvSpPr/>
          <p:nvPr/>
        </p:nvSpPr>
        <p:spPr>
          <a:xfrm>
            <a:off x="8346186" y="1499616"/>
            <a:ext cx="420624" cy="420624"/>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Scan any certificate QR</a:t>
            </a:r>
          </a:p>
          <a:p>
            <a:pPr algn="l">
              <a:spcAft>
                <a:spcPts val="200"/>
              </a:spcAft>
            </a:pPr>
            <a:r>
              <a:rPr sz="1000" b="0" i="0">
                <a:solidFill>
                  <a:srgbClr val="1F2937"/>
                </a:solidFill>
                <a:latin typeface="Calibri"/>
              </a:rPr>
              <a:t>•  Fakes and edits are rejected</a:t>
            </a:r>
          </a:p>
          <a:p>
            <a:pPr algn="l">
              <a:spcAft>
                <a:spcPts val="200"/>
              </a:spcAft>
            </a:pPr>
            <a:r>
              <a:rPr sz="10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7" name="TextBox 17426"/>
          <p:cNvSpPr txBox="1"/>
          <p:nvPr/>
        </p:nvSpPr>
        <p:spPr>
          <a:xfrm>
            <a:off x="9233154" y="1517904"/>
            <a:ext cx="1904238" cy="320040"/>
          </a:xfrm>
          <a:prstGeom prst="rect">
            <a:avLst/>
          </a:prstGeom>
          <a:noFill/>
        </p:spPr>
        <p:txBody>
          <a:bodyPr wrap="square" anchor="t" lIns="0" rIns="0" tIns="0" bIns="0">
            <a:spAutoFit/>
          </a:bodyPr>
          <a:lstStyle/>
          <a:p>
            <a:pPr algn="l"/>
            <a:r>
              <a:rPr sz="130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Pending by stage, age, district</a:t>
            </a:r>
          </a:p>
          <a:p>
            <a:pPr algn="l">
              <a:spcAft>
                <a:spcPts val="200"/>
              </a:spcAft>
            </a:pPr>
            <a:r>
              <a:rPr sz="1000" b="0" i="0">
                <a:solidFill>
                  <a:srgbClr val="1F2937"/>
                </a:solidFill>
                <a:latin typeface="Calibri"/>
              </a:rPr>
              <a:t>•  Inspections due and overdue</a:t>
            </a:r>
          </a:p>
          <a:p>
            <a:pPr algn="l">
              <a:spcAft>
                <a:spcPts val="200"/>
              </a:spcAft>
            </a:pPr>
            <a:r>
              <a:rPr sz="10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anchor="t" lIns="0" rIns="0" tIns="0" bIns="0">
            <a:spAutoFit/>
          </a:bodyPr>
          <a:lstStyle/>
          <a:p>
            <a:pPr algn="l"/>
            <a:r>
              <a:rPr sz="125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2 min 51 s</a:t>
            </a:r>
          </a:p>
          <a:p>
            <a:pPr algn="ctr"/>
            <a:r>
              <a:rPr sz="900" b="0" i="0">
                <a:solidFill>
                  <a:srgbClr val="E6F4EC"/>
                </a:solidFill>
                <a:latin typeface="Calibri"/>
              </a:rPr>
              <a:t>application filed → signed certificate (system time, 3 people, 16 logged actions)</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s</a:t>
            </a:r>
          </a:p>
          <a:p>
            <a:pPr algn="ctr"/>
            <a:r>
              <a:rPr sz="900" b="0" i="0">
                <a:solidFill>
                  <a:srgbClr val="E6F4EC"/>
                </a:solidFill>
                <a:latin typeface="Calibri"/>
              </a:rPr>
              <a:t>certificate issued → signed by the server</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 6</a:t>
            </a:r>
          </a:p>
          <a:p>
            <a:pPr algn="ctr"/>
            <a:r>
              <a:rPr sz="9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0</a:t>
            </a:r>
          </a:p>
          <a:p>
            <a:pPr algn="ctr"/>
            <a:r>
              <a:rPr sz="9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anchor="t" lIns="0" rIns="0" tIns="0" bIns="0">
            <a:spAutoFit/>
          </a:bodyPr>
          <a:lstStyle/>
          <a:p>
            <a:pPr algn="l"/>
            <a:r>
              <a:rPr sz="1250" b="1" i="0">
                <a:solidFill>
                  <a:srgbClr val="1F3F6E"/>
                </a:solidFill>
                <a:latin typeface="Calibri"/>
              </a:rPr>
              <a:t>PILOT TARGETS vs TODAY'S PAPER BASELINE (baseline measured from the pilot district's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 7 days</a:t>
            </a:r>
          </a:p>
          <a:p>
            <a:pPr algn="ctr"/>
            <a:r>
              <a:rPr sz="9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&lt; 3 s</a:t>
            </a:r>
          </a:p>
          <a:p>
            <a:pPr algn="ctr"/>
            <a:r>
              <a:rPr sz="9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100%</a:t>
            </a:r>
          </a:p>
          <a:p>
            <a:pPr algn="ctr"/>
            <a:r>
              <a:rPr sz="9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0</a:t>
            </a:r>
          </a:p>
          <a:p>
            <a:pPr algn="ctr"/>
            <a:r>
              <a:rPr sz="9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anchor="t" lIns="0" rIns="0" tIns="0" bIns="0">
            <a:spAutoFit/>
          </a:bodyPr>
          <a:lstStyle/>
          <a:p>
            <a:pPr algn="l"/>
            <a:r>
              <a:rPr sz="125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anchor="t" lIns="0" rIns="0" tIns="0" bIns="0">
            <a:spAutoFit/>
          </a:bodyPr>
          <a:lstStyle/>
          <a:p>
            <a:pPr algn="l"/>
            <a:r>
              <a:rPr sz="125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anchor="t" lIns="0" rIns="0" tIns="0" bIns="0">
            <a:spAutoFit/>
          </a:bodyPr>
          <a:lstStyle/>
          <a:p>
            <a:pPr algn="l"/>
            <a:r>
              <a:rPr sz="11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anchor="t" lIns="0" rIns="0" tIns="0" bIns="0">
            <a:spAutoFit/>
          </a:bodyPr>
          <a:lstStyle/>
          <a:p>
            <a:pPr algn="l"/>
            <a:r>
              <a:rPr sz="1100" b="1" i="0">
                <a:solidFill>
                  <a:srgbClr val="1E7B4A"/>
                </a:solidFill>
                <a:latin typeface="Calibri"/>
              </a:rPr>
              <a:t>DESIGN DECISION IN TULA</a:t>
            </a:r>
          </a:p>
        </p:txBody>
      </p:sp>
      <p:sp>
        <p:nvSpPr>
          <p:cNvPr id="17413" name="Oval 17412"/>
          <p:cNvSpPr/>
          <p:nvPr/>
        </p:nvSpPr>
        <p:spPr>
          <a:xfrm>
            <a:off x="365760" y="1965960"/>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1</a:t>
            </a:r>
          </a:p>
        </p:txBody>
      </p:sp>
      <p:sp>
        <p:nvSpPr>
          <p:cNvPr id="17414" name="Rounded Rectangle 17413"/>
          <p:cNvSpPr/>
          <p:nvPr/>
        </p:nvSpPr>
        <p:spPr>
          <a:xfrm>
            <a:off x="868680" y="1737360"/>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Sec. 24 of the Act needs verification and stamping. GATC Rules 2013 add approved test centres.</a:t>
            </a:r>
          </a:p>
        </p:txBody>
      </p:sp>
      <p:cxnSp>
        <p:nvCxnSpPr>
          <p:cNvPr id="17415" name="Connector 17414"/>
          <p:cNvCxnSpPr/>
          <p:nvPr/>
        </p:nvCxnSpPr>
        <p:spPr>
          <a:xfrm>
            <a:off x="4059936" y="2130552"/>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One workflow for LMO and GATC, routed by district and equipment</a:t>
            </a:r>
          </a:p>
        </p:txBody>
      </p:sp>
      <p:sp>
        <p:nvSpPr>
          <p:cNvPr id="17417" name="Oval 17416"/>
          <p:cNvSpPr/>
          <p:nvPr/>
        </p:nvSpPr>
        <p:spPr>
          <a:xfrm>
            <a:off x="365760" y="2862072"/>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2</a:t>
            </a:r>
          </a:p>
        </p:txBody>
      </p:sp>
      <p:sp>
        <p:nvSpPr>
          <p:cNvPr id="17418" name="Rounded Rectangle 17417"/>
          <p:cNvSpPr/>
          <p:nvPr/>
        </p:nvSpPr>
        <p:spPr>
          <a:xfrm>
            <a:off x="868680" y="2633472"/>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Fees and validity differ across State Enforcement Rules.</a:t>
            </a:r>
          </a:p>
        </p:txBody>
      </p:sp>
      <p:cxnSp>
        <p:nvCxnSpPr>
          <p:cNvPr id="17419" name="Connector 17418"/>
          <p:cNvCxnSpPr/>
          <p:nvPr/>
        </p:nvCxnSpPr>
        <p:spPr>
          <a:xfrm>
            <a:off x="4059936" y="3026664"/>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633472"/>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Rules stored as data per State; database isolates each State</a:t>
            </a:r>
          </a:p>
        </p:txBody>
      </p:sp>
      <p:sp>
        <p:nvSpPr>
          <p:cNvPr id="17421" name="Oval 17420"/>
          <p:cNvSpPr/>
          <p:nvPr/>
        </p:nvSpPr>
        <p:spPr>
          <a:xfrm>
            <a:off x="365760" y="3758183"/>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3</a:t>
            </a:r>
          </a:p>
        </p:txBody>
      </p:sp>
      <p:sp>
        <p:nvSpPr>
          <p:cNvPr id="17422" name="Rounded Rectangle 17421"/>
          <p:cNvSpPr/>
          <p:nvPr/>
        </p:nvSpPr>
        <p:spPr>
          <a:xfrm>
            <a:off x="868680" y="3529584"/>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MPE limits come from OIML R 76 (scales) and R 117 (fuel dispensers).</a:t>
            </a:r>
          </a:p>
        </p:txBody>
      </p:sp>
      <p:cxnSp>
        <p:nvCxnSpPr>
          <p:cNvPr id="17423" name="Connector 17422"/>
          <p:cNvCxnSpPr/>
          <p:nvPr/>
        </p:nvCxnSpPr>
        <p:spPr>
          <a:xfrm>
            <a:off x="4059936" y="3922776"/>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529584"/>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Pass / fail computed from recorded readings, not typed</a:t>
            </a:r>
          </a:p>
        </p:txBody>
      </p:sp>
      <p:sp>
        <p:nvSpPr>
          <p:cNvPr id="17425" name="Oval 17424"/>
          <p:cNvSpPr/>
          <p:nvPr/>
        </p:nvSpPr>
        <p:spPr>
          <a:xfrm>
            <a:off x="365760" y="4654296"/>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4</a:t>
            </a:r>
          </a:p>
        </p:txBody>
      </p:sp>
      <p:sp>
        <p:nvSpPr>
          <p:cNvPr id="17426" name="Rounded Rectangle 17425"/>
          <p:cNvSpPr/>
          <p:nvPr/>
        </p:nvSpPr>
        <p:spPr>
          <a:xfrm>
            <a:off x="868680" y="4425696"/>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Field sites (mandis, highways) often have weak networks.</a:t>
            </a:r>
          </a:p>
        </p:txBody>
      </p:sp>
      <p:cxnSp>
        <p:nvCxnSpPr>
          <p:cNvPr id="17427" name="Connector 17426"/>
          <p:cNvCxnSpPr/>
          <p:nvPr/>
        </p:nvCxnSpPr>
        <p:spPr>
          <a:xfrm>
            <a:off x="4059936" y="4818888"/>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4425696"/>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Installable offline app with a sync queue</a:t>
            </a:r>
          </a:p>
        </p:txBody>
      </p:sp>
      <p:sp>
        <p:nvSpPr>
          <p:cNvPr id="17429" name="Oval 17428"/>
          <p:cNvSpPr/>
          <p:nvPr/>
        </p:nvSpPr>
        <p:spPr>
          <a:xfrm>
            <a:off x="365760" y="555040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5</a:t>
            </a:r>
          </a:p>
        </p:txBody>
      </p:sp>
      <p:sp>
        <p:nvSpPr>
          <p:cNvPr id="17430" name="Rounded Rectangle 17429"/>
          <p:cNvSpPr/>
          <p:nvPr/>
        </p:nvSpPr>
        <p:spPr>
          <a:xfrm>
            <a:off x="868680" y="5321808"/>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A buyer cannot tell a genuine stamp from a fake.</a:t>
            </a:r>
          </a:p>
        </p:txBody>
      </p:sp>
      <p:cxnSp>
        <p:nvCxnSpPr>
          <p:cNvPr id="17431" name="Connector 17430"/>
          <p:cNvCxnSpPr/>
          <p:nvPr/>
        </p:nvCxnSpPr>
        <p:spPr>
          <a:xfrm>
            <a:off x="4059936" y="5715000"/>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5321808"/>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Signed QR anyone can check, no login, even offline</a:t>
            </a:r>
          </a:p>
        </p:txBody>
      </p:sp>
      <p:sp>
        <p:nvSpPr>
          <p:cNvPr id="17433" name="Rounded Rectangle 17432"/>
          <p:cNvSpPr/>
          <p:nvPr/>
        </p:nvSpPr>
        <p:spPr>
          <a:xfrm>
            <a:off x="7589520" y="1444752"/>
            <a:ext cx="4233672" cy="3337560"/>
          </a:xfrm>
          <a:prstGeom prst="roundRect">
            <a:avLst>
              <a:gd name="adj" fmla="val 164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34" name="TextBox 17433"/>
          <p:cNvSpPr txBox="1"/>
          <p:nvPr/>
        </p:nvSpPr>
        <p:spPr>
          <a:xfrm>
            <a:off x="7726680" y="1508760"/>
            <a:ext cx="3959352" cy="301752"/>
          </a:xfrm>
          <a:prstGeom prst="rect">
            <a:avLst/>
          </a:prstGeom>
          <a:noFill/>
        </p:spPr>
        <p:txBody>
          <a:bodyPr wrap="square" anchor="t" lIns="0" rIns="0" tIns="0" bIns="0">
            <a:spAutoFit/>
          </a:bodyPr>
          <a:lstStyle/>
          <a:p>
            <a:pPr algn="l"/>
            <a:r>
              <a:rPr sz="1350" b="1" i="0">
                <a:solidFill>
                  <a:srgbClr val="0070C0"/>
                </a:solidFill>
                <a:latin typeface="Calibri"/>
              </a:rPr>
              <a:t>References &amp; Links</a:t>
            </a:r>
          </a:p>
        </p:txBody>
      </p:sp>
      <p:sp>
        <p:nvSpPr>
          <p:cNvPr id="17435" name="TextBox 17434"/>
          <p:cNvSpPr txBox="1"/>
          <p:nvPr/>
        </p:nvSpPr>
        <p:spPr>
          <a:xfrm>
            <a:off x="7726680" y="1847088"/>
            <a:ext cx="3959352" cy="2880360"/>
          </a:xfrm>
          <a:prstGeom prst="rect">
            <a:avLst/>
          </a:prstGeom>
          <a:noFill/>
        </p:spPr>
        <p:txBody>
          <a:bodyPr wrap="square">
            <a:spAutoFit/>
          </a:bodyPr>
          <a:lstStyle/>
          <a:p>
            <a:pPr>
              <a:spcAft>
                <a:spcPts val="300"/>
              </a:spcAft>
            </a:pPr>
            <a:r>
              <a:rPr sz="1000" b="1" i="0">
                <a:solidFill>
                  <a:srgbClr val="0070C0"/>
                </a:solidFill>
                <a:latin typeface="Calibri"/>
              </a:rPr>
              <a:t>1.  </a:t>
            </a:r>
            <a:r>
              <a:rPr sz="1000" b="1" i="0">
                <a:solidFill>
                  <a:srgbClr val="1F3F6E"/>
                </a:solidFill>
                <a:latin typeface="Calibri"/>
              </a:rPr>
              <a:t>The Legal Metrology Act, 2009</a:t>
            </a:r>
            <a:r>
              <a:rPr sz="1000" b="0" i="0">
                <a:solidFill>
                  <a:srgbClr val="1F2937"/>
                </a:solidFill>
                <a:latin typeface="Calibri"/>
              </a:rPr>
              <a:t> · consumeraffairs.gov.in</a:t>
            </a:r>
          </a:p>
          <a:p>
            <a:pPr>
              <a:spcAft>
                <a:spcPts val="300"/>
              </a:spcAft>
            </a:pPr>
            <a:r>
              <a:rPr sz="1000" b="1" i="0">
                <a:solidFill>
                  <a:srgbClr val="0070C0"/>
                </a:solidFill>
                <a:latin typeface="Calibri"/>
              </a:rPr>
              <a:t>2.  </a:t>
            </a:r>
            <a:r>
              <a:rPr sz="1000" b="1" i="0">
                <a:solidFill>
                  <a:srgbClr val="1F3F6E"/>
                </a:solidFill>
                <a:latin typeface="Calibri"/>
              </a:rPr>
              <a:t>Legal Metrology (General) Rules, 2011</a:t>
            </a:r>
            <a:r>
              <a:rPr sz="1000" b="0" i="0">
                <a:solidFill>
                  <a:srgbClr val="1F2937"/>
                </a:solidFill>
                <a:latin typeface="Calibri"/>
              </a:rPr>
              <a:t/>
            </a:r>
          </a:p>
          <a:p>
            <a:pPr>
              <a:spcAft>
                <a:spcPts val="300"/>
              </a:spcAft>
            </a:pPr>
            <a:r>
              <a:rPr sz="1000" b="1" i="0">
                <a:solidFill>
                  <a:srgbClr val="0070C0"/>
                </a:solidFill>
                <a:latin typeface="Calibri"/>
              </a:rPr>
              <a:t>3.  </a:t>
            </a:r>
            <a:r>
              <a:rPr sz="1000" b="1" i="0">
                <a:solidFill>
                  <a:srgbClr val="1F3F6E"/>
                </a:solidFill>
                <a:latin typeface="Calibri"/>
              </a:rPr>
              <a:t>LM (Government Approved Test Centre) Rules, 2013</a:t>
            </a:r>
            <a:r>
              <a:rPr sz="1000" b="0" i="0">
                <a:solidFill>
                  <a:srgbClr val="1F2937"/>
                </a:solidFill>
                <a:latin typeface="Calibri"/>
              </a:rPr>
              <a:t/>
            </a:r>
          </a:p>
          <a:p>
            <a:pPr>
              <a:spcAft>
                <a:spcPts val="300"/>
              </a:spcAft>
            </a:pPr>
            <a:r>
              <a:rPr sz="1000" b="1" i="0">
                <a:solidFill>
                  <a:srgbClr val="0070C0"/>
                </a:solidFill>
                <a:latin typeface="Calibri"/>
              </a:rPr>
              <a:t>4.  </a:t>
            </a:r>
            <a:r>
              <a:rPr sz="1000" b="1" i="0">
                <a:solidFill>
                  <a:srgbClr val="1F3F6E"/>
                </a:solidFill>
                <a:latin typeface="Calibri"/>
              </a:rPr>
              <a:t>State LM (Enforcement) Rules</a:t>
            </a:r>
            <a:r>
              <a:rPr sz="1000" b="0" i="0">
                <a:solidFill>
                  <a:srgbClr val="1F2937"/>
                </a:solidFill>
                <a:latin typeface="Calibri"/>
              </a:rPr>
              <a:t/>
            </a:r>
          </a:p>
          <a:p>
            <a:pPr>
              <a:spcAft>
                <a:spcPts val="300"/>
              </a:spcAft>
            </a:pPr>
            <a:r>
              <a:rPr sz="1000" b="1" i="0">
                <a:solidFill>
                  <a:srgbClr val="0070C0"/>
                </a:solidFill>
                <a:latin typeface="Calibri"/>
              </a:rPr>
              <a:t>5.  </a:t>
            </a:r>
            <a:r>
              <a:rPr sz="1000" b="1" i="0">
                <a:solidFill>
                  <a:srgbClr val="1F3F6E"/>
                </a:solidFill>
                <a:latin typeface="Calibri"/>
              </a:rPr>
              <a:t>OIML R 76-1 and R 117-1</a:t>
            </a:r>
            <a:r>
              <a:rPr sz="1000" b="0" i="0">
                <a:solidFill>
                  <a:srgbClr val="1F2937"/>
                </a:solidFill>
                <a:latin typeface="Calibri"/>
              </a:rPr>
              <a:t> · oiml.org</a:t>
            </a:r>
          </a:p>
          <a:p>
            <a:pPr>
              <a:spcAft>
                <a:spcPts val="300"/>
              </a:spcAft>
            </a:pPr>
            <a:r>
              <a:rPr sz="1000" b="1" i="0">
                <a:solidFill>
                  <a:srgbClr val="0070C0"/>
                </a:solidFill>
                <a:latin typeface="Calibri"/>
              </a:rPr>
              <a:t>6.  </a:t>
            </a:r>
            <a:r>
              <a:rPr sz="1000" b="1" i="0">
                <a:solidFill>
                  <a:srgbClr val="1F3F6E"/>
                </a:solidFill>
                <a:latin typeface="Calibri"/>
              </a:rPr>
              <a:t>IT Act 2000, DPDP Act 2023</a:t>
            </a:r>
            <a:r>
              <a:rPr sz="1000" b="0" i="0">
                <a:solidFill>
                  <a:srgbClr val="1F2937"/>
                </a:solidFill>
                <a:latin typeface="Calibri"/>
              </a:rPr>
              <a:t/>
            </a:r>
          </a:p>
          <a:p>
            <a:pPr>
              <a:spcAft>
                <a:spcPts val="300"/>
              </a:spcAft>
            </a:pPr>
            <a:r>
              <a:rPr sz="1000" b="1" i="0">
                <a:solidFill>
                  <a:srgbClr val="0070C0"/>
                </a:solidFill>
                <a:latin typeface="Calibri"/>
              </a:rPr>
              <a:t>7.  </a:t>
            </a:r>
            <a:r>
              <a:rPr sz="1000" b="1" i="0">
                <a:solidFill>
                  <a:srgbClr val="1F3F6E"/>
                </a:solidFill>
                <a:latin typeface="Calibri"/>
              </a:rPr>
              <a:t>Supabase RLS, Vercel functions docs</a:t>
            </a:r>
            <a:r>
              <a:rPr sz="1000" b="0" i="0">
                <a:solidFill>
                  <a:srgbClr val="1F2937"/>
                </a:solidFill>
                <a:latin typeface="Calibri"/>
              </a:rPr>
              <a:t/>
            </a:r>
          </a:p>
          <a:p>
            <a:pPr>
              <a:spcAft>
                <a:spcPts val="300"/>
              </a:spcAft>
            </a:pPr>
            <a:r>
              <a:rPr sz="1000" b="1" i="0">
                <a:solidFill>
                  <a:srgbClr val="0070C0"/>
                </a:solidFill>
                <a:latin typeface="Calibri"/>
              </a:rPr>
              <a:t>8.  </a:t>
            </a:r>
            <a:r>
              <a:rPr sz="1000" b="1" i="0">
                <a:solidFill>
                  <a:srgbClr val="1F3F6E"/>
                </a:solidFill>
                <a:latin typeface="Calibri"/>
              </a:rPr>
              <a:t>Google Gemini API docs</a:t>
            </a:r>
            <a:r>
              <a:rPr sz="1000" b="0" i="0">
                <a:solidFill>
                  <a:srgbClr val="1F2937"/>
                </a:solidFill>
                <a:latin typeface="Calibri"/>
              </a:rPr>
              <a:t> · ai.google.dev</a:t>
            </a:r>
          </a:p>
        </p:txBody>
      </p:sp>
      <p:sp>
        <p:nvSpPr>
          <p:cNvPr id="17436" name="Rounded Rectangle 17435"/>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37" name="Picture 17436" descr="image.png"/>
          <p:cNvPicPr>
            <a:picLocks noChangeAspect="1"/>
          </p:cNvPicPr>
          <p:nvPr/>
        </p:nvPicPr>
        <p:blipFill>
          <a:blip r:embed="rId4"/>
          <a:stretch>
            <a:fillRect/>
          </a:stretch>
        </p:blipFill>
        <p:spPr>
          <a:xfrm>
            <a:off x="7680960" y="4965192"/>
            <a:ext cx="1188720" cy="1188720"/>
          </a:xfrm>
          <a:prstGeom prst="rect">
            <a:avLst/>
          </a:prstGeom>
        </p:spPr>
      </p:pic>
      <p:sp>
        <p:nvSpPr>
          <p:cNvPr id="17438" name="TextBox 17437"/>
          <p:cNvSpPr txBox="1"/>
          <p:nvPr/>
        </p:nvSpPr>
        <p:spPr>
          <a:xfrm>
            <a:off x="8961120" y="4983480"/>
            <a:ext cx="2770632" cy="1188720"/>
          </a:xfrm>
          <a:prstGeom prst="rect">
            <a:avLst/>
          </a:prstGeom>
          <a:noFill/>
        </p:spPr>
        <p:txBody>
          <a:bodyPr wrap="square" anchor="t" lIns="0" rIns="0" tIns="0" bIns="0">
            <a:spAutoFit/>
          </a:bodyPr>
          <a:lstStyle/>
          <a:p>
            <a:pPr algn="l">
              <a:spcAft>
                <a:spcPts val="200"/>
              </a:spcAft>
            </a:pPr>
            <a:r>
              <a:rPr sz="12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today. Your phone checks the signature.</a:t>
            </a:r>
          </a:p>
          <a:p>
            <a:pPr algn="l">
              <a:spcAft>
                <a:spcPts val="200"/>
              </a:spcAft>
            </a:pPr>
            <a:r>
              <a:rPr sz="850" b="0" i="0">
                <a:solidFill>
                  <a:srgbClr val="5B6573"/>
                </a:solidFill>
                <a:latin typeface="Calibri"/>
              </a:rPr>
              <a:t>Code: 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