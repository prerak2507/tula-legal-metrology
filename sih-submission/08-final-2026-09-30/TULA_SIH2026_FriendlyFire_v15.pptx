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tula-legal-metrology.vercel.app"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tula-legal-metrology.vercel.app/demo"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hyperlink" Target="https://weightnmeasures.delhi.gov.in/sites/default/files/inline-files/w_m_manual_17-faqs.pdf" TargetMode="External"/><Relationship Id="rId13" Type="http://schemas.openxmlformats.org/officeDocument/2006/relationships/hyperlink" Target="https://tula-legal-metrology.vercel.app/sources" TargetMode="External"/><Relationship Id="rId3" Type="http://schemas.openxmlformats.org/officeDocument/2006/relationships/image" Target="../media/image2.png"/><Relationship Id="rId7" Type="http://schemas.openxmlformats.org/officeDocument/2006/relationships/hyperlink" Target="https://lmdca.gujarat.gov.in/en/fee-structure" TargetMode="External"/><Relationship Id="rId12" Type="http://schemas.openxmlformats.org/officeDocument/2006/relationships/hyperlink" Target="https://www.oiml.org/en/files/pdf_r/r117-1-e19.pdf" TargetMode="External"/><Relationship Id="rId2" Type="http://schemas.openxmlformats.org/officeDocument/2006/relationships/notesSlide" Target="../notesSlides/notesSlide6.xml"/><Relationship Id="rId16" Type="http://schemas.openxmlformats.org/officeDocument/2006/relationships/hyperlink" Target="https://github.com/prerak2507/tula-legal-metrology" TargetMode="External"/><Relationship Id="rId1" Type="http://schemas.openxmlformats.org/officeDocument/2006/relationships/slideLayout" Target="../slideLayouts/slideLayout2.xml"/><Relationship Id="rId6" Type="http://schemas.openxmlformats.org/officeDocument/2006/relationships/hyperlink" Target="https://weightnmeasures.delhi.gov.in/sites/default/files/inline-files/gazette_notification_3.pdf" TargetMode="External"/><Relationship Id="rId11" Type="http://schemas.openxmlformats.org/officeDocument/2006/relationships/hyperlink" Target="https://www.oiml.org/en/files/pdf_r/r076-1-e06.pdf" TargetMode="External"/><Relationship Id="rId5" Type="http://schemas.openxmlformats.org/officeDocument/2006/relationships/hyperlink" Target="https://weightnmeasures.delhi.gov.in/sites/default/files/inline-files/delhi_legal_metrology_enforcement_rules_2011_english.pdf" TargetMode="External"/><Relationship Id="rId15" Type="http://schemas.openxmlformats.org/officeDocument/2006/relationships/image" Target="../media/image10.png"/><Relationship Id="rId10" Type="http://schemas.openxmlformats.org/officeDocument/2006/relationships/hyperlink" Target="https://consumeraffairs.gov.in/pages/legal-metrology-overview" TargetMode="External"/><Relationship Id="rId4" Type="http://schemas.openxmlformats.org/officeDocument/2006/relationships/hyperlink" Target="https://lmdca.gujarat.gov.in/clmdca/documents/the-legal-metrology-act-2009.pdf" TargetMode="External"/><Relationship Id="rId9" Type="http://schemas.openxmlformats.org/officeDocument/2006/relationships/hyperlink" Target="https://lm.doca.gov.in/modelapproval/Certificates.aspx" TargetMode="External"/><Relationship Id="rId14" Type="http://schemas.openxmlformats.org/officeDocument/2006/relationships/hyperlink" Target="https://tula-legal-metrology.vercel.app/verify/DL%2FLM%2F2026%2F089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3"/>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r>
              <a:rPr sz="2600" b="1" i="0">
                <a:solidFill>
                  <a:srgbClr val="FFFFFF"/>
                </a:solidFill>
                <a:latin typeface="Calibri"/>
              </a:rPr>
              <a:t>TULA  </a:t>
            </a:r>
            <a:r>
              <a:rPr sz="135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257800"/>
            <a:ext cx="6766560" cy="329184"/>
          </a:xfrm>
          <a:prstGeom prst="rect">
            <a:avLst/>
          </a:prstGeom>
          <a:noFill/>
        </p:spPr>
        <p:txBody>
          <a:bodyPr wrap="square" lIns="0" tIns="0" rIns="0" bIns="0" anchor="t">
            <a:spAutoFit/>
          </a:bodyPr>
          <a:lstStyle/>
          <a:p>
            <a:pPr algn="l"/>
            <a:r>
              <a:rPr sz="1400" b="1" i="1">
                <a:solidFill>
                  <a:srgbClr val="0070C0"/>
                </a:solidFill>
                <a:latin typeface="Calibri"/>
              </a:rPr>
              <a:t>One instrument → one digital ID → one certificate anyone can check</a:t>
            </a:r>
          </a:p>
        </p:txBody>
      </p:sp>
      <p:sp>
        <p:nvSpPr>
          <p:cNvPr id="41" name="TextBox 40"/>
          <p:cNvSpPr txBox="1"/>
          <p:nvPr/>
        </p:nvSpPr>
        <p:spPr>
          <a:xfrm>
            <a:off x="384048" y="5669280"/>
            <a:ext cx="6766560" cy="192360"/>
          </a:xfrm>
          <a:prstGeom prst="rect">
            <a:avLst/>
          </a:prstGeom>
          <a:noFill/>
        </p:spPr>
        <p:txBody>
          <a:bodyPr wrap="square" lIns="0" tIns="0" rIns="0" bIns="0" anchor="t">
            <a:spAutoFit/>
          </a:bodyPr>
          <a:lstStyle/>
          <a:p>
            <a:pPr algn="l"/>
            <a:r>
              <a:rPr sz="1250" b="1" i="0">
                <a:solidFill>
                  <a:srgbClr val="1E7B4A"/>
                </a:solidFill>
                <a:latin typeface="Calibri"/>
              </a:rPr>
              <a:t>Live prototype: </a:t>
            </a:r>
            <a:r>
              <a:rPr sz="1250" b="0" i="0" u="sng">
                <a:solidFill>
                  <a:srgbClr val="1E7B4A"/>
                </a:solidFill>
                <a:latin typeface="Calibri"/>
                <a:hlinkClick r:id="rId5"/>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lIns="0" tIns="0" rIns="0" bIns="0" anchor="t">
            <a:spAutoFit/>
          </a:bodyPr>
          <a:lstStyle/>
          <a:p>
            <a:pPr algn="l"/>
            <a:r>
              <a:rPr sz="130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250" b="1" i="0">
                <a:solidFill>
                  <a:srgbClr val="1F3F6E"/>
                </a:solidFill>
                <a:latin typeface="Calibri"/>
              </a:rPr>
              <a:t>A live web + mobile platform: every instrument gets a permanent Digital ID, </a:t>
            </a:r>
            <a:r>
              <a:rPr sz="125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lIns="0" tIns="0" rIns="0" bIns="0" anchor="t">
            <a:spAutoFit/>
          </a:bodyPr>
          <a:lstStyle/>
          <a:p>
            <a:pPr algn="l"/>
            <a:r>
              <a:rPr sz="130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1F3F6E"/>
                </a:solidFill>
                <a:latin typeface="Calibri"/>
              </a:rPr>
              <a:t>Register</a:t>
            </a:r>
          </a:p>
          <a:p>
            <a:pPr algn="ctr"/>
            <a:r>
              <a:rPr sz="10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1F3F6E"/>
                </a:solidFill>
                <a:latin typeface="Calibri"/>
              </a:rPr>
              <a:t>Apply</a:t>
            </a:r>
          </a:p>
          <a:p>
            <a:pPr algn="ctr"/>
            <a:r>
              <a:rPr sz="1000" b="0" i="0">
                <a:solidFill>
                  <a:srgbClr val="5B6573"/>
                </a:solidFill>
                <a:latin typeface="Calibri"/>
              </a:rPr>
              <a:t>docs, fee from State Schedule IX</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6B3FA0"/>
                </a:solidFill>
                <a:latin typeface="Calibri"/>
              </a:rPr>
              <a:t>Scrutiny</a:t>
            </a:r>
          </a:p>
          <a:p>
            <a:pPr algn="ctr"/>
            <a:r>
              <a:rPr sz="1000" b="0" i="0">
                <a:solidFill>
                  <a:srgbClr val="5B6573"/>
                </a:solidFill>
                <a:latin typeface="Calibri"/>
              </a:rPr>
              <a:t>approval mark vs DoCA register</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1F3F6E"/>
                </a:solidFill>
                <a:latin typeface="Calibri"/>
              </a:rPr>
              <a:t>Assign</a:t>
            </a:r>
          </a:p>
          <a:p>
            <a:pPr algn="ctr"/>
            <a:r>
              <a:rPr sz="10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1F3F6E"/>
                </a:solidFill>
                <a:latin typeface="Calibri"/>
              </a:rPr>
              <a:t>Inspect</a:t>
            </a:r>
          </a:p>
          <a:p>
            <a:pPr algn="ctr"/>
            <a:r>
              <a:rPr sz="10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B5520F"/>
                </a:solidFill>
                <a:latin typeface="Calibri"/>
              </a:rPr>
              <a:t>Decide</a:t>
            </a:r>
          </a:p>
          <a:p>
            <a:pPr algn="ctr"/>
            <a:r>
              <a:rPr sz="10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1E7B4A"/>
                </a:solidFill>
                <a:latin typeface="Calibri"/>
              </a:rPr>
              <a:t>Certificate</a:t>
            </a:r>
          </a:p>
          <a:p>
            <a:pPr algn="ctr"/>
            <a:r>
              <a:rPr sz="10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1E7B4A"/>
                </a:solidFill>
                <a:latin typeface="Calibri"/>
              </a:rPr>
              <a:t>Verify</a:t>
            </a:r>
          </a:p>
          <a:p>
            <a:pPr algn="ctr"/>
            <a:r>
              <a:rPr sz="10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lIns="0" tIns="0" rIns="0" bIns="0" anchor="t">
            <a:spAutoFit/>
          </a:bodyPr>
          <a:lstStyle/>
          <a:p>
            <a:pPr algn="l"/>
            <a:r>
              <a:rPr sz="11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2935224"/>
            <a:ext cx="1005840" cy="219456"/>
          </a:xfrm>
          <a:prstGeom prst="roundRect">
            <a:avLst>
              <a:gd name="adj" fmla="val 41666"/>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r>
              <a:rPr sz="100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lIns="0" tIns="0" rIns="0" bIns="0" anchor="t">
            <a:spAutoFit/>
          </a:bodyPr>
          <a:lstStyle/>
          <a:p>
            <a:pPr algn="l"/>
            <a:r>
              <a:rPr sz="130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150" b="0" i="0">
                <a:solidFill>
                  <a:srgbClr val="5B6573"/>
                </a:solidFill>
                <a:latin typeface="Calibri"/>
              </a:rPr>
              <a:t>Paper records in isolated systems</a:t>
            </a:r>
          </a:p>
          <a:p>
            <a:pPr algn="l"/>
            <a:r>
              <a:rPr sz="1250" b="1" i="0">
                <a:solidFill>
                  <a:srgbClr val="1F3F6E"/>
                </a:solidFill>
                <a:latin typeface="Calibri"/>
              </a:rPr>
              <a:t>→ One live register per State, same system everywhere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150" b="0" i="0">
                <a:solidFill>
                  <a:srgbClr val="5B6573"/>
                </a:solidFill>
                <a:latin typeface="Calibri"/>
              </a:rPr>
              <a:t>Manual scheduling, pendency</a:t>
            </a:r>
          </a:p>
          <a:p>
            <a:pPr algn="l"/>
            <a:r>
              <a:rPr sz="12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150" b="0" i="0">
                <a:solidFill>
                  <a:srgbClr val="5B6573"/>
                </a:solidFill>
                <a:latin typeface="Calibri"/>
              </a:rPr>
              <a:t>Fake or copied certificates</a:t>
            </a:r>
          </a:p>
          <a:p>
            <a:pPr algn="l"/>
            <a:r>
              <a:rPr sz="1250" b="1" i="0">
                <a:solidFill>
                  <a:srgbClr val="1F3F6E"/>
                </a:solidFill>
                <a:latin typeface="Calibri"/>
              </a:rPr>
              <a:t>→ Signed QR: edits fail, copies show the real serial</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150" b="0" i="0">
                <a:solidFill>
                  <a:srgbClr val="5B6573"/>
                </a:solidFill>
                <a:latin typeface="Calibri"/>
              </a:rPr>
              <a:t>Missed re-verification dates</a:t>
            </a:r>
          </a:p>
          <a:p>
            <a:pPr algn="l"/>
            <a:r>
              <a:rPr sz="12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lIns="0" tIns="0" rIns="0" bIns="0" anchor="t">
            <a:spAutoFit/>
          </a:bodyPr>
          <a:lstStyle/>
          <a:p>
            <a:pPr algn="l"/>
            <a:r>
              <a:rPr sz="130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250" b="1" i="0">
                <a:solidFill>
                  <a:srgbClr val="FFFFFF"/>
                </a:solidFill>
                <a:latin typeface="Calibri"/>
              </a:rPr>
              <a:t>Tamper-proof QR</a:t>
            </a:r>
          </a:p>
          <a:p>
            <a:pPr algn="l"/>
            <a:r>
              <a:rPr sz="1050" b="0" i="0">
                <a:solidFill>
                  <a:srgbClr val="FFFFFF"/>
                </a:solidFill>
                <a:latin typeface="Calibri"/>
              </a:rPr>
              <a:t>Server-signed (ECDSA P-256). Signature checks offline on any phone; revocation checks when online. A copied QR shows the original serial</a:t>
            </a:r>
          </a:p>
        </p:txBody>
      </p:sp>
      <p:sp>
        <p:nvSpPr>
          <p:cNvPr id="15400" name="Rounded Rectangle 15399"/>
          <p:cNvSpPr/>
          <p:nvPr/>
        </p:nvSpPr>
        <p:spPr>
          <a:xfrm>
            <a:off x="2684678" y="5065776"/>
            <a:ext cx="2181758" cy="1161288"/>
          </a:xfrm>
          <a:prstGeom prst="roundRect">
            <a:avLst>
              <a:gd name="adj" fmla="val 5511"/>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250" b="1" i="0">
                <a:solidFill>
                  <a:srgbClr val="FFFFFF"/>
                </a:solidFill>
                <a:latin typeface="Calibri"/>
              </a:rPr>
              <a:t>Offline field app</a:t>
            </a:r>
          </a:p>
          <a:p>
            <a:pPr algn="l"/>
            <a:r>
              <a:rPr sz="10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250" b="1" i="0">
                <a:solidFill>
                  <a:srgbClr val="FFFFFF"/>
                </a:solidFill>
                <a:latin typeface="Calibri"/>
              </a:rPr>
              <a:t>Computed verdict</a:t>
            </a:r>
          </a:p>
          <a:p>
            <a:pPr algn="l"/>
            <a:r>
              <a:rPr sz="1050" b="0" i="0">
                <a:solidFill>
                  <a:srgbClr val="FFFFFF"/>
                </a:solidFill>
                <a:latin typeface="Calibri"/>
              </a:rPr>
              <a:t>Readings are checked against the error limits in the LM (General) Rules 2011. PASS only when every reading is within the limit</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250" b="1" i="0">
                <a:solidFill>
                  <a:srgbClr val="FFFFFF"/>
                </a:solidFill>
                <a:latin typeface="Calibri"/>
              </a:rPr>
              <a:t>Multi-State by design</a:t>
            </a:r>
          </a:p>
          <a:p>
            <a:pPr algn="l"/>
            <a:r>
              <a:rPr sz="1050" b="0" i="0">
                <a:solidFill>
                  <a:srgbClr val="FFFFFF"/>
                </a:solidFill>
                <a:latin typeface="Calibri"/>
              </a:rPr>
              <a:t>Each State's gazetted fees and rules are data (Delhi, Gujarat loaded).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250" b="1" i="0">
                <a:solidFill>
                  <a:srgbClr val="FFFFFF"/>
                </a:solidFill>
                <a:latin typeface="Calibri"/>
              </a:rPr>
              <a:t>AI copilot, human decides</a:t>
            </a:r>
          </a:p>
          <a:p>
            <a:pPr algn="l"/>
            <a:r>
              <a:rPr sz="1050" b="0" i="0">
                <a:solidFill>
                  <a:srgbClr val="FFFFFF"/>
                </a:solidFill>
                <a:latin typeface="Calibri"/>
              </a:rPr>
              <a:t>Gemini checks application fields for mismatches; no documents or personal data sent.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lIns="0" tIns="0" rIns="0" bIns="0" anchor="t">
            <a:spAutoFit/>
          </a:bodyPr>
          <a:lstStyle/>
          <a:p>
            <a:pPr algn="l"/>
            <a:r>
              <a:rPr sz="130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Trader</a:t>
            </a:r>
          </a:p>
          <a:p>
            <a:pPr algn="ctr"/>
            <a:r>
              <a:rPr sz="95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LMO / GATC</a:t>
            </a:r>
          </a:p>
          <a:p>
            <a:pPr algn="ctr"/>
            <a:r>
              <a:rPr sz="95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Controller</a:t>
            </a:r>
          </a:p>
          <a:p>
            <a:pPr algn="ctr"/>
            <a:r>
              <a:rPr sz="95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Admins</a:t>
            </a:r>
          </a:p>
          <a:p>
            <a:pPr algn="ctr"/>
            <a:r>
              <a:rPr sz="950" b="0" i="0">
                <a:solidFill>
                  <a:srgbClr val="5B6573"/>
                </a:solidFill>
                <a:latin typeface="Calibri"/>
              </a:rPr>
              <a:t>State + central</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Citizen</a:t>
            </a:r>
          </a:p>
          <a:p>
            <a:pPr algn="ctr"/>
            <a:r>
              <a:rPr sz="95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React PWA on Vercel</a:t>
            </a:r>
            <a:r>
              <a:rPr sz="10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6B3FA0"/>
                </a:solidFill>
                <a:latin typeface="Calibri"/>
              </a:rPr>
              <a:t>Vercel functions (keys stay here)</a:t>
            </a:r>
          </a:p>
          <a:p>
            <a:pPr algn="ctr"/>
            <a:r>
              <a:rPr sz="1000" b="0" i="0">
                <a:solidFill>
                  <a:srgbClr val="1F2937"/>
                </a:solidFill>
                <a:latin typeface="Calibri"/>
              </a:rPr>
              <a:t>/api/sign  ECDSA private key, checks officer</a:t>
            </a:r>
          </a:p>
          <a:p>
            <a:pPr algn="ctr"/>
            <a:r>
              <a:rPr sz="100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E7B4A"/>
                </a:solidFill>
                <a:latin typeface="Calibri"/>
              </a:rPr>
              <a:t>Supabase</a:t>
            </a:r>
          </a:p>
          <a:p>
            <a:pPr algn="ctr"/>
            <a:r>
              <a:rPr sz="1000" b="0" i="0">
                <a:solidFill>
                  <a:srgbClr val="1F2937"/>
                </a:solidFill>
                <a:latin typeface="Calibri"/>
              </a:rPr>
              <a:t>Auth · row-level security · realtime</a:t>
            </a:r>
          </a:p>
          <a:p>
            <a:pPr algn="ctr"/>
            <a:r>
              <a:rPr sz="100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Postgres</a:t>
            </a:r>
          </a:p>
          <a:p>
            <a:pPr algn="ctr"/>
            <a:r>
              <a:rPr sz="95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Append-only audit log</a:t>
            </a:r>
          </a:p>
          <a:p>
            <a:pPr algn="ctr"/>
            <a:r>
              <a:rPr sz="95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Rules per State</a:t>
            </a:r>
          </a:p>
          <a:p>
            <a:pPr algn="ctr"/>
            <a:r>
              <a:rPr sz="95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lIns="0" tIns="0" rIns="0" bIns="0" anchor="t">
            <a:spAutoFit/>
          </a:bodyPr>
          <a:lstStyle/>
          <a:p>
            <a:pPr algn="l"/>
            <a:r>
              <a:rPr sz="12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Officer passes</a:t>
            </a:r>
          </a:p>
          <a:p>
            <a:pPr algn="ctr"/>
            <a:r>
              <a:rPr sz="90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Server checks</a:t>
            </a:r>
          </a:p>
          <a:p>
            <a:pPr algn="ctr"/>
            <a:r>
              <a:rPr sz="90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Signs</a:t>
            </a:r>
          </a:p>
          <a:p>
            <a:pPr algn="ctr"/>
            <a:r>
              <a:rPr sz="90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QR carries</a:t>
            </a:r>
          </a:p>
          <a:p>
            <a:pPr algn="ctr"/>
            <a:r>
              <a:rPr sz="90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Any phone checks</a:t>
            </a:r>
          </a:p>
          <a:p>
            <a:pPr algn="ctr"/>
            <a:r>
              <a:rPr sz="90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Result</a:t>
            </a:r>
          </a:p>
          <a:p>
            <a:pPr algn="ctr"/>
            <a:r>
              <a:rPr sz="90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lIns="0" tIns="0" rIns="0" bIns="0" anchor="t">
            <a:spAutoFit/>
          </a:bodyPr>
          <a:lstStyle/>
          <a:p>
            <a:pPr algn="l"/>
            <a:r>
              <a:rPr sz="1250" b="1" i="0">
                <a:solidFill>
                  <a:srgbClr val="B5520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No network</a:t>
            </a:r>
          </a:p>
          <a:p>
            <a:pPr algn="ctr"/>
            <a:r>
              <a:rPr sz="90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Inspect</a:t>
            </a:r>
          </a:p>
          <a:p>
            <a:pPr algn="ctr"/>
            <a:r>
              <a:rPr sz="90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Save</a:t>
            </a:r>
          </a:p>
          <a:p>
            <a:pPr algn="ctr"/>
            <a:r>
              <a:rPr sz="90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Back online</a:t>
            </a:r>
          </a:p>
          <a:p>
            <a:pPr algn="ctr"/>
            <a:r>
              <a:rPr sz="90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Certificate</a:t>
            </a:r>
          </a:p>
          <a:p>
            <a:pPr algn="ctr"/>
            <a:r>
              <a:rPr sz="90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Owner told</a:t>
            </a:r>
          </a:p>
          <a:p>
            <a:pPr algn="ctr"/>
            <a:r>
              <a:rPr sz="90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lIns="0" tIns="0" rIns="0" bIns="0" anchor="t">
            <a:spAutoFit/>
          </a:bodyPr>
          <a:lstStyle/>
          <a:p>
            <a:pPr algn="l"/>
            <a:r>
              <a:rPr sz="1300" b="1" i="0">
                <a:solidFill>
                  <a:srgbClr val="1F3F6E"/>
                </a:solidFill>
                <a:latin typeface="Calibri"/>
              </a:rPr>
              <a:t>TECHNOLOGIES TO BE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1F3F6E"/>
                </a:solidFill>
                <a:latin typeface="Calibri"/>
              </a:rPr>
              <a:t>React 19 · TypeScript · Vite · Tailwind</a:t>
            </a:r>
            <a:r>
              <a:rPr sz="90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1F3F6E"/>
                </a:solidFill>
                <a:latin typeface="Calibri"/>
              </a:rPr>
              <a:t>Service worker · local store · sync queue</a:t>
            </a:r>
            <a:r>
              <a:rPr sz="90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1F3F6E"/>
                </a:solidFill>
                <a:latin typeface="Calibri"/>
              </a:rPr>
              <a:t>Supabase Postgres · RLS · Auth · Realtime</a:t>
            </a:r>
            <a:r>
              <a:rPr sz="90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1F3F6E"/>
                </a:solidFill>
                <a:latin typeface="Calibri"/>
              </a:rPr>
              <a:t>Vercel functions · ECDSA P-256 · jsQR</a:t>
            </a:r>
            <a:r>
              <a:rPr sz="900" b="0" i="0">
                <a:solidFill>
                  <a:srgbClr val="5B6573"/>
                </a:solidFill>
                <a:latin typeface="Calibri"/>
              </a:rPr>
              <a:t>  server signs, phone checks</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6B3FA0"/>
                </a:solidFill>
                <a:latin typeface="Calibri"/>
              </a:rPr>
              <a:t>Google Gemini (Flash)</a:t>
            </a:r>
            <a:r>
              <a:rPr sz="900" b="0" i="0">
                <a:solidFill>
                  <a:srgbClr val="5B6573"/>
                </a:solidFill>
                <a:latin typeface="Calibri"/>
              </a:rPr>
              <a:t>  application checks,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1F3F6E"/>
                </a:solidFill>
                <a:latin typeface="Calibri"/>
              </a:rPr>
              <a:t>Resend · Twilio · jsPDF</a:t>
            </a:r>
            <a:r>
              <a:rPr sz="90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lIns="0" tIns="0" rIns="0" bIns="0" anchor="t">
            <a:spAutoFit/>
          </a:bodyPr>
          <a:lstStyle/>
          <a:p>
            <a:pPr algn="l"/>
            <a:r>
              <a:rPr sz="1300" b="1" i="0">
                <a:solidFill>
                  <a:srgbClr val="1F3F6E"/>
                </a:solidFill>
                <a:latin typeface="Calibri"/>
              </a:rPr>
              <a:t>ON A PHONE, FROM THE LIVE PROTOTYPE</a:t>
            </a:r>
          </a:p>
        </p:txBody>
      </p:sp>
      <p:pic>
        <p:nvPicPr>
          <p:cNvPr id="17466" name="Picture 17465" descr="shot12_verify.jpg"/>
          <p:cNvPicPr>
            <a:picLocks noChangeAspect="1"/>
          </p:cNvPicPr>
          <p:nvPr/>
        </p:nvPicPr>
        <p:blipFill>
          <a:blip r:embed="rId4"/>
          <a:srcRect t="13270" b="3071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lIns="0" tIns="0" rIns="0" bIns="0" anchor="t">
            <a:spAutoFit/>
          </a:bodyPr>
          <a:lstStyle/>
          <a:p>
            <a:pPr algn="ctr"/>
            <a:r>
              <a:rPr sz="950" b="1" i="0">
                <a:solidFill>
                  <a:srgbClr val="1F2937"/>
                </a:solidFill>
                <a:latin typeface="Calibri"/>
              </a:rPr>
              <a:t>Buyer scans a fake: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lIns="0" tIns="0" rIns="0" bIns="0" anchor="t">
            <a:spAutoFit/>
          </a:bodyPr>
          <a:lstStyle/>
          <a:p>
            <a:pPr algn="ctr"/>
            <a:r>
              <a:rPr sz="950" b="1" i="0">
                <a:solidFill>
                  <a:srgbClr val="1F2937"/>
                </a:solidFill>
                <a:latin typeface="Calibri"/>
              </a:rPr>
              <a:t>Reading over the limit: FAIL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lIns="0" tIns="0" rIns="0" bIns="0" anchor="t">
            <a:spAutoFit/>
          </a:bodyPr>
          <a:lstStyle/>
          <a:p>
            <a:pPr algn="l"/>
            <a:r>
              <a:rPr sz="130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docs, fee, DoCA approval check</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B5520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lIns="0" tIns="0" rIns="0" bIns="0" anchor="t">
            <a:spAutoFit/>
          </a:bodyPr>
          <a:lstStyle/>
          <a:p>
            <a:pPr algn="l"/>
            <a:r>
              <a:rPr sz="1200" b="1" i="0">
                <a:solidFill>
                  <a:srgbClr val="B5520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B5520F"/>
                </a:solidFill>
                <a:latin typeface="Calibri"/>
              </a:rPr>
              <a:t>1 · Field trial</a:t>
            </a:r>
          </a:p>
          <a:p>
            <a:pPr algn="l"/>
            <a:r>
              <a:rPr sz="95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B5520F"/>
                </a:solidFill>
                <a:latin typeface="Calibri"/>
              </a:rPr>
              <a:t>2 · District pilot</a:t>
            </a:r>
          </a:p>
          <a:p>
            <a:pPr algn="l"/>
            <a:r>
              <a:rPr sz="95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B5520F"/>
                </a:solidFill>
                <a:latin typeface="Calibri"/>
              </a:rPr>
              <a:t>3 · State rollout</a:t>
            </a:r>
          </a:p>
          <a:p>
            <a:pPr algn="l"/>
            <a:r>
              <a:rPr sz="95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B5520F"/>
                </a:solidFill>
                <a:latin typeface="Calibri"/>
              </a:rPr>
              <a:t>4 · Multi-State</a:t>
            </a:r>
          </a:p>
          <a:p>
            <a:pPr algn="l"/>
            <a:r>
              <a:rPr sz="95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lIns="0" tIns="0" rIns="0" bIns="0" anchor="t">
            <a:spAutoFit/>
          </a:bodyPr>
          <a:lstStyle/>
          <a:p>
            <a:pPr algn="l"/>
            <a:r>
              <a:rPr sz="12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Grow in the market</a:t>
            </a:r>
          </a:p>
          <a:p>
            <a:pPr algn="l"/>
            <a:r>
              <a:rPr sz="90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Survive</a:t>
            </a:r>
          </a:p>
          <a:p>
            <a:pPr algn="l"/>
            <a:r>
              <a:rPr sz="900" b="0" i="0">
                <a:solidFill>
                  <a:srgbClr val="1F2937"/>
                </a:solidFill>
                <a:latin typeface="Calibri"/>
              </a:rPr>
              <a:t>No licence fee; pay-per-use cloud whose cost fits in the service charge States already add. No lock-in: public code, standard Postgres, moves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Get funded</a:t>
            </a:r>
          </a:p>
          <a:p>
            <a:pPr algn="l"/>
            <a:r>
              <a:rPr sz="90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097280"/>
            <a:ext cx="1737360" cy="329184"/>
          </a:xfrm>
          <a:prstGeom prst="rect">
            <a:avLst/>
          </a:prstGeom>
          <a:noFill/>
        </p:spPr>
        <p:txBody>
          <a:bodyPr wrap="square" lIns="0" tIns="0" rIns="0" bIns="0" anchor="t">
            <a:spAutoFit/>
          </a:bodyPr>
          <a:lstStyle/>
          <a:p>
            <a:pPr algn="l"/>
            <a:r>
              <a:rPr sz="1000" b="1" i="0">
                <a:solidFill>
                  <a:srgbClr val="1F3F6E"/>
                </a:solidFill>
                <a:latin typeface="Calibri"/>
              </a:rPr>
              <a:t>POTENTIAL CHALLENGES AND RISKS</a:t>
            </a:r>
          </a:p>
        </p:txBody>
      </p:sp>
      <p:sp>
        <p:nvSpPr>
          <p:cNvPr id="17457" name="TextBox 17456"/>
          <p:cNvSpPr txBox="1"/>
          <p:nvPr/>
        </p:nvSpPr>
        <p:spPr>
          <a:xfrm>
            <a:off x="9281160" y="1097280"/>
            <a:ext cx="2542032" cy="329184"/>
          </a:xfrm>
          <a:prstGeom prst="rect">
            <a:avLst/>
          </a:prstGeom>
          <a:noFill/>
        </p:spPr>
        <p:txBody>
          <a:bodyPr wrap="square" lIns="0" tIns="0" rIns="0" bIns="0" anchor="t">
            <a:spAutoFit/>
          </a:bodyPr>
          <a:lstStyle/>
          <a:p>
            <a:pPr algn="l"/>
            <a:r>
              <a:rPr sz="1000" b="1" i="0">
                <a:solidFill>
                  <a:srgbClr val="1F3F6E"/>
                </a:solidFill>
                <a:latin typeface="Calibri"/>
              </a:rPr>
              <a:t>STRATEGIES FOR OVERCOMING THESE CHALLENGES</a:t>
            </a:r>
          </a:p>
        </p:txBody>
      </p:sp>
      <p:sp>
        <p:nvSpPr>
          <p:cNvPr id="17458" name="Rectangle 17457"/>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B5520F"/>
                </a:solidFill>
                <a:latin typeface="Calibri"/>
              </a:rPr>
              <a:t>No network at site</a:t>
            </a:r>
          </a:p>
        </p:txBody>
      </p:sp>
      <p:sp>
        <p:nvSpPr>
          <p:cNvPr id="17459" name="Rectangle 17458"/>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F2937"/>
                </a:solidFill>
                <a:latin typeface="Calibri"/>
              </a:rPr>
              <a:t>Offline app; syncs, signs and notifies later</a:t>
            </a:r>
          </a:p>
        </p:txBody>
      </p:sp>
      <p:sp>
        <p:nvSpPr>
          <p:cNvPr id="17460" name="Rectangle 17459"/>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B5520F"/>
                </a:solidFill>
                <a:latin typeface="Calibri"/>
              </a:rPr>
              <a:t>Fake / copied QR</a:t>
            </a:r>
          </a:p>
        </p:txBody>
      </p:sp>
      <p:sp>
        <p:nvSpPr>
          <p:cNvPr id="17461" name="Rectangle 17460"/>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F2937"/>
                </a:solidFill>
                <a:latin typeface="Calibri"/>
              </a:rPr>
              <a:t>Signed QR + revocation list; serial shown on scan</a:t>
            </a:r>
          </a:p>
        </p:txBody>
      </p:sp>
      <p:sp>
        <p:nvSpPr>
          <p:cNvPr id="17462" name="Rectangle 17461"/>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B5520F"/>
                </a:solidFill>
                <a:latin typeface="Calibri"/>
              </a:rPr>
              <a:t>Rules differ by State</a:t>
            </a:r>
          </a:p>
        </p:txBody>
      </p:sp>
      <p:sp>
        <p:nvSpPr>
          <p:cNvPr id="17463" name="Rectangle 17462"/>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F2937"/>
                </a:solidFill>
                <a:latin typeface="Calibri"/>
              </a:rPr>
              <a:t>Fees and validity are data per State</a:t>
            </a:r>
          </a:p>
        </p:txBody>
      </p:sp>
      <p:sp>
        <p:nvSpPr>
          <p:cNvPr id="17464" name="Rectangle 17463"/>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B5520F"/>
                </a:solidFill>
                <a:latin typeface="Calibri"/>
              </a:rPr>
              <a:t>Data privacy (DPDP 2023)</a:t>
            </a:r>
          </a:p>
        </p:txBody>
      </p:sp>
      <p:sp>
        <p:nvSpPr>
          <p:cNvPr id="17465" name="Rectangle 17464"/>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F2937"/>
                </a:solidFill>
                <a:latin typeface="Calibri"/>
              </a:rPr>
              <a:t>Row-level security, minimal public fields; AI sees no personal data</a:t>
            </a:r>
          </a:p>
        </p:txBody>
      </p:sp>
      <p:sp>
        <p:nvSpPr>
          <p:cNvPr id="17466" name="Rectangle 17465"/>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B5520F"/>
                </a:solidFill>
                <a:latin typeface="Calibri"/>
              </a:rPr>
              <a:t>AI mistakes</a:t>
            </a:r>
          </a:p>
        </p:txBody>
      </p:sp>
      <p:sp>
        <p:nvSpPr>
          <p:cNvPr id="17467" name="Rectangle 17466"/>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F2937"/>
                </a:solidFill>
                <a:latin typeface="Calibri"/>
              </a:rPr>
              <a:t>Advisory only; officer decides; logged</a:t>
            </a:r>
          </a:p>
        </p:txBody>
      </p:sp>
      <p:sp>
        <p:nvSpPr>
          <p:cNvPr id="17468" name="Rectangle 17467"/>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B5520F"/>
                </a:solidFill>
                <a:latin typeface="Calibri"/>
              </a:rPr>
              <a:t>Officer adoption</a:t>
            </a:r>
          </a:p>
        </p:txBody>
      </p:sp>
      <p:sp>
        <p:nvSpPr>
          <p:cNvPr id="17469" name="Rectangle 17468"/>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1F2937"/>
                </a:solidFill>
                <a:latin typeface="Calibri"/>
              </a:rPr>
              <a:t>Field trial first; plain home screen per role; larger text option, Hindi</a:t>
            </a:r>
          </a:p>
        </p:txBody>
      </p:sp>
      <p:sp>
        <p:nvSpPr>
          <p:cNvPr id="17470" name="Rounded Rectangle 17469"/>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71" name="Picture 17470" descr="image.png">
            <a:hlinkClick r:id="rId4"/>
          </p:cNvPr>
          <p:cNvPicPr>
            <a:picLocks noChangeAspect="1"/>
          </p:cNvPicPr>
          <p:nvPr/>
        </p:nvPicPr>
        <p:blipFill>
          <a:blip r:embed="rId5"/>
          <a:stretch>
            <a:fillRect/>
          </a:stretch>
        </p:blipFill>
        <p:spPr>
          <a:xfrm>
            <a:off x="7653527" y="4270248"/>
            <a:ext cx="1325880" cy="1325880"/>
          </a:xfrm>
          <a:prstGeom prst="rect">
            <a:avLst/>
          </a:prstGeom>
        </p:spPr>
      </p:pic>
      <p:sp>
        <p:nvSpPr>
          <p:cNvPr id="17472" name="TextBox 17471"/>
          <p:cNvSpPr txBox="1"/>
          <p:nvPr/>
        </p:nvSpPr>
        <p:spPr>
          <a:xfrm>
            <a:off x="9098280" y="4270248"/>
            <a:ext cx="2633472" cy="1300356"/>
          </a:xfrm>
          <a:prstGeom prst="rect">
            <a:avLst/>
          </a:prstGeom>
          <a:noFill/>
        </p:spPr>
        <p:txBody>
          <a:bodyPr wrap="square" lIns="0" tIns="0" rIns="0" bIns="0" anchor="t">
            <a:spAutoFit/>
          </a:bodyPr>
          <a:lstStyle/>
          <a:p>
            <a:pPr algn="l">
              <a:spcAft>
                <a:spcPts val="300"/>
              </a:spcAft>
            </a:pPr>
            <a:r>
              <a:rPr sz="1350" b="1" i="0">
                <a:solidFill>
                  <a:srgbClr val="1F3F6E"/>
                </a:solidFill>
                <a:latin typeface="Calibri"/>
              </a:rPr>
              <a:t>Complete live demo</a:t>
            </a:r>
          </a:p>
          <a:p>
            <a:pPr algn="l">
              <a:spcAft>
                <a:spcPts val="300"/>
              </a:spcAft>
            </a:pPr>
            <a:r>
              <a:rPr sz="10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1050" b="1" i="0">
                <a:solidFill>
                  <a:srgbClr val="1F2937"/>
                </a:solidFill>
                <a:latin typeface="Calibri"/>
              </a:rPr>
              <a:t>One-tap evaluator sign-in on the site</a:t>
            </a:r>
          </a:p>
          <a:p>
            <a:pPr algn="l">
              <a:spcAft>
                <a:spcPts val="300"/>
              </a:spcAft>
            </a:pPr>
            <a:r>
              <a:rPr sz="1100" b="1" i="0" u="sng">
                <a:solidFill>
                  <a:srgbClr val="0070C0"/>
                </a:solidFill>
                <a:latin typeface="Calibri"/>
                <a:hlinkClick r:id="rId4"/>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lIns="0" tIns="0" rIns="0" bIns="0" anchor="t">
            <a:spAutoFit/>
          </a:bodyPr>
          <a:lstStyle/>
          <a:p>
            <a:pPr algn="l"/>
            <a:r>
              <a:rPr sz="130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2" name="TextBox 17411"/>
          <p:cNvSpPr txBox="1"/>
          <p:nvPr/>
        </p:nvSpPr>
        <p:spPr>
          <a:xfrm>
            <a:off x="502920" y="1517904"/>
            <a:ext cx="1904238" cy="320040"/>
          </a:xfrm>
          <a:prstGeom prst="rect">
            <a:avLst/>
          </a:prstGeom>
          <a:noFill/>
        </p:spPr>
        <p:txBody>
          <a:bodyPr wrap="square" lIns="0" tIns="0" rIns="0" bIns="0" anchor="t">
            <a:spAutoFit/>
          </a:bodyPr>
          <a:lstStyle/>
          <a:p>
            <a:pPr algn="l"/>
            <a:r>
              <a:rPr sz="135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559127"/>
          </a:xfrm>
          <a:prstGeom prst="rect">
            <a:avLst/>
          </a:prstGeom>
          <a:noFill/>
        </p:spPr>
        <p:txBody>
          <a:bodyPr wrap="square" lIns="0" tIns="0" rIns="0" bIns="0" anchor="t">
            <a:spAutoFit/>
          </a:bodyPr>
          <a:lstStyle/>
          <a:p>
            <a:pPr algn="l">
              <a:spcAft>
                <a:spcPts val="200"/>
              </a:spcAft>
            </a:pPr>
            <a:r>
              <a:rPr sz="1100" b="0" i="0">
                <a:solidFill>
                  <a:srgbClr val="1F2937"/>
                </a:solidFill>
                <a:latin typeface="Calibri"/>
              </a:rPr>
              <a:t>•  Assigned inspections, even offline</a:t>
            </a:r>
          </a:p>
          <a:p>
            <a:pPr algn="l">
              <a:spcAft>
                <a:spcPts val="200"/>
              </a:spcAft>
            </a:pPr>
            <a:r>
              <a:rPr sz="1100" b="0" i="0">
                <a:solidFill>
                  <a:srgbClr val="1F2937"/>
                </a:solidFill>
                <a:latin typeface="Calibri"/>
              </a:rPr>
              <a:t>•  Pass / fail computed automatically</a:t>
            </a:r>
          </a:p>
          <a:p>
            <a:pPr algn="l">
              <a:spcAft>
                <a:spcPts val="200"/>
              </a:spcAft>
            </a:pPr>
            <a:r>
              <a:rPr sz="11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7" name="TextBox 17416"/>
          <p:cNvSpPr txBox="1"/>
          <p:nvPr/>
        </p:nvSpPr>
        <p:spPr>
          <a:xfrm>
            <a:off x="3412998" y="1517904"/>
            <a:ext cx="1904238" cy="320040"/>
          </a:xfrm>
          <a:prstGeom prst="rect">
            <a:avLst/>
          </a:prstGeom>
          <a:noFill/>
        </p:spPr>
        <p:txBody>
          <a:bodyPr wrap="square" lIns="0" tIns="0" rIns="0" bIns="0" anchor="t">
            <a:spAutoFit/>
          </a:bodyPr>
          <a:lstStyle/>
          <a:p>
            <a:pPr algn="l"/>
            <a:r>
              <a:rPr sz="135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559127"/>
          </a:xfrm>
          <a:prstGeom prst="rect">
            <a:avLst/>
          </a:prstGeom>
          <a:noFill/>
        </p:spPr>
        <p:txBody>
          <a:bodyPr wrap="square" lIns="0" tIns="0" rIns="0" bIns="0" anchor="t">
            <a:spAutoFit/>
          </a:bodyPr>
          <a:lstStyle/>
          <a:p>
            <a:pPr algn="l">
              <a:spcAft>
                <a:spcPts val="200"/>
              </a:spcAft>
            </a:pPr>
            <a:r>
              <a:rPr sz="1100" b="0" i="0">
                <a:solidFill>
                  <a:srgbClr val="1F2937"/>
                </a:solidFill>
                <a:latin typeface="Calibri"/>
              </a:rPr>
              <a:t>•  Apply and pay without a visit</a:t>
            </a:r>
          </a:p>
          <a:p>
            <a:pPr algn="l">
              <a:spcAft>
                <a:spcPts val="200"/>
              </a:spcAft>
            </a:pPr>
            <a:r>
              <a:rPr sz="1100" b="0" i="0">
                <a:solidFill>
                  <a:srgbClr val="1F2937"/>
                </a:solidFill>
                <a:latin typeface="Calibri"/>
              </a:rPr>
              <a:t>•  SMS / email at every step</a:t>
            </a:r>
          </a:p>
          <a:p>
            <a:pPr algn="l">
              <a:spcAft>
                <a:spcPts val="200"/>
              </a:spcAft>
            </a:pPr>
            <a:r>
              <a:rPr sz="11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2" name="TextBox 17421"/>
          <p:cNvSpPr txBox="1"/>
          <p:nvPr/>
        </p:nvSpPr>
        <p:spPr>
          <a:xfrm>
            <a:off x="6323076" y="1517904"/>
            <a:ext cx="1904238" cy="320040"/>
          </a:xfrm>
          <a:prstGeom prst="rect">
            <a:avLst/>
          </a:prstGeom>
          <a:noFill/>
        </p:spPr>
        <p:txBody>
          <a:bodyPr wrap="square" lIns="0" tIns="0" rIns="0" bIns="0" anchor="t">
            <a:spAutoFit/>
          </a:bodyPr>
          <a:lstStyle/>
          <a:p>
            <a:pPr algn="l"/>
            <a:r>
              <a:rPr sz="1350" b="1" i="0">
                <a:solidFill>
                  <a:srgbClr val="B5520F"/>
                </a:solidFill>
                <a:latin typeface="Calibri"/>
              </a:rPr>
              <a:t>Consumers</a:t>
            </a:r>
          </a:p>
        </p:txBody>
      </p:sp>
      <p:sp>
        <p:nvSpPr>
          <p:cNvPr id="17423" name="Oval 17422"/>
          <p:cNvSpPr/>
          <p:nvPr/>
        </p:nvSpPr>
        <p:spPr>
          <a:xfrm>
            <a:off x="8346186" y="1499616"/>
            <a:ext cx="420624" cy="420624"/>
          </a:xfrm>
          <a:prstGeom prst="ellipse">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559127"/>
          </a:xfrm>
          <a:prstGeom prst="rect">
            <a:avLst/>
          </a:prstGeom>
          <a:noFill/>
        </p:spPr>
        <p:txBody>
          <a:bodyPr wrap="square" lIns="0" tIns="0" rIns="0" bIns="0" anchor="t">
            <a:spAutoFit/>
          </a:bodyPr>
          <a:lstStyle/>
          <a:p>
            <a:pPr algn="l">
              <a:spcAft>
                <a:spcPts val="200"/>
              </a:spcAft>
            </a:pPr>
            <a:r>
              <a:rPr sz="1100" b="0" i="0">
                <a:solidFill>
                  <a:srgbClr val="1F2937"/>
                </a:solidFill>
                <a:latin typeface="Calibri"/>
              </a:rPr>
              <a:t>•  Scan any certificate QR</a:t>
            </a:r>
          </a:p>
          <a:p>
            <a:pPr algn="l">
              <a:spcAft>
                <a:spcPts val="200"/>
              </a:spcAft>
            </a:pPr>
            <a:r>
              <a:rPr sz="1100" b="0" i="0">
                <a:solidFill>
                  <a:srgbClr val="1F2937"/>
                </a:solidFill>
                <a:latin typeface="Calibri"/>
              </a:rPr>
              <a:t>•  Fakes and edits are rejected</a:t>
            </a:r>
          </a:p>
          <a:p>
            <a:pPr algn="l">
              <a:spcAft>
                <a:spcPts val="200"/>
              </a:spcAft>
            </a:pPr>
            <a:r>
              <a:rPr sz="11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7" name="TextBox 17426"/>
          <p:cNvSpPr txBox="1"/>
          <p:nvPr/>
        </p:nvSpPr>
        <p:spPr>
          <a:xfrm>
            <a:off x="9233154" y="1517904"/>
            <a:ext cx="1904238" cy="320040"/>
          </a:xfrm>
          <a:prstGeom prst="rect">
            <a:avLst/>
          </a:prstGeom>
          <a:noFill/>
        </p:spPr>
        <p:txBody>
          <a:bodyPr wrap="square" lIns="0" tIns="0" rIns="0" bIns="0" anchor="t">
            <a:spAutoFit/>
          </a:bodyPr>
          <a:lstStyle/>
          <a:p>
            <a:pPr algn="l"/>
            <a:r>
              <a:rPr sz="135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559127"/>
          </a:xfrm>
          <a:prstGeom prst="rect">
            <a:avLst/>
          </a:prstGeom>
          <a:noFill/>
        </p:spPr>
        <p:txBody>
          <a:bodyPr wrap="square" lIns="0" tIns="0" rIns="0" bIns="0" anchor="t">
            <a:spAutoFit/>
          </a:bodyPr>
          <a:lstStyle/>
          <a:p>
            <a:pPr algn="l">
              <a:spcAft>
                <a:spcPts val="200"/>
              </a:spcAft>
            </a:pPr>
            <a:r>
              <a:rPr sz="1100" b="0" i="0">
                <a:solidFill>
                  <a:srgbClr val="1F2937"/>
                </a:solidFill>
                <a:latin typeface="Calibri"/>
              </a:rPr>
              <a:t>•  Pending by stage, age, district</a:t>
            </a:r>
          </a:p>
          <a:p>
            <a:pPr algn="l">
              <a:spcAft>
                <a:spcPts val="200"/>
              </a:spcAft>
            </a:pPr>
            <a:r>
              <a:rPr sz="1100" b="0" i="0">
                <a:solidFill>
                  <a:srgbClr val="1F2937"/>
                </a:solidFill>
                <a:latin typeface="Calibri"/>
              </a:rPr>
              <a:t>•  Inspections due and overdue</a:t>
            </a:r>
          </a:p>
          <a:p>
            <a:pPr algn="l">
              <a:spcAft>
                <a:spcPts val="200"/>
              </a:spcAft>
            </a:pPr>
            <a:r>
              <a:rPr sz="11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lIns="0" tIns="0" rIns="0" bIns="0" anchor="t">
            <a:spAutoFit/>
          </a:bodyPr>
          <a:lstStyle/>
          <a:p>
            <a:pPr algn="l"/>
            <a:r>
              <a:rPr sz="130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2 min 51 s</a:t>
            </a:r>
          </a:p>
          <a:p>
            <a:pPr algn="ctr"/>
            <a:r>
              <a:rPr sz="10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s</a:t>
            </a:r>
          </a:p>
          <a:p>
            <a:pPr algn="ctr"/>
            <a:r>
              <a:rPr sz="1000" b="0" i="0">
                <a:solidFill>
                  <a:srgbClr val="E6F4EC"/>
                </a:solidFill>
                <a:latin typeface="Calibri"/>
              </a:rPr>
              <a:t>certificate issued → signed copy back on the phone (incl. network)</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 6</a:t>
            </a:r>
          </a:p>
          <a:p>
            <a:pPr algn="ctr"/>
            <a:r>
              <a:rPr sz="10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0</a:t>
            </a:r>
          </a:p>
          <a:p>
            <a:pPr algn="ctr"/>
            <a:r>
              <a:rPr sz="10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lIns="0" tIns="0" rIns="0" bIns="0" anchor="t">
            <a:spAutoFit/>
          </a:bodyPr>
          <a:lstStyle/>
          <a:p>
            <a:pPr algn="l"/>
            <a:r>
              <a:rPr sz="1300" b="1" i="0">
                <a:solidFill>
                  <a:srgbClr val="1F3F6E"/>
                </a:solidFill>
                <a:latin typeface="Calibri"/>
              </a:rPr>
              <a:t>PILOT TARGETS (to be compared with the pilot district's paper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 7 days</a:t>
            </a:r>
          </a:p>
          <a:p>
            <a:pPr algn="ctr"/>
            <a:r>
              <a:rPr sz="10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&lt; 3 s</a:t>
            </a:r>
          </a:p>
          <a:p>
            <a:pPr algn="ctr"/>
            <a:r>
              <a:rPr sz="10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100%</a:t>
            </a:r>
          </a:p>
          <a:p>
            <a:pPr algn="ctr"/>
            <a:r>
              <a:rPr sz="10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0</a:t>
            </a:r>
          </a:p>
          <a:p>
            <a:pPr algn="ctr"/>
            <a:r>
              <a:rPr sz="10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lIns="0" tIns="0" rIns="0" bIns="0" anchor="t">
            <a:spAutoFit/>
          </a:bodyPr>
          <a:lstStyle/>
          <a:p>
            <a:pPr algn="l"/>
            <a:r>
              <a:rPr sz="130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1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1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1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1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lIns="0" tIns="0" rIns="0" bIns="0" anchor="t">
            <a:spAutoFit/>
          </a:bodyPr>
          <a:lstStyle/>
          <a:p>
            <a:pPr algn="l"/>
            <a:r>
              <a:rPr sz="130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lIns="0" tIns="0" rIns="0" bIns="0" anchor="t">
            <a:spAutoFit/>
          </a:bodyPr>
          <a:lstStyle/>
          <a:p>
            <a:pPr algn="l"/>
            <a:r>
              <a:rPr sz="12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lIns="0" tIns="0" rIns="0" bIns="0" anchor="t">
            <a:spAutoFit/>
          </a:bodyPr>
          <a:lstStyle/>
          <a:p>
            <a:pPr algn="l"/>
            <a:r>
              <a:rPr sz="12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Delhi and Gujarat publish the same Schedule IX fees; rule 16 adds on-site and late fees; validity is rule 27 (12 or 24 months).</a:t>
            </a:r>
          </a:p>
        </p:txBody>
      </p:sp>
      <p:cxnSp>
        <p:nvCxnSpPr>
          <p:cNvPr id="17419" name="Connector 17418"/>
          <p:cNvCxnSpPr/>
          <p:nvPr/>
        </p:nvCxnSpPr>
        <p:spPr>
          <a:xfrm>
            <a:off x="4059936" y="2816351"/>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Gazetted schedules loaded as data; every fee cites its item and links the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Certificate form is Schedule VIII; the stamp carries the officer's number and a quarter mark A to D (rule 15).</a:t>
            </a:r>
          </a:p>
        </p:txBody>
      </p:sp>
      <p:cxnSp>
        <p:nvCxnSpPr>
          <p:cNvPr id="17423" name="Connector 17422"/>
          <p:cNvCxnSpPr/>
          <p:nvPr/>
        </p:nvCxnSpPr>
        <p:spPr>
          <a:xfrm>
            <a:off x="4059936" y="3566160"/>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Certificate and PDF follow Schedule VIII, signed and QR-checkable</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DoCA publishes all 10,050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Error limits are set by the LM (General) Rules 2011 (Seventh and Eighth Schedules), based on OIML R 76 and R 117.</a:t>
            </a:r>
          </a:p>
        </p:txBody>
      </p:sp>
      <p:cxnSp>
        <p:nvCxnSpPr>
          <p:cNvPr id="17431" name="Connector 17430"/>
          <p:cNvCxnSpPr/>
          <p:nvPr/>
        </p:nvCxnSpPr>
        <p:spPr>
          <a:xfrm>
            <a:off x="4059936" y="5065776"/>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Pass / fail computed from recorded readings against those limits,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38" name="TextBox 17437"/>
          <p:cNvSpPr txBox="1"/>
          <p:nvPr/>
        </p:nvSpPr>
        <p:spPr>
          <a:xfrm>
            <a:off x="7726680" y="1481328"/>
            <a:ext cx="3959352" cy="274320"/>
          </a:xfrm>
          <a:prstGeom prst="rect">
            <a:avLst/>
          </a:prstGeom>
          <a:noFill/>
        </p:spPr>
        <p:txBody>
          <a:bodyPr wrap="square" lIns="0" tIns="0" rIns="0" bIns="0" anchor="t">
            <a:spAutoFit/>
          </a:bodyPr>
          <a:lstStyle/>
          <a:p>
            <a:pPr algn="l"/>
            <a:r>
              <a:rPr sz="1250" b="1" i="0">
                <a:solidFill>
                  <a:srgbClr val="0070C0"/>
                </a:solidFill>
                <a:latin typeface="Calibri"/>
              </a:rPr>
              <a:t>References (official, click to open)</a:t>
            </a:r>
          </a:p>
        </p:txBody>
      </p:sp>
      <p:sp>
        <p:nvSpPr>
          <p:cNvPr id="17439" name="TextBox 17438"/>
          <p:cNvSpPr txBox="1"/>
          <p:nvPr/>
        </p:nvSpPr>
        <p:spPr>
          <a:xfrm>
            <a:off x="7726680" y="1755648"/>
            <a:ext cx="3959352" cy="1536192"/>
          </a:xfrm>
          <a:prstGeom prst="rect">
            <a:avLst/>
          </a:prstGeom>
          <a:noFill/>
        </p:spPr>
        <p:txBody>
          <a:bodyPr wrap="square">
            <a:spAutoFit/>
          </a:bodyPr>
          <a:lstStyle/>
          <a:p>
            <a:pPr>
              <a:spcAft>
                <a:spcPts val="150"/>
              </a:spcAft>
            </a:pPr>
            <a:r>
              <a:rPr sz="1000" b="1" i="0">
                <a:solidFill>
                  <a:srgbClr val="0070C0"/>
                </a:solidFill>
                <a:latin typeface="Calibri"/>
              </a:rPr>
              <a:t>1.  </a:t>
            </a:r>
            <a:r>
              <a:rPr sz="1000" b="0" i="0" u="sng">
                <a:solidFill>
                  <a:srgbClr val="1F3F6E"/>
                </a:solidFill>
                <a:latin typeface="Calibri"/>
                <a:hlinkClick r:id="rId4"/>
              </a:rPr>
              <a:t>Legal Metrology Act, 2009</a:t>
            </a:r>
          </a:p>
          <a:p>
            <a:pPr>
              <a:spcAft>
                <a:spcPts val="150"/>
              </a:spcAft>
            </a:pPr>
            <a:r>
              <a:rPr sz="1000" b="1" i="0">
                <a:solidFill>
                  <a:srgbClr val="0070C0"/>
                </a:solidFill>
                <a:latin typeface="Calibri"/>
              </a:rPr>
              <a:t>2.  </a:t>
            </a:r>
            <a:r>
              <a:rPr sz="1000" b="0" i="0" u="sng">
                <a:solidFill>
                  <a:srgbClr val="1F3F6E"/>
                </a:solidFill>
                <a:latin typeface="Calibri"/>
                <a:hlinkClick r:id="rId5"/>
              </a:rPr>
              <a:t>Delhi LM (Enforcement) Rules 2011: Sch. VIII, IX</a:t>
            </a:r>
            <a:r>
              <a:rPr sz="1000" b="0" i="0">
                <a:solidFill>
                  <a:srgbClr val="1F3F6E"/>
                </a:solidFill>
                <a:latin typeface="Calibri"/>
              </a:rPr>
              <a:t>  ·  </a:t>
            </a:r>
            <a:r>
              <a:rPr sz="1000" b="0" i="0" u="sng">
                <a:solidFill>
                  <a:srgbClr val="1F3F6E"/>
                </a:solidFill>
                <a:latin typeface="Calibri"/>
                <a:hlinkClick r:id="rId6"/>
              </a:rPr>
              <a:t>Sch. XI (2026)</a:t>
            </a:r>
          </a:p>
          <a:p>
            <a:pPr>
              <a:spcAft>
                <a:spcPts val="150"/>
              </a:spcAft>
            </a:pPr>
            <a:r>
              <a:rPr sz="1000" b="1" i="0">
                <a:solidFill>
                  <a:srgbClr val="0070C0"/>
                </a:solidFill>
                <a:latin typeface="Calibri"/>
              </a:rPr>
              <a:t>3.  </a:t>
            </a:r>
            <a:r>
              <a:rPr sz="1000" b="0" i="0" u="sng">
                <a:solidFill>
                  <a:srgbClr val="1F3F6E"/>
                </a:solidFill>
                <a:latin typeface="Calibri"/>
                <a:hlinkClick r:id="rId7"/>
              </a:rPr>
              <a:t>Gujarat fee schedule (Schedule IX)</a:t>
            </a:r>
          </a:p>
          <a:p>
            <a:pPr>
              <a:spcAft>
                <a:spcPts val="150"/>
              </a:spcAft>
            </a:pPr>
            <a:r>
              <a:rPr sz="1000" b="1" i="0">
                <a:solidFill>
                  <a:srgbClr val="0070C0"/>
                </a:solidFill>
                <a:latin typeface="Calibri"/>
              </a:rPr>
              <a:t>4.  </a:t>
            </a:r>
            <a:r>
              <a:rPr sz="1000" b="0" i="0" u="sng">
                <a:solidFill>
                  <a:srgbClr val="1F3F6E"/>
                </a:solidFill>
                <a:latin typeface="Calibri"/>
                <a:hlinkClick r:id="rId8"/>
              </a:rPr>
              <a:t>Delhi W&amp;M FAQ: validity periods</a:t>
            </a:r>
          </a:p>
          <a:p>
            <a:pPr>
              <a:spcAft>
                <a:spcPts val="150"/>
              </a:spcAft>
            </a:pPr>
            <a:r>
              <a:rPr sz="1000" b="1" i="0">
                <a:solidFill>
                  <a:srgbClr val="0070C0"/>
                </a:solidFill>
                <a:latin typeface="Calibri"/>
              </a:rPr>
              <a:t>5.  </a:t>
            </a:r>
            <a:r>
              <a:rPr sz="1000" b="0" i="0" u="sng">
                <a:solidFill>
                  <a:srgbClr val="1F3F6E"/>
                </a:solidFill>
                <a:latin typeface="Calibri"/>
                <a:hlinkClick r:id="rId9"/>
              </a:rPr>
              <a:t>DoCA Model Approval register (10,050 entries)</a:t>
            </a:r>
          </a:p>
          <a:p>
            <a:pPr>
              <a:spcAft>
                <a:spcPts val="150"/>
              </a:spcAft>
            </a:pPr>
            <a:r>
              <a:rPr sz="1000" b="1" i="0">
                <a:solidFill>
                  <a:srgbClr val="0070C0"/>
                </a:solidFill>
                <a:latin typeface="Calibri"/>
              </a:rPr>
              <a:t>6.  </a:t>
            </a:r>
            <a:r>
              <a:rPr sz="1000" b="0" i="0" u="sng">
                <a:solidFill>
                  <a:srgbClr val="1F3F6E"/>
                </a:solidFill>
                <a:latin typeface="Calibri"/>
                <a:hlinkClick r:id="rId10"/>
              </a:rPr>
              <a:t>LM (General) Rules 2011: instrument specifications (DoCA)</a:t>
            </a:r>
          </a:p>
          <a:p>
            <a:pPr>
              <a:spcAft>
                <a:spcPts val="150"/>
              </a:spcAft>
            </a:pPr>
            <a:r>
              <a:rPr sz="1000" b="1" i="0">
                <a:solidFill>
                  <a:srgbClr val="0070C0"/>
                </a:solidFill>
                <a:latin typeface="Calibri"/>
              </a:rPr>
              <a:t>7.  </a:t>
            </a:r>
            <a:r>
              <a:rPr sz="1000" b="0" i="0" u="sng">
                <a:solidFill>
                  <a:srgbClr val="1F3F6E"/>
                </a:solidFill>
                <a:latin typeface="Calibri"/>
                <a:hlinkClick r:id="rId11"/>
              </a:rPr>
              <a:t>OIML R 76-1 (scales)</a:t>
            </a:r>
            <a:r>
              <a:rPr sz="1000" b="0" i="0">
                <a:solidFill>
                  <a:srgbClr val="1F3F6E"/>
                </a:solidFill>
                <a:latin typeface="Calibri"/>
              </a:rPr>
              <a:t>  ·  </a:t>
            </a:r>
            <a:r>
              <a:rPr sz="1000" b="0" i="0" u="sng">
                <a:solidFill>
                  <a:srgbClr val="1F3F6E"/>
                </a:solidFill>
                <a:latin typeface="Calibri"/>
                <a:hlinkClick r:id="rId12"/>
              </a:rPr>
              <a:t>R 117-1 (fuel dispensers)</a:t>
            </a:r>
          </a:p>
          <a:p>
            <a:pPr>
              <a:spcAft>
                <a:spcPts val="150"/>
              </a:spcAft>
            </a:pPr>
            <a:r>
              <a:rPr sz="1000" b="1" i="0">
                <a:solidFill>
                  <a:srgbClr val="0070C0"/>
                </a:solidFill>
                <a:latin typeface="Calibri"/>
              </a:rPr>
              <a:t>8.  </a:t>
            </a:r>
            <a:r>
              <a:rPr sz="1000" b="0" i="0" u="sng">
                <a:solidFill>
                  <a:srgbClr val="1F3F6E"/>
                </a:solidFill>
                <a:latin typeface="Calibri"/>
                <a:hlinkClick r:id="rId13"/>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lIns="0" tIns="0" rIns="0" bIns="0" anchor="t">
            <a:spAutoFit/>
          </a:bodyPr>
          <a:lstStyle/>
          <a:p>
            <a:pPr algn="l"/>
            <a:r>
              <a:rPr sz="125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endParaRP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66" name="Picture 17465" descr="image.png">
            <a:hlinkClick r:id="rId14"/>
          </p:cNvPr>
          <p:cNvPicPr>
            <a:picLocks noChangeAspect="1"/>
          </p:cNvPicPr>
          <p:nvPr/>
        </p:nvPicPr>
        <p:blipFill>
          <a:blip r:embed="rId15"/>
          <a:stretch>
            <a:fillRect/>
          </a:stretch>
        </p:blipFill>
        <p:spPr>
          <a:xfrm>
            <a:off x="7680960" y="4965192"/>
            <a:ext cx="1188720" cy="1188720"/>
          </a:xfrm>
          <a:prstGeom prst="rect">
            <a:avLst/>
          </a:prstGeom>
        </p:spPr>
      </p:pic>
      <p:sp>
        <p:nvSpPr>
          <p:cNvPr id="17467" name="TextBox 17466"/>
          <p:cNvSpPr txBox="1"/>
          <p:nvPr/>
        </p:nvSpPr>
        <p:spPr>
          <a:xfrm>
            <a:off x="8961120" y="4983480"/>
            <a:ext cx="2770632" cy="882293"/>
          </a:xfrm>
          <a:prstGeom prst="rect">
            <a:avLst/>
          </a:prstGeom>
          <a:noFill/>
        </p:spPr>
        <p:txBody>
          <a:bodyPr wrap="square" lIns="0" tIns="0" rIns="0" bIns="0" anchor="t">
            <a:spAutoFit/>
          </a:bodyPr>
          <a:lstStyle/>
          <a:p>
            <a:pPr algn="l">
              <a:spcAft>
                <a:spcPts val="200"/>
              </a:spcAft>
            </a:pPr>
            <a:r>
              <a:rPr sz="1250" b="1" i="0">
                <a:solidFill>
                  <a:srgbClr val="1E7B4A"/>
                </a:solidFill>
                <a:latin typeface="Calibri"/>
              </a:rPr>
              <a:t>Scan: a real certificate</a:t>
            </a:r>
          </a:p>
          <a:p>
            <a:pPr algn="l">
              <a:spcAft>
                <a:spcPts val="200"/>
              </a:spcAft>
            </a:pPr>
            <a:r>
              <a:rPr sz="1050" b="0" i="0">
                <a:solidFill>
                  <a:srgbClr val="1F2937"/>
                </a:solidFill>
                <a:latin typeface="Calibri"/>
              </a:rPr>
              <a:t>DL/LM/2026/08913, issued and signed on the live system on 30 Sep 2026. Your phone checks the signature.</a:t>
            </a:r>
          </a:p>
          <a:p>
            <a:pPr algn="l">
              <a:spcAft>
                <a:spcPts val="200"/>
              </a:spcAft>
            </a:pPr>
            <a:r>
              <a:rPr sz="1000" b="0" i="0">
                <a:solidFill>
                  <a:srgbClr val="5B6573"/>
                </a:solidFill>
                <a:latin typeface="Calibri"/>
              </a:rPr>
              <a:t>Code: </a:t>
            </a:r>
            <a:r>
              <a:rPr sz="1000" b="0" i="0" u="sng">
                <a:solidFill>
                  <a:srgbClr val="5B6573"/>
                </a:solidFill>
                <a:latin typeface="Calibri"/>
                <a:hlinkClick r:id="rId16"/>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2298</Words>
  <Application>Microsoft Office PowerPoint</Application>
  <PresentationFormat>Widescreen</PresentationFormat>
  <Paragraphs>330</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Garamond</vt:lpstr>
      <vt:lpstr>Times New Roman</vt:lpstr>
      <vt:lpstr>TradeGothic</vt:lpstr>
      <vt:lpstr>Office Theme</vt:lpstr>
      <vt:lpstr>SMART INDIA HACKATHON 2026</vt:lpstr>
      <vt:lpstr>TULA: ONE INSTRUMENT, ONE DIGITAL ID </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Prerak Patadia</cp:lastModifiedBy>
  <cp:revision>149</cp:revision>
  <dcterms:created xsi:type="dcterms:W3CDTF">2013-12-12T18:46:50Z</dcterms:created>
  <dcterms:modified xsi:type="dcterms:W3CDTF">2026-10-01T10:32:33Z</dcterms:modified>
  <cp:category/>
</cp:coreProperties>
</file>