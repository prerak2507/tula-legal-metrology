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tula-legal-metrology.vercel.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tula-legal-metrology.vercel.app/demo" TargetMode="External"/><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hyperlink" Target="https://lmdca.gujarat.gov.in/clmdca/documents/the-legal-metrology-act-2009.pdf" TargetMode="External"/><Relationship Id="rId5" Type="http://schemas.openxmlformats.org/officeDocument/2006/relationships/hyperlink" Target="https://weightnmeasures.delhi.gov.in/sites/default/files/inline-files/delhi_legal_metrology_enforcement_rules_2011_english.pdf" TargetMode="External"/><Relationship Id="rId6" Type="http://schemas.openxmlformats.org/officeDocument/2006/relationships/hyperlink" Target="https://weightnmeasures.delhi.gov.in/sites/default/files/inline-files/gazette_notification_3.pdf" TargetMode="External"/><Relationship Id="rId7" Type="http://schemas.openxmlformats.org/officeDocument/2006/relationships/hyperlink" Target="https://lmdca.gujarat.gov.in/en/fee-structure" TargetMode="External"/><Relationship Id="rId8" Type="http://schemas.openxmlformats.org/officeDocument/2006/relationships/hyperlink" Target="https://fcsca.assam.gov.in/information-services/re-verification-weights-measures-0" TargetMode="External"/><Relationship Id="rId9" Type="http://schemas.openxmlformats.org/officeDocument/2006/relationships/hyperlink" Target="https://lm.doca.gov.in/modelapproval/Certificates.aspx" TargetMode="External"/><Relationship Id="rId10" Type="http://schemas.openxmlformats.org/officeDocument/2006/relationships/hyperlink" Target="https://consumeraffairs.gov.in/pages/legal-metrology-overview" TargetMode="External"/><Relationship Id="rId11" Type="http://schemas.openxmlformats.org/officeDocument/2006/relationships/hyperlink" Target="https://www.oiml.org/en/files/pdf_r/r076-1-e06.pdf" TargetMode="External"/><Relationship Id="rId12" Type="http://schemas.openxmlformats.org/officeDocument/2006/relationships/hyperlink" Target="https://www.oiml.org/en/files/pdf_r/r117-1-e19.pdf" TargetMode="External"/><Relationship Id="rId13" Type="http://schemas.openxmlformats.org/officeDocument/2006/relationships/hyperlink" Target="https://consumeraffairs.gov.in/public/upload/files/1743657766_AR%202024-25_Eng_1744632582.pdf" TargetMode="External"/><Relationship Id="rId14" Type="http://schemas.openxmlformats.org/officeDocument/2006/relationships/hyperlink" Target="https://tula-legal-metrology.vercel.app/sources" TargetMode="External"/><Relationship Id="rId15" Type="http://schemas.openxmlformats.org/officeDocument/2006/relationships/hyperlink" Target="https://tula-legal-metrology.vercel.app/verify/DL%2FLM%2F2026%2F08913" TargetMode="External"/><Relationship Id="rId16" Type="http://schemas.openxmlformats.org/officeDocument/2006/relationships/image" Target="../media/image11.png"/><Relationship Id="rId17" Type="http://schemas.openxmlformats.org/officeDocument/2006/relationships/hyperlink" Target="https://github.com/prerak2507/tula-legal-metr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3"/>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r>
              <a:rPr sz="2600" b="1" i="0">
                <a:solidFill>
                  <a:srgbClr val="FFFFFF"/>
                </a:solidFill>
                <a:latin typeface="Calibri"/>
              </a:rPr>
              <a:t>TULA  </a:t>
            </a:r>
            <a:r>
              <a:rPr sz="135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257800"/>
            <a:ext cx="6766560" cy="329184"/>
          </a:xfrm>
          <a:prstGeom prst="rect">
            <a:avLst/>
          </a:prstGeom>
          <a:noFill/>
        </p:spPr>
        <p:txBody>
          <a:bodyPr wrap="square" lIns="0" tIns="0" rIns="0" bIns="0" anchor="t">
            <a:spAutoFit/>
          </a:bodyPr>
          <a:lstStyle/>
          <a:p>
            <a:pPr algn="l"/>
            <a:r>
              <a:rPr sz="1400" b="1" i="1">
                <a:solidFill>
                  <a:srgbClr val="0070C0"/>
                </a:solidFill>
                <a:latin typeface="Calibri"/>
              </a:rPr>
              <a:t>One instrument → one digital ID → one certificate anyone can check</a:t>
            </a:r>
          </a:p>
        </p:txBody>
      </p:sp>
      <p:sp>
        <p:nvSpPr>
          <p:cNvPr id="41" name="TextBox 40"/>
          <p:cNvSpPr txBox="1"/>
          <p:nvPr/>
        </p:nvSpPr>
        <p:spPr>
          <a:xfrm>
            <a:off x="384048" y="5669280"/>
            <a:ext cx="6766560" cy="192360"/>
          </a:xfrm>
          <a:prstGeom prst="rect">
            <a:avLst/>
          </a:prstGeom>
          <a:noFill/>
        </p:spPr>
        <p:txBody>
          <a:bodyPr wrap="square" lIns="0" tIns="0" rIns="0" bIns="0" anchor="t">
            <a:spAutoFit/>
          </a:bodyPr>
          <a:lstStyle/>
          <a:p>
            <a:pPr algn="l"/>
            <a:r>
              <a:rPr sz="1250" b="1" i="0">
                <a:solidFill>
                  <a:srgbClr val="1E7B4A"/>
                </a:solidFill>
                <a:latin typeface="Calibri"/>
              </a:rPr>
              <a:t>Live prototype: </a:t>
            </a:r>
            <a:r>
              <a:rPr sz="1250" b="0" i="0" u="sng">
                <a:solidFill>
                  <a:srgbClr val="1E7B4A"/>
                </a:solidFill>
                <a:latin typeface="Calibri"/>
                <a:hlinkClick r:id="rId5"/>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endParaRPr lang="en-US" sz="3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lIns="0" tIns="0" rIns="0" bIns="0" anchor="t">
            <a:spAutoFit/>
          </a:bodyPr>
          <a:lstStyle/>
          <a:p>
            <a:pPr algn="l"/>
            <a:r>
              <a:rPr sz="120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050" b="1" i="0">
                <a:solidFill>
                  <a:srgbClr val="1F3F6E"/>
                </a:solidFill>
                <a:latin typeface="Calibri"/>
              </a:rPr>
              <a:t>A live web + mobile platform: every instrument gets a permanent Digital ID, </a:t>
            </a:r>
            <a:r>
              <a:rPr sz="95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lIns="0" tIns="0" rIns="0" bIns="0" anchor="t">
            <a:spAutoFit/>
          </a:bodyPr>
          <a:lstStyle/>
          <a:p>
            <a:pPr algn="l"/>
            <a:r>
              <a:rPr sz="120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Register</a:t>
            </a:r>
          </a:p>
          <a:p>
            <a:pPr algn="ctr"/>
            <a:r>
              <a:rPr sz="95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Apply</a:t>
            </a:r>
          </a:p>
          <a:p>
            <a:pPr algn="ctr"/>
            <a:r>
              <a:rPr sz="95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6B3FA0"/>
                </a:solidFill>
                <a:latin typeface="Calibri"/>
              </a:rPr>
              <a:t>Scrutiny</a:t>
            </a:r>
          </a:p>
          <a:p>
            <a:pPr algn="ctr"/>
            <a:r>
              <a:rPr sz="95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Assign</a:t>
            </a:r>
          </a:p>
          <a:p>
            <a:pPr algn="ctr"/>
            <a:r>
              <a:rPr sz="95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Inspect</a:t>
            </a:r>
          </a:p>
          <a:p>
            <a:pPr algn="ctr"/>
            <a:r>
              <a:rPr sz="95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Decide</a:t>
            </a:r>
          </a:p>
          <a:p>
            <a:pPr algn="ctr"/>
            <a:r>
              <a:rPr sz="95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Certificate</a:t>
            </a:r>
          </a:p>
          <a:p>
            <a:pPr algn="ctr"/>
            <a:r>
              <a:rPr sz="95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Verify</a:t>
            </a:r>
          </a:p>
          <a:p>
            <a:pPr algn="ctr"/>
            <a:r>
              <a:rPr sz="95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lIns="0" tIns="0" rIns="0" bIns="0" anchor="t">
            <a:spAutoFit/>
          </a:bodyPr>
          <a:lstStyle/>
          <a:p>
            <a:pPr algn="l"/>
            <a:r>
              <a:rPr sz="1050" b="1" i="0">
                <a:solidFill>
                  <a:srgbClr val="1E7B4A"/>
                </a:solidFill>
                <a:latin typeface="Calibri"/>
              </a:rPr>
              <a:t>Reminders at 30, 15, 7, 1 days  →  re-verification on the same Digital ID</a:t>
            </a:r>
          </a:p>
        </p:txBody>
      </p:sp>
      <p:sp>
        <p:nvSpPr>
          <p:cNvPr id="15392" name="Rounded Rectangle 15391"/>
          <p:cNvSpPr/>
          <p:nvPr/>
        </p:nvSpPr>
        <p:spPr>
          <a:xfrm>
            <a:off x="6319810" y="2935224"/>
            <a:ext cx="1005840" cy="219456"/>
          </a:xfrm>
          <a:prstGeom prst="roundRect">
            <a:avLst>
              <a:gd name="adj" fmla="val 41666"/>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lstStyle/>
          <a:p>
            <a:pPr algn="ctr"/>
            <a:r>
              <a:rPr sz="10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lIns="0" tIns="0" rIns="0" bIns="0" anchor="t">
            <a:spAutoFit/>
          </a:bodyPr>
          <a:lstStyle/>
          <a:p>
            <a:pPr algn="l"/>
            <a:r>
              <a:rPr sz="120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950" b="0" i="0">
                <a:solidFill>
                  <a:srgbClr val="5B6573"/>
                </a:solidFill>
                <a:latin typeface="Calibri"/>
              </a:rPr>
              <a:t>Paper records in isolated systems</a:t>
            </a:r>
          </a:p>
          <a:p>
            <a:pPr algn="l"/>
            <a:r>
              <a:rPr sz="1050" b="1" i="0">
                <a:solidFill>
                  <a:srgbClr val="1F3F6E"/>
                </a:solidFill>
                <a:latin typeface="Calibri"/>
              </a:rPr>
              <a:t>→ One live register per State, same system everywhere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950" b="0" i="0">
                <a:solidFill>
                  <a:srgbClr val="5B6573"/>
                </a:solidFill>
                <a:latin typeface="Calibri"/>
              </a:rPr>
              <a:t>Manual scheduling, pendency</a:t>
            </a:r>
          </a:p>
          <a:p>
            <a:pPr algn="l"/>
            <a:r>
              <a:rPr sz="10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950" b="0" i="0">
                <a:solidFill>
                  <a:srgbClr val="5B6573"/>
                </a:solidFill>
                <a:latin typeface="Calibri"/>
              </a:rPr>
              <a:t>Fake or copied certificates</a:t>
            </a:r>
          </a:p>
          <a:p>
            <a:pPr algn="l"/>
            <a:r>
              <a:rPr sz="1050" b="1" i="0">
                <a:solidFill>
                  <a:srgbClr val="1F3F6E"/>
                </a:solidFill>
                <a:latin typeface="Calibri"/>
              </a:rPr>
              <a:t>→ Signed QR: edits fail, copies show the real serial</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27432" rIns="128016" bIns="27432" rtlCol="0" anchor="ctr"/>
          <a:lstStyle/>
          <a:p>
            <a:pPr algn="l"/>
            <a:r>
              <a:rPr sz="950" b="0" i="0">
                <a:solidFill>
                  <a:srgbClr val="5B6573"/>
                </a:solidFill>
                <a:latin typeface="Calibri"/>
              </a:rPr>
              <a:t>Missed re-verification dates</a:t>
            </a:r>
          </a:p>
          <a:p>
            <a:pPr algn="l"/>
            <a:r>
              <a:rPr sz="1050" b="1" i="0">
                <a:solidFill>
                  <a:srgbClr val="1F3F6E"/>
                </a:solidFill>
                <a:latin typeface="Calibri"/>
              </a:rPr>
              <a:t>→ Automatic reminders before expiry</a:t>
            </a:r>
          </a:p>
        </p:txBody>
      </p:sp>
      <p:sp>
        <p:nvSpPr>
          <p:cNvPr id="15398" name="TextBox 15397"/>
          <p:cNvSpPr txBox="1"/>
          <p:nvPr/>
        </p:nvSpPr>
        <p:spPr>
          <a:xfrm>
            <a:off x="365760" y="4800600"/>
            <a:ext cx="8229600" cy="274320"/>
          </a:xfrm>
          <a:prstGeom prst="rect">
            <a:avLst/>
          </a:prstGeom>
          <a:noFill/>
        </p:spPr>
        <p:txBody>
          <a:bodyPr wrap="square" lIns="0" tIns="0" rIns="0" bIns="0" anchor="t">
            <a:spAutoFit/>
          </a:bodyPr>
          <a:lstStyle/>
          <a:p>
            <a:pPr algn="l"/>
            <a:r>
              <a:rPr sz="120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050" b="1" i="0">
                <a:solidFill>
                  <a:srgbClr val="FFFFFF"/>
                </a:solidFill>
                <a:latin typeface="Calibri"/>
              </a:rPr>
              <a:t>Tamper-proof QR</a:t>
            </a:r>
          </a:p>
          <a:p>
            <a:pPr algn="l"/>
            <a:r>
              <a:rPr sz="950" b="0" i="0">
                <a:solidFill>
                  <a:srgbClr val="FFFFFF"/>
                </a:solidFill>
                <a:latin typeface="Calibri"/>
              </a:rPr>
              <a:t>Server-signed (ECDSA P-256). Signature checks offline on any phone; revocation checks when online. A copied QR shows the original serial</a:t>
            </a:r>
          </a:p>
        </p:txBody>
      </p:sp>
      <p:sp>
        <p:nvSpPr>
          <p:cNvPr id="15400" name="Rounded Rectangle 15399"/>
          <p:cNvSpPr/>
          <p:nvPr/>
        </p:nvSpPr>
        <p:spPr>
          <a:xfrm>
            <a:off x="2684678" y="5065776"/>
            <a:ext cx="2181758" cy="1161288"/>
          </a:xfrm>
          <a:prstGeom prst="roundRect">
            <a:avLst>
              <a:gd name="adj" fmla="val 5511"/>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05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050" b="1" i="0">
                <a:solidFill>
                  <a:srgbClr val="FFFFFF"/>
                </a:solidFill>
                <a:latin typeface="Calibri"/>
              </a:rPr>
              <a:t>Computed verdict</a:t>
            </a:r>
          </a:p>
          <a:p>
            <a:pPr algn="l"/>
            <a:r>
              <a:rPr sz="950" b="0" i="0">
                <a:solidFill>
                  <a:srgbClr val="FFFFFF"/>
                </a:solidFill>
                <a:latin typeface="Calibri"/>
              </a:rPr>
              <a:t>Readings are checked against the error limits in the LM (General) Rules 2011. PASS only when every reading is within the limit</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050" b="1" i="0">
                <a:solidFill>
                  <a:srgbClr val="FFFFFF"/>
                </a:solidFill>
                <a:latin typeface="Calibri"/>
              </a:rPr>
              <a:t>Multi-State by design</a:t>
            </a:r>
          </a:p>
          <a:p>
            <a:pPr algn="l"/>
            <a:r>
              <a:rPr sz="95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lIns="100584" tIns="27432" rIns="100584" bIns="27432" rtlCol="0" anchor="t"/>
          <a:lstStyle/>
          <a:p>
            <a:pPr algn="l"/>
            <a:r>
              <a:rPr sz="1050" b="1" i="0">
                <a:solidFill>
                  <a:srgbClr val="FFFFFF"/>
                </a:solidFill>
                <a:latin typeface="Calibri"/>
              </a:rPr>
              <a:t>Government data, linked</a:t>
            </a:r>
          </a:p>
          <a:p>
            <a:pPr algn="l"/>
            <a:r>
              <a:rPr sz="950" b="0" i="0">
                <a:solidFill>
                  <a:srgbClr val="FFFFFF"/>
                </a:solidFill>
                <a:latin typeface="Calibri"/>
              </a:rPr>
              <a:t>Approval marks checked against DoCA's 10,360-entry register; fees, dates and forms from gazettes, each linked. Demo data is labelled demo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lIns="0" tIns="0" rIns="0" bIns="0" anchor="t">
            <a:spAutoFit/>
          </a:bodyPr>
          <a:lstStyle/>
          <a:p>
            <a:pPr algn="l"/>
            <a:r>
              <a:rPr sz="120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Trader</a:t>
            </a:r>
          </a:p>
          <a:p>
            <a:pPr algn="ctr"/>
            <a:r>
              <a:rPr sz="9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LMO / GATC</a:t>
            </a:r>
          </a:p>
          <a:p>
            <a:pPr algn="ctr"/>
            <a:r>
              <a:rPr sz="9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Controller</a:t>
            </a:r>
          </a:p>
          <a:p>
            <a:pPr algn="ctr"/>
            <a:r>
              <a:rPr sz="9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Admins</a:t>
            </a:r>
          </a:p>
          <a:p>
            <a:pPr algn="ctr"/>
            <a:r>
              <a:rPr sz="900" b="0" i="0">
                <a:solidFill>
                  <a:srgbClr val="5B6573"/>
                </a:solidFill>
                <a:latin typeface="Calibri"/>
              </a:rPr>
              <a:t>State + central</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Citizen</a:t>
            </a:r>
          </a:p>
          <a:p>
            <a:pPr algn="ctr"/>
            <a:r>
              <a:rPr sz="9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6B3FA0"/>
                </a:solidFill>
                <a:latin typeface="Calibri"/>
              </a:rPr>
              <a:t>Vercel functions (keys stay here)</a:t>
            </a:r>
          </a:p>
          <a:p>
            <a:pPr algn="ctr"/>
            <a:r>
              <a:rPr sz="950" b="0" i="0">
                <a:solidFill>
                  <a:srgbClr val="1F2937"/>
                </a:solidFill>
                <a:latin typeface="Calibri"/>
              </a:rPr>
              <a:t>/api/sign  ECDSA private key, checks officer</a:t>
            </a:r>
          </a:p>
          <a:p>
            <a:pPr algn="ctr"/>
            <a:r>
              <a:rPr sz="9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Supabase</a:t>
            </a:r>
          </a:p>
          <a:p>
            <a:pPr algn="ctr"/>
            <a:r>
              <a:rPr sz="950" b="0" i="0">
                <a:solidFill>
                  <a:srgbClr val="1F2937"/>
                </a:solidFill>
                <a:latin typeface="Calibri"/>
              </a:rPr>
              <a:t>Auth · row-level security · realtime</a:t>
            </a:r>
          </a:p>
          <a:p>
            <a:pPr algn="ctr"/>
            <a:r>
              <a:rPr sz="9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Postgres</a:t>
            </a:r>
          </a:p>
          <a:p>
            <a:pPr algn="ctr"/>
            <a:r>
              <a:rPr sz="9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Append-only audit log</a:t>
            </a:r>
          </a:p>
          <a:p>
            <a:pPr algn="ctr"/>
            <a:r>
              <a:rPr sz="9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F3F6E"/>
                </a:solidFill>
                <a:latin typeface="Calibri"/>
              </a:rPr>
              <a:t>Rules per State</a:t>
            </a:r>
          </a:p>
          <a:p>
            <a:pPr algn="ctr"/>
            <a:r>
              <a:rPr sz="9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lIns="0" tIns="0" rIns="0" bIns="0" anchor="t">
            <a:spAutoFit/>
          </a:bodyPr>
          <a:lstStyle/>
          <a:p>
            <a:pPr algn="l"/>
            <a:r>
              <a:rPr sz="1200" b="1" i="0">
                <a:solidFill>
                  <a:srgbClr val="1E7B4A"/>
                </a:solidFill>
                <a:latin typeface="Calibri"/>
              </a:rPr>
              <a:t>WHAT ANY SCAN SHOWS (NEVER A MADE-UP ANSWER)</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TULA certificate</a:t>
            </a:r>
          </a:p>
          <a:p>
            <a:pPr algn="ctr"/>
            <a:r>
              <a:rPr sz="900" b="0" i="0">
                <a:solidFill>
                  <a:srgbClr val="5B6573"/>
                </a:solidFill>
                <a:latin typeface="Calibri"/>
              </a:rPr>
              <a:t>signature checked + DoCA's record for the model</a:t>
            </a:r>
          </a:p>
        </p:txBody>
      </p:sp>
      <p:sp>
        <p:nvSpPr>
          <p:cNvPr id="17436" name="Rounded Rectangle 17435"/>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Edited copy</a:t>
            </a:r>
          </a:p>
          <a:p>
            <a:pPr algn="ctr"/>
            <a:r>
              <a:rPr sz="900" b="0" i="0">
                <a:solidFill>
                  <a:srgbClr val="5B6573"/>
                </a:solidFill>
                <a:latin typeface="Calibri"/>
              </a:rPr>
              <a:t>rejected: signature fails</a:t>
            </a:r>
          </a:p>
        </p:txBody>
      </p:sp>
      <p:sp>
        <p:nvSpPr>
          <p:cNvPr id="17437" name="Rounded Rectangle 17436"/>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Expired / revoked</a:t>
            </a:r>
          </a:p>
          <a:p>
            <a:pPr algn="ctr"/>
            <a:r>
              <a:rPr sz="900" b="0" i="0">
                <a:solidFill>
                  <a:srgbClr val="5B6573"/>
                </a:solidFill>
                <a:latin typeface="Calibri"/>
              </a:rPr>
              <a:t>says so, with the date</a:t>
            </a:r>
          </a:p>
        </p:txBody>
      </p:sp>
      <p:sp>
        <p:nvSpPr>
          <p:cNvPr id="17438" name="Rounded Rectangle 17437"/>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Approval mark</a:t>
            </a:r>
          </a:p>
          <a:p>
            <a:pPr algn="ctr"/>
            <a:r>
              <a:rPr sz="900" b="0" i="0">
                <a:solidFill>
                  <a:srgbClr val="5B6573"/>
                </a:solidFill>
                <a:latin typeface="Calibri"/>
              </a:rPr>
              <a:t>DoCA's register entry, linked</a:t>
            </a:r>
          </a:p>
        </p:txBody>
      </p:sp>
      <p:sp>
        <p:nvSpPr>
          <p:cNvPr id="17439" name="Rounded Rectangle 17438"/>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Unknown number</a:t>
            </a:r>
          </a:p>
          <a:p>
            <a:pPr algn="ctr"/>
            <a:r>
              <a:rPr sz="900" b="0" i="0">
                <a:solidFill>
                  <a:srgbClr val="5B6573"/>
                </a:solidFill>
                <a:latin typeface="Calibri"/>
              </a:rPr>
              <a:t>not in TULA's registry, and why</a:t>
            </a:r>
          </a:p>
        </p:txBody>
      </p:sp>
      <p:sp>
        <p:nvSpPr>
          <p:cNvPr id="17440" name="Rounded Rectangle 17439"/>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1E7B4A"/>
                </a:solidFill>
                <a:latin typeface="Calibri"/>
              </a:rPr>
              <a:t>Any other QR</a:t>
            </a:r>
          </a:p>
          <a:p>
            <a:pPr algn="ctr"/>
            <a:r>
              <a:rPr sz="900" b="0" i="0">
                <a:solidFill>
                  <a:srgbClr val="5B6573"/>
                </a:solidFill>
                <a:latin typeface="Calibri"/>
              </a:rPr>
              <a:t>nothing to check, and why</a:t>
            </a:r>
          </a:p>
        </p:txBody>
      </p:sp>
      <p:sp>
        <p:nvSpPr>
          <p:cNvPr id="17441" name="TextBox 17440"/>
          <p:cNvSpPr txBox="1"/>
          <p:nvPr/>
        </p:nvSpPr>
        <p:spPr>
          <a:xfrm>
            <a:off x="365760" y="5303520"/>
            <a:ext cx="7589520" cy="274320"/>
          </a:xfrm>
          <a:prstGeom prst="rect">
            <a:avLst/>
          </a:prstGeom>
          <a:noFill/>
        </p:spPr>
        <p:txBody>
          <a:bodyPr wrap="square" lIns="0" tIns="0" rIns="0" bIns="0" anchor="t">
            <a:spAutoFit/>
          </a:bodyPr>
          <a:lstStyle/>
          <a:p>
            <a:pPr algn="l"/>
            <a:r>
              <a:rPr sz="1200" b="1" i="0">
                <a:solidFill>
                  <a:srgbClr val="B5520F"/>
                </a:solidFill>
                <a:latin typeface="Calibri"/>
              </a:rPr>
              <a:t>OFFLINE FIELD INSPECTION</a:t>
            </a:r>
          </a:p>
        </p:txBody>
      </p:sp>
      <p:sp>
        <p:nvSpPr>
          <p:cNvPr id="17442" name="Rounded Rectangle 17441"/>
          <p:cNvSpPr/>
          <p:nvPr/>
        </p:nvSpPr>
        <p:spPr>
          <a:xfrm>
            <a:off x="36576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No network</a:t>
            </a:r>
          </a:p>
          <a:p>
            <a:pPr algn="ctr"/>
            <a:r>
              <a:rPr sz="900" b="0" i="0">
                <a:solidFill>
                  <a:srgbClr val="5B6573"/>
                </a:solidFill>
                <a:latin typeface="Calibri"/>
              </a:rPr>
              <a:t>app opens from cache</a:t>
            </a:r>
          </a:p>
        </p:txBody>
      </p:sp>
      <p:cxnSp>
        <p:nvCxnSpPr>
          <p:cNvPr id="17443" name="Connector 17442"/>
          <p:cNvCxnSpPr/>
          <p:nvPr/>
        </p:nvCxnSpPr>
        <p:spPr>
          <a:xfrm>
            <a:off x="1533144"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4" name="Rounded Rectangle 17443"/>
          <p:cNvSpPr/>
          <p:nvPr/>
        </p:nvSpPr>
        <p:spPr>
          <a:xfrm>
            <a:off x="1652016"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Inspect</a:t>
            </a:r>
          </a:p>
          <a:p>
            <a:pPr algn="ctr"/>
            <a:r>
              <a:rPr sz="900" b="0" i="0">
                <a:solidFill>
                  <a:srgbClr val="5B6573"/>
                </a:solidFill>
                <a:latin typeface="Calibri"/>
              </a:rPr>
              <a:t>draft autosaves</a:t>
            </a:r>
          </a:p>
        </p:txBody>
      </p:sp>
      <p:cxnSp>
        <p:nvCxnSpPr>
          <p:cNvPr id="17445" name="Connector 17444"/>
          <p:cNvCxnSpPr/>
          <p:nvPr/>
        </p:nvCxnSpPr>
        <p:spPr>
          <a:xfrm>
            <a:off x="2819399" y="5843016"/>
            <a:ext cx="109729"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6" name="Rounded Rectangle 17445"/>
          <p:cNvSpPr/>
          <p:nvPr/>
        </p:nvSpPr>
        <p:spPr>
          <a:xfrm>
            <a:off x="2938272"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Save</a:t>
            </a:r>
          </a:p>
          <a:p>
            <a:pPr algn="ctr"/>
            <a:r>
              <a:rPr sz="900" b="0" i="0">
                <a:solidFill>
                  <a:srgbClr val="5B6573"/>
                </a:solidFill>
                <a:latin typeface="Calibri"/>
              </a:rPr>
              <a:t>queued on phone</a:t>
            </a:r>
          </a:p>
        </p:txBody>
      </p:sp>
      <p:cxnSp>
        <p:nvCxnSpPr>
          <p:cNvPr id="17447" name="Connector 17446"/>
          <p:cNvCxnSpPr/>
          <p:nvPr/>
        </p:nvCxnSpPr>
        <p:spPr>
          <a:xfrm>
            <a:off x="4105656"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8" name="Rounded Rectangle 17447"/>
          <p:cNvSpPr/>
          <p:nvPr/>
        </p:nvSpPr>
        <p:spPr>
          <a:xfrm>
            <a:off x="4224528"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Back online</a:t>
            </a:r>
          </a:p>
          <a:p>
            <a:pPr algn="ctr"/>
            <a:r>
              <a:rPr sz="900" b="0" i="0">
                <a:solidFill>
                  <a:srgbClr val="5B6573"/>
                </a:solidFill>
                <a:latin typeface="Calibri"/>
              </a:rPr>
              <a:t>queue syncs</a:t>
            </a:r>
          </a:p>
        </p:txBody>
      </p:sp>
      <p:cxnSp>
        <p:nvCxnSpPr>
          <p:cNvPr id="17449" name="Connector 17448"/>
          <p:cNvCxnSpPr/>
          <p:nvPr/>
        </p:nvCxnSpPr>
        <p:spPr>
          <a:xfrm>
            <a:off x="5391912"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0" name="Rounded Rectangle 17449"/>
          <p:cNvSpPr/>
          <p:nvPr/>
        </p:nvSpPr>
        <p:spPr>
          <a:xfrm>
            <a:off x="5510784"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Certificate</a:t>
            </a:r>
          </a:p>
          <a:p>
            <a:pPr algn="ctr"/>
            <a:r>
              <a:rPr sz="900" b="0" i="0">
                <a:solidFill>
                  <a:srgbClr val="5B6573"/>
                </a:solidFill>
                <a:latin typeface="Calibri"/>
              </a:rPr>
              <a:t>issued + signed</a:t>
            </a:r>
          </a:p>
        </p:txBody>
      </p:sp>
      <p:cxnSp>
        <p:nvCxnSpPr>
          <p:cNvPr id="17451" name="Connector 17450"/>
          <p:cNvCxnSpPr/>
          <p:nvPr/>
        </p:nvCxnSpPr>
        <p:spPr>
          <a:xfrm>
            <a:off x="6678168" y="5843016"/>
            <a:ext cx="109728"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2" name="Rounded Rectangle 17451"/>
          <p:cNvSpPr/>
          <p:nvPr/>
        </p:nvSpPr>
        <p:spPr>
          <a:xfrm>
            <a:off x="6797040" y="5559552"/>
            <a:ext cx="1158240" cy="566928"/>
          </a:xfrm>
          <a:prstGeom prst="roundRect">
            <a:avLst>
              <a:gd name="adj" fmla="val 9677"/>
            </a:avLst>
          </a:prstGeom>
          <a:solidFill>
            <a:srgbClr val="FFFFFF"/>
          </a:solidFill>
          <a:ln w="15240">
            <a:solidFill>
              <a:srgbClr val="B5520F"/>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1" i="0">
                <a:solidFill>
                  <a:srgbClr val="B5520F"/>
                </a:solidFill>
                <a:latin typeface="Calibri"/>
              </a:rPr>
              <a:t>Owner told</a:t>
            </a:r>
          </a:p>
          <a:p>
            <a:pPr algn="ctr"/>
            <a:r>
              <a:rPr sz="900" b="0" i="0">
                <a:solidFill>
                  <a:srgbClr val="5B6573"/>
                </a:solidFill>
                <a:latin typeface="Calibri"/>
              </a:rPr>
              <a:t>in-app; SMS via gateway</a:t>
            </a:r>
          </a:p>
        </p:txBody>
      </p:sp>
      <p:sp>
        <p:nvSpPr>
          <p:cNvPr id="17453" name="TextBox 17452"/>
          <p:cNvSpPr txBox="1"/>
          <p:nvPr/>
        </p:nvSpPr>
        <p:spPr>
          <a:xfrm>
            <a:off x="8183879" y="1170432"/>
            <a:ext cx="3639312" cy="274320"/>
          </a:xfrm>
          <a:prstGeom prst="rect">
            <a:avLst/>
          </a:prstGeom>
          <a:noFill/>
        </p:spPr>
        <p:txBody>
          <a:bodyPr wrap="square" lIns="0" tIns="0" rIns="0" bIns="0" anchor="t">
            <a:spAutoFit/>
          </a:bodyPr>
          <a:lstStyle/>
          <a:p>
            <a:pPr algn="l"/>
            <a:r>
              <a:rPr sz="1200" b="1" i="0">
                <a:solidFill>
                  <a:srgbClr val="1F3F6E"/>
                </a:solidFill>
                <a:latin typeface="Calibri"/>
              </a:rPr>
              <a:t>TECHNOLOGIES TO BE USED</a:t>
            </a:r>
          </a:p>
        </p:txBody>
      </p:sp>
      <p:sp>
        <p:nvSpPr>
          <p:cNvPr id="17454" name="Rounded Rectangle 17453"/>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React 19 · TypeScript · Vite · Tailwind</a:t>
            </a:r>
            <a:r>
              <a:rPr sz="900" b="0" i="0">
                <a:solidFill>
                  <a:srgbClr val="5B6573"/>
                </a:solidFill>
                <a:latin typeface="Calibri"/>
              </a:rPr>
              <a:t>  installable, mobile-first</a:t>
            </a:r>
          </a:p>
        </p:txBody>
      </p:sp>
      <p:sp>
        <p:nvSpPr>
          <p:cNvPr id="17455" name="Rounded Rectangle 17454"/>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Service worker · local store · sync queue</a:t>
            </a:r>
            <a:r>
              <a:rPr sz="900" b="0" i="0">
                <a:solidFill>
                  <a:srgbClr val="5B6573"/>
                </a:solidFill>
                <a:latin typeface="Calibri"/>
              </a:rPr>
              <a:t>  offline work, auto sync</a:t>
            </a:r>
          </a:p>
        </p:txBody>
      </p:sp>
      <p:sp>
        <p:nvSpPr>
          <p:cNvPr id="17456" name="Rounded Rectangle 17455"/>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Supabase Postgres · RLS · Auth · Realtime</a:t>
            </a:r>
            <a:r>
              <a:rPr sz="900" b="0" i="0">
                <a:solidFill>
                  <a:srgbClr val="5B6573"/>
                </a:solidFill>
                <a:latin typeface="Calibri"/>
              </a:rPr>
              <a:t>  live, per State</a:t>
            </a:r>
          </a:p>
        </p:txBody>
      </p:sp>
      <p:sp>
        <p:nvSpPr>
          <p:cNvPr id="17457" name="Rounded Rectangle 17456"/>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Vercel functions · ECDSA P-256 · jsQR</a:t>
            </a:r>
            <a:r>
              <a:rPr sz="900" b="0" i="0">
                <a:solidFill>
                  <a:srgbClr val="5B6573"/>
                </a:solidFill>
                <a:latin typeface="Calibri"/>
              </a:rPr>
              <a:t>  server signs, phone checks</a:t>
            </a:r>
          </a:p>
        </p:txBody>
      </p:sp>
      <p:sp>
        <p:nvSpPr>
          <p:cNvPr id="17458" name="Rounded Rectangle 17457"/>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6B3FA0"/>
                </a:solidFill>
                <a:latin typeface="Calibri"/>
              </a:rPr>
              <a:t>Google Gemini (Flash)</a:t>
            </a:r>
            <a:r>
              <a:rPr sz="900" b="0" i="0">
                <a:solidFill>
                  <a:srgbClr val="5B6573"/>
                </a:solidFill>
                <a:latin typeface="Calibri"/>
              </a:rPr>
              <a:t>  application checks, help chat</a:t>
            </a:r>
          </a:p>
        </p:txBody>
      </p:sp>
      <p:sp>
        <p:nvSpPr>
          <p:cNvPr id="17459" name="Rounded Rectangle 17458"/>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F3F6E"/>
                </a:solidFill>
                <a:latin typeface="Calibri"/>
              </a:rPr>
              <a:t>Resend · Twilio · jsPDF</a:t>
            </a:r>
            <a:r>
              <a:rPr sz="900" b="0" i="0">
                <a:solidFill>
                  <a:srgbClr val="5B6573"/>
                </a:solidFill>
                <a:latin typeface="Calibri"/>
              </a:rPr>
              <a:t>  email, SMS (keys pending), PDF</a:t>
            </a:r>
          </a:p>
        </p:txBody>
      </p:sp>
      <p:sp>
        <p:nvSpPr>
          <p:cNvPr id="17460" name="TextBox 17459"/>
          <p:cNvSpPr txBox="1"/>
          <p:nvPr/>
        </p:nvSpPr>
        <p:spPr>
          <a:xfrm>
            <a:off x="8183879" y="3611880"/>
            <a:ext cx="3639312" cy="274320"/>
          </a:xfrm>
          <a:prstGeom prst="rect">
            <a:avLst/>
          </a:prstGeom>
          <a:noFill/>
        </p:spPr>
        <p:txBody>
          <a:bodyPr wrap="square" lIns="0" tIns="0" rIns="0" bIns="0" anchor="t">
            <a:spAutoFit/>
          </a:bodyPr>
          <a:lstStyle/>
          <a:p>
            <a:pPr algn="l"/>
            <a:r>
              <a:rPr sz="1200" b="1" i="0">
                <a:solidFill>
                  <a:srgbClr val="1F3F6E"/>
                </a:solidFill>
                <a:latin typeface="Calibri"/>
              </a:rPr>
              <a:t>ON A PHONE, FROM THE LIVE PROTOTYPE</a:t>
            </a:r>
          </a:p>
        </p:txBody>
      </p:sp>
      <p:pic>
        <p:nvPicPr>
          <p:cNvPr id="17461" name="Picture 17460" descr="shot12_verify.jpg"/>
          <p:cNvPicPr>
            <a:picLocks noChangeAspect="1"/>
          </p:cNvPicPr>
          <p:nvPr/>
        </p:nvPicPr>
        <p:blipFill>
          <a:blip r:embed="rId4"/>
          <a:srcRect t="11374" b="22275"/>
          <a:stretch>
            <a:fillRect/>
          </a:stretch>
        </p:blipFill>
        <p:spPr>
          <a:xfrm>
            <a:off x="8183879" y="3904487"/>
            <a:ext cx="1139952" cy="1635177"/>
          </a:xfrm>
          <a:prstGeom prst="rect">
            <a:avLst/>
          </a:prstGeom>
          <a:ln w="9525">
            <a:solidFill>
              <a:srgbClr val="CBD5E1"/>
            </a:solidFill>
          </a:ln>
        </p:spPr>
      </p:pic>
      <p:sp>
        <p:nvSpPr>
          <p:cNvPr id="17462" name="TextBox 17461"/>
          <p:cNvSpPr txBox="1"/>
          <p:nvPr/>
        </p:nvSpPr>
        <p:spPr>
          <a:xfrm>
            <a:off x="8183879" y="5567097"/>
            <a:ext cx="1139952" cy="274320"/>
          </a:xfrm>
          <a:prstGeom prst="rect">
            <a:avLst/>
          </a:prstGeom>
          <a:noFill/>
        </p:spPr>
        <p:txBody>
          <a:bodyPr wrap="square" lIns="0" tIns="0" rIns="0" bIns="0" anchor="t">
            <a:spAutoFit/>
          </a:bodyPr>
          <a:lstStyle/>
          <a:p>
            <a:pPr algn="ctr"/>
            <a:r>
              <a:rPr sz="900" b="1" i="0">
                <a:solidFill>
                  <a:srgbClr val="1F2937"/>
                </a:solidFill>
                <a:latin typeface="Calibri"/>
              </a:rPr>
              <a:t>A fake: rejected</a:t>
            </a:r>
          </a:p>
        </p:txBody>
      </p:sp>
      <p:pic>
        <p:nvPicPr>
          <p:cNvPr id="17463" name="Picture 17462" descr="shot16_govrecord.jpg"/>
          <p:cNvPicPr>
            <a:picLocks noChangeAspect="1"/>
          </p:cNvPicPr>
          <p:nvPr/>
        </p:nvPicPr>
        <p:blipFill>
          <a:blip r:embed="rId5"/>
          <a:srcRect t="15640" b="18009"/>
          <a:stretch>
            <a:fillRect/>
          </a:stretch>
        </p:blipFill>
        <p:spPr>
          <a:xfrm>
            <a:off x="9433560" y="3904487"/>
            <a:ext cx="1139952" cy="1635177"/>
          </a:xfrm>
          <a:prstGeom prst="rect">
            <a:avLst/>
          </a:prstGeom>
          <a:ln w="9525">
            <a:solidFill>
              <a:srgbClr val="CBD5E1"/>
            </a:solidFill>
          </a:ln>
        </p:spPr>
      </p:pic>
      <p:sp>
        <p:nvSpPr>
          <p:cNvPr id="17464" name="TextBox 17463"/>
          <p:cNvSpPr txBox="1"/>
          <p:nvPr/>
        </p:nvSpPr>
        <p:spPr>
          <a:xfrm>
            <a:off x="9433560" y="5567097"/>
            <a:ext cx="1139952" cy="274320"/>
          </a:xfrm>
          <a:prstGeom prst="rect">
            <a:avLst/>
          </a:prstGeom>
          <a:noFill/>
        </p:spPr>
        <p:txBody>
          <a:bodyPr wrap="square" lIns="0" tIns="0" rIns="0" bIns="0" anchor="t">
            <a:spAutoFit/>
          </a:bodyPr>
          <a:lstStyle/>
          <a:p>
            <a:pPr algn="ctr"/>
            <a:r>
              <a:rPr sz="900" b="1" i="0">
                <a:solidFill>
                  <a:srgbClr val="1F2937"/>
                </a:solidFill>
                <a:latin typeface="Calibri"/>
              </a:rPr>
              <a:t>Real DoCA record</a:t>
            </a:r>
          </a:p>
        </p:txBody>
      </p:sp>
      <p:pic>
        <p:nvPicPr>
          <p:cNvPr id="17465" name="Picture 17464" descr="shot7_officer.jpg"/>
          <p:cNvPicPr>
            <a:picLocks noChangeAspect="1"/>
          </p:cNvPicPr>
          <p:nvPr/>
        </p:nvPicPr>
        <p:blipFill>
          <a:blip r:embed="rId6"/>
          <a:srcRect t="18957" b="14692"/>
          <a:stretch>
            <a:fillRect/>
          </a:stretch>
        </p:blipFill>
        <p:spPr>
          <a:xfrm>
            <a:off x="10683240" y="3904487"/>
            <a:ext cx="1139952" cy="1635177"/>
          </a:xfrm>
          <a:prstGeom prst="rect">
            <a:avLst/>
          </a:prstGeom>
          <a:ln w="9525">
            <a:solidFill>
              <a:srgbClr val="CBD5E1"/>
            </a:solidFill>
          </a:ln>
        </p:spPr>
      </p:pic>
      <p:sp>
        <p:nvSpPr>
          <p:cNvPr id="17466" name="TextBox 17465"/>
          <p:cNvSpPr txBox="1"/>
          <p:nvPr/>
        </p:nvSpPr>
        <p:spPr>
          <a:xfrm>
            <a:off x="10683240" y="5567097"/>
            <a:ext cx="1139952" cy="274320"/>
          </a:xfrm>
          <a:prstGeom prst="rect">
            <a:avLst/>
          </a:prstGeom>
          <a:noFill/>
        </p:spPr>
        <p:txBody>
          <a:bodyPr wrap="square" lIns="0" tIns="0" rIns="0" bIns="0" anchor="t">
            <a:spAutoFit/>
          </a:bodyPr>
          <a:lstStyle/>
          <a:p>
            <a:pPr algn="ctr"/>
            <a:r>
              <a:rPr sz="900" b="1" i="0">
                <a:solidFill>
                  <a:srgbClr val="1F2937"/>
                </a:solidFill>
                <a:latin typeface="Calibri"/>
              </a:rPr>
              <a:t>Over the limit: FAIL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lIns="0" tIns="0" rIns="0" bIns="0" anchor="t">
            <a:spAutoFit/>
          </a:bodyPr>
          <a:lstStyle/>
          <a:p>
            <a:pPr algn="l"/>
            <a:r>
              <a:rPr sz="120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docs, fee, DoCA approval check</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30/15/7/1-day reminders, in-app</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B5520F"/>
                </a:solidFill>
                <a:latin typeface="Calibri"/>
              </a:rPr>
              <a:t>◐ in-app; SMS / email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lIns="0" tIns="0" rIns="0" bIns="0" anchor="t">
            <a:spAutoFit/>
          </a:bodyPr>
          <a:lstStyle/>
          <a:p>
            <a:pPr algn="l"/>
            <a:r>
              <a:rPr sz="1200" b="1" i="0">
                <a:solidFill>
                  <a:srgbClr val="B5520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1 · Field trial</a:t>
            </a:r>
          </a:p>
          <a:p>
            <a:pPr algn="l"/>
            <a:r>
              <a:rPr sz="9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2 · District pilot</a:t>
            </a:r>
          </a:p>
          <a:p>
            <a:pPr algn="l"/>
            <a:r>
              <a:rPr sz="9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3 · State rollout</a:t>
            </a:r>
          </a:p>
          <a:p>
            <a:pPr algn="l"/>
            <a:r>
              <a:rPr sz="9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B5520F"/>
            </a:solidFill>
            <a:tailEnd type="triangle" w="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B5520F"/>
                </a:solidFill>
                <a:latin typeface="Calibri"/>
              </a:rPr>
              <a:t>4 · Multi-State</a:t>
            </a:r>
          </a:p>
          <a:p>
            <a:pPr algn="l"/>
            <a:r>
              <a:rPr sz="9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lIns="0" tIns="0" rIns="0" bIns="0" anchor="t">
            <a:spAutoFit/>
          </a:bodyPr>
          <a:lstStyle/>
          <a:p>
            <a:pPr algn="l"/>
            <a:r>
              <a:rPr sz="12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Grow in the market</a:t>
            </a:r>
          </a:p>
          <a:p>
            <a:pPr algn="l"/>
            <a:r>
              <a:rPr sz="900" b="0" i="0">
                <a:solidFill>
                  <a:srgbClr val="1F2937"/>
                </a:solidFill>
                <a:latin typeface="Calibri"/>
              </a:rPr>
              <a:t>DoCA is building a National Legal Metrology Portal with NIC, incl. State verification (Annual Report 2024-25, para 9.13). TULA prototypes that module.</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Survive</a:t>
            </a:r>
          </a:p>
          <a:p>
            <a:pPr algn="l"/>
            <a:r>
              <a:rPr sz="900" b="0" i="0">
                <a:solidFill>
                  <a:srgbClr val="1F2937"/>
                </a:solidFill>
                <a:latin typeface="Calibri"/>
              </a:rPr>
              <a:t>Hosting about US$45 a month per State at list prices (Supabase Pro $25 + Vercel Pro $20, 2 Oct 2026). SMS at the State gateway rate. Moves to NIC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t"/>
          <a:lstStyle/>
          <a:p>
            <a:pPr algn="l"/>
            <a:r>
              <a:rPr sz="1050" b="1" i="0">
                <a:solidFill>
                  <a:srgbClr val="1E7B4A"/>
                </a:solidFill>
                <a:latin typeface="Calibri"/>
              </a:rPr>
              <a:t>Get funded</a:t>
            </a:r>
          </a:p>
          <a:p>
            <a:pPr algn="l"/>
            <a:r>
              <a:rPr sz="90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lIns="0" tIns="0" rIns="0" bIns="0" anchor="t">
            <a:spAutoFit/>
          </a:bodyPr>
          <a:lstStyle/>
          <a:p>
            <a:pPr algn="l"/>
            <a:r>
              <a:rPr sz="105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lIns="0" tIns="0" rIns="0" bIns="0" anchor="t">
            <a:spAutoFit/>
          </a:bodyPr>
          <a:lstStyle/>
          <a:p>
            <a:pPr algn="l"/>
            <a:r>
              <a:rPr sz="105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B5520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B5520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B5520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B5520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F2937"/>
                </a:solidFill>
                <a:latin typeface="Calibri"/>
              </a:rPr>
              <a:t>Row-level security; AI sees no personal data; production on NIC cloud</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B5520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1050" b="1" i="0">
                <a:solidFill>
                  <a:srgbClr val="B5520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27432" rIns="64008" bIns="27432" rtlCol="0" anchor="ctr"/>
          <a:lstStyle/>
          <a:p>
            <a:pPr algn="l"/>
            <a:r>
              <a:rPr sz="950" b="0" i="0">
                <a:solidFill>
                  <a:srgbClr val="1F2937"/>
                </a:solidFill>
                <a:latin typeface="Calibri"/>
              </a:rPr>
              <a:t>Field trial first; plain home screen per role; larger text option,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71" name="Picture 17470" descr="image.png">
            <a:hlinkClick r:id="rId4"/>
          </p:cNvPr>
          <p:cNvPicPr>
            <a:picLocks noChangeAspect="1"/>
          </p:cNvPicPr>
          <p:nvPr/>
        </p:nvPicPr>
        <p:blipFill>
          <a:blip r:embed="rId5"/>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300356"/>
          </a:xfrm>
          <a:prstGeom prst="rect">
            <a:avLst/>
          </a:prstGeom>
          <a:noFill/>
        </p:spPr>
        <p:txBody>
          <a:bodyPr wrap="square" lIns="0" tIns="0" rIns="0" bIns="0" anchor="t">
            <a:spAutoFit/>
          </a:bodyPr>
          <a:lstStyle/>
          <a:p>
            <a:pPr algn="l">
              <a:spcAft>
                <a:spcPts val="300"/>
              </a:spcAft>
            </a:pPr>
            <a:r>
              <a:rPr sz="105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1050" b="1" i="0">
                <a:solidFill>
                  <a:srgbClr val="1F2937"/>
                </a:solidFill>
                <a:latin typeface="Calibri"/>
              </a:rPr>
              <a:t>One-tap evaluator sign-in on the site</a:t>
            </a:r>
          </a:p>
          <a:p>
            <a:pPr algn="l">
              <a:spcAft>
                <a:spcPts val="300"/>
              </a:spcAft>
            </a:pPr>
            <a:r>
              <a:rPr sz="1050" b="1" i="0" u="sng">
                <a:solidFill>
                  <a:srgbClr val="0070C0"/>
                </a:solidFill>
                <a:latin typeface="Calibri"/>
                <a:hlinkClick r:id="rId4"/>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lIns="0" tIns="0" rIns="0" bIns="0" anchor="t">
            <a:spAutoFit/>
          </a:bodyPr>
          <a:lstStyle/>
          <a:p>
            <a:pPr algn="l"/>
            <a:r>
              <a:rPr sz="120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2" name="TextBox 17411"/>
          <p:cNvSpPr txBox="1"/>
          <p:nvPr/>
        </p:nvSpPr>
        <p:spPr>
          <a:xfrm>
            <a:off x="502920" y="1517904"/>
            <a:ext cx="1904238" cy="320040"/>
          </a:xfrm>
          <a:prstGeom prst="rect">
            <a:avLst/>
          </a:prstGeom>
          <a:noFill/>
        </p:spPr>
        <p:txBody>
          <a:bodyPr wrap="square" lIns="0" tIns="0" rIns="0" bIns="0" anchor="t">
            <a:spAutoFit/>
          </a:bodyPr>
          <a:lstStyle/>
          <a:p>
            <a:pPr algn="l"/>
            <a:r>
              <a:rPr sz="105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559127"/>
          </a:xfrm>
          <a:prstGeom prst="rect">
            <a:avLst/>
          </a:prstGeom>
          <a:noFill/>
        </p:spPr>
        <p:txBody>
          <a:bodyPr wrap="square" lIns="0" tIns="0" rIns="0" bIns="0" anchor="t">
            <a:spAutoFit/>
          </a:bodyPr>
          <a:lstStyle/>
          <a:p>
            <a:pPr algn="l">
              <a:spcAft>
                <a:spcPts val="200"/>
              </a:spcAft>
            </a:pPr>
            <a:r>
              <a:rPr sz="950" b="0" i="0">
                <a:solidFill>
                  <a:srgbClr val="1F2937"/>
                </a:solidFill>
                <a:latin typeface="Calibri"/>
              </a:rPr>
              <a:t>•  Assigned inspections, even offline</a:t>
            </a:r>
          </a:p>
          <a:p>
            <a:pPr algn="l">
              <a:spcAft>
                <a:spcPts val="200"/>
              </a:spcAft>
            </a:pPr>
            <a:r>
              <a:rPr sz="950" b="0" i="0">
                <a:solidFill>
                  <a:srgbClr val="1F2937"/>
                </a:solidFill>
                <a:latin typeface="Calibri"/>
              </a:rPr>
              <a:t>•  Pass / fail computed automatically</a:t>
            </a:r>
          </a:p>
          <a:p>
            <a:pPr algn="l">
              <a:spcAft>
                <a:spcPts val="200"/>
              </a:spcAft>
            </a:pPr>
            <a:r>
              <a:rPr sz="95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17" name="TextBox 17416"/>
          <p:cNvSpPr txBox="1"/>
          <p:nvPr/>
        </p:nvSpPr>
        <p:spPr>
          <a:xfrm>
            <a:off x="3412998" y="1517904"/>
            <a:ext cx="1904238" cy="320040"/>
          </a:xfrm>
          <a:prstGeom prst="rect">
            <a:avLst/>
          </a:prstGeom>
          <a:noFill/>
        </p:spPr>
        <p:txBody>
          <a:bodyPr wrap="square" lIns="0" tIns="0" rIns="0" bIns="0" anchor="t">
            <a:spAutoFit/>
          </a:bodyPr>
          <a:lstStyle/>
          <a:p>
            <a:pPr algn="l"/>
            <a:r>
              <a:rPr sz="105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559127"/>
          </a:xfrm>
          <a:prstGeom prst="rect">
            <a:avLst/>
          </a:prstGeom>
          <a:noFill/>
        </p:spPr>
        <p:txBody>
          <a:bodyPr wrap="square" lIns="0" tIns="0" rIns="0" bIns="0" anchor="t">
            <a:spAutoFit/>
          </a:bodyPr>
          <a:lstStyle/>
          <a:p>
            <a:pPr algn="l">
              <a:spcAft>
                <a:spcPts val="200"/>
              </a:spcAft>
            </a:pPr>
            <a:r>
              <a:rPr sz="950" b="0" i="0">
                <a:solidFill>
                  <a:srgbClr val="1F2937"/>
                </a:solidFill>
                <a:latin typeface="Calibri"/>
              </a:rPr>
              <a:t>•  Apply and pay without a visit</a:t>
            </a:r>
          </a:p>
          <a:p>
            <a:pPr algn="l">
              <a:spcAft>
                <a:spcPts val="200"/>
              </a:spcAft>
            </a:pPr>
            <a:r>
              <a:rPr sz="950" b="0" i="0">
                <a:solidFill>
                  <a:srgbClr val="1F2937"/>
                </a:solidFill>
                <a:latin typeface="Calibri"/>
              </a:rPr>
              <a:t>•  Updates at every step</a:t>
            </a:r>
          </a:p>
          <a:p>
            <a:pPr algn="l">
              <a:spcAft>
                <a:spcPts val="200"/>
              </a:spcAft>
            </a:pPr>
            <a:r>
              <a:rPr sz="95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2" name="TextBox 17421"/>
          <p:cNvSpPr txBox="1"/>
          <p:nvPr/>
        </p:nvSpPr>
        <p:spPr>
          <a:xfrm>
            <a:off x="6323076" y="1517904"/>
            <a:ext cx="1904238" cy="320040"/>
          </a:xfrm>
          <a:prstGeom prst="rect">
            <a:avLst/>
          </a:prstGeom>
          <a:noFill/>
        </p:spPr>
        <p:txBody>
          <a:bodyPr wrap="square" lIns="0" tIns="0" rIns="0" bIns="0" anchor="t">
            <a:spAutoFit/>
          </a:bodyPr>
          <a:lstStyle/>
          <a:p>
            <a:pPr algn="l"/>
            <a:r>
              <a:rPr sz="1050" b="1" i="0">
                <a:solidFill>
                  <a:srgbClr val="B5520F"/>
                </a:solidFill>
                <a:latin typeface="Calibri"/>
              </a:rPr>
              <a:t>Consumers</a:t>
            </a:r>
          </a:p>
        </p:txBody>
      </p:sp>
      <p:sp>
        <p:nvSpPr>
          <p:cNvPr id="17423" name="Oval 17422"/>
          <p:cNvSpPr/>
          <p:nvPr/>
        </p:nvSpPr>
        <p:spPr>
          <a:xfrm>
            <a:off x="8346186" y="1499616"/>
            <a:ext cx="420624" cy="420624"/>
          </a:xfrm>
          <a:prstGeom prst="ellipse">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559127"/>
          </a:xfrm>
          <a:prstGeom prst="rect">
            <a:avLst/>
          </a:prstGeom>
          <a:noFill/>
        </p:spPr>
        <p:txBody>
          <a:bodyPr wrap="square" lIns="0" tIns="0" rIns="0" bIns="0" anchor="t">
            <a:spAutoFit/>
          </a:bodyPr>
          <a:lstStyle/>
          <a:p>
            <a:pPr algn="l">
              <a:spcAft>
                <a:spcPts val="200"/>
              </a:spcAft>
            </a:pPr>
            <a:r>
              <a:rPr sz="950" b="0" i="0">
                <a:solidFill>
                  <a:srgbClr val="1F2937"/>
                </a:solidFill>
                <a:latin typeface="Calibri"/>
              </a:rPr>
              <a:t>•  Every scan gets an honest answer</a:t>
            </a:r>
          </a:p>
          <a:p>
            <a:pPr algn="l">
              <a:spcAft>
                <a:spcPts val="200"/>
              </a:spcAft>
            </a:pPr>
            <a:r>
              <a:rPr sz="950" b="0" i="0">
                <a:solidFill>
                  <a:srgbClr val="1F2937"/>
                </a:solidFill>
                <a:latin typeface="Calibri"/>
              </a:rPr>
              <a:t>•  Fakes and edits are rejected</a:t>
            </a:r>
          </a:p>
          <a:p>
            <a:pPr algn="l">
              <a:spcAft>
                <a:spcPts val="200"/>
              </a:spcAft>
            </a:pPr>
            <a:r>
              <a:rPr sz="95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27" name="TextBox 17426"/>
          <p:cNvSpPr txBox="1"/>
          <p:nvPr/>
        </p:nvSpPr>
        <p:spPr>
          <a:xfrm>
            <a:off x="9233154" y="1517904"/>
            <a:ext cx="1904238" cy="320040"/>
          </a:xfrm>
          <a:prstGeom prst="rect">
            <a:avLst/>
          </a:prstGeom>
          <a:noFill/>
        </p:spPr>
        <p:txBody>
          <a:bodyPr wrap="square" lIns="0" tIns="0" rIns="0" bIns="0" anchor="t">
            <a:spAutoFit/>
          </a:bodyPr>
          <a:lstStyle/>
          <a:p>
            <a:pPr algn="l"/>
            <a:r>
              <a:rPr sz="105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559127"/>
          </a:xfrm>
          <a:prstGeom prst="rect">
            <a:avLst/>
          </a:prstGeom>
          <a:noFill/>
        </p:spPr>
        <p:txBody>
          <a:bodyPr wrap="square" lIns="0" tIns="0" rIns="0" bIns="0" anchor="t">
            <a:spAutoFit/>
          </a:bodyPr>
          <a:lstStyle/>
          <a:p>
            <a:pPr algn="l">
              <a:spcAft>
                <a:spcPts val="200"/>
              </a:spcAft>
            </a:pPr>
            <a:r>
              <a:rPr sz="950" b="0" i="0">
                <a:solidFill>
                  <a:srgbClr val="1F2937"/>
                </a:solidFill>
                <a:latin typeface="Calibri"/>
              </a:rPr>
              <a:t>•  Pending by stage, age, district</a:t>
            </a:r>
          </a:p>
          <a:p>
            <a:pPr algn="l">
              <a:spcAft>
                <a:spcPts val="200"/>
              </a:spcAft>
            </a:pPr>
            <a:r>
              <a:rPr sz="950" b="0" i="0">
                <a:solidFill>
                  <a:srgbClr val="1F2937"/>
                </a:solidFill>
                <a:latin typeface="Calibri"/>
              </a:rPr>
              <a:t>•  Inspections due and overdue</a:t>
            </a:r>
          </a:p>
          <a:p>
            <a:pPr algn="l">
              <a:spcAft>
                <a:spcPts val="200"/>
              </a:spcAft>
            </a:pPr>
            <a:r>
              <a:rPr sz="95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lIns="0" tIns="0" rIns="0" bIns="0" anchor="t">
            <a:spAutoFit/>
          </a:bodyPr>
          <a:lstStyle/>
          <a:p>
            <a:pPr algn="l"/>
            <a:r>
              <a:rPr sz="120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2 min 51 s</a:t>
            </a:r>
          </a:p>
          <a:p>
            <a:pPr algn="ctr"/>
            <a:r>
              <a:rPr sz="95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s</a:t>
            </a:r>
          </a:p>
          <a:p>
            <a:pPr algn="ctr"/>
            <a:r>
              <a:rPr sz="950" b="0" i="0">
                <a:solidFill>
                  <a:srgbClr val="E6F4EC"/>
                </a:solidFill>
                <a:latin typeface="Calibri"/>
              </a:rPr>
              <a:t>certificate issued → signed copy back on the phone (incl. network)</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6 / 6</a:t>
            </a:r>
          </a:p>
          <a:p>
            <a:pPr algn="ctr"/>
            <a:r>
              <a:rPr sz="95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2200" b="1" i="0">
                <a:solidFill>
                  <a:srgbClr val="FFFFFF"/>
                </a:solidFill>
                <a:latin typeface="Calibri"/>
              </a:rPr>
              <a:t>0</a:t>
            </a:r>
          </a:p>
          <a:p>
            <a:pPr algn="ctr"/>
            <a:r>
              <a:rPr sz="95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lIns="0" tIns="0" rIns="0" bIns="0" anchor="t">
            <a:spAutoFit/>
          </a:bodyPr>
          <a:lstStyle/>
          <a:p>
            <a:pPr algn="l"/>
            <a:r>
              <a:rPr sz="120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 7 days</a:t>
            </a:r>
          </a:p>
          <a:p>
            <a:pPr algn="ctr"/>
            <a:r>
              <a:rPr sz="95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&lt; 3 s</a:t>
            </a:r>
          </a:p>
          <a:p>
            <a:pPr algn="ctr"/>
            <a:r>
              <a:rPr sz="95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100%</a:t>
            </a:r>
          </a:p>
          <a:p>
            <a:pPr algn="ctr"/>
            <a:r>
              <a:rPr sz="95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800" b="1" i="0">
                <a:solidFill>
                  <a:srgbClr val="FFFFFF"/>
                </a:solidFill>
                <a:latin typeface="Calibri"/>
              </a:rPr>
              <a:t>0</a:t>
            </a:r>
          </a:p>
          <a:p>
            <a:pPr algn="ctr"/>
            <a:r>
              <a:rPr sz="95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lIns="0" tIns="0" rIns="0" bIns="0" anchor="t">
            <a:spAutoFit/>
          </a:bodyPr>
          <a:lstStyle/>
          <a:p>
            <a:pPr algn="l"/>
            <a:r>
              <a:rPr sz="120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B5520F"/>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5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5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5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105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b="0" i="0" dirty="0">
                <a:solidFill>
                  <a:srgbClr val="1F3F6E"/>
                </a:solidFill>
                <a:latin typeface="Calibri"/>
              </a:rPr>
              <a:t>Team</a:t>
            </a:r>
            <a:endParaRPr lang="en-IN" dirty="0"/>
          </a:p>
          <a:p>
            <a:pPr algn="ctr"/>
            <a:r>
              <a:rPr sz="11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lIns="0" tIns="0" rIns="0" bIns="0" anchor="t">
            <a:spAutoFit/>
          </a:bodyPr>
          <a:lstStyle/>
          <a:p>
            <a:pPr algn="l"/>
            <a:r>
              <a:rPr sz="120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lIns="0" tIns="0" rIns="0" bIns="0" anchor="t">
            <a:spAutoFit/>
          </a:bodyPr>
          <a:lstStyle/>
          <a:p>
            <a:pPr algn="l"/>
            <a:r>
              <a:rPr sz="12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lIns="0" tIns="0" rIns="0" bIns="0" anchor="t">
            <a:spAutoFit/>
          </a:bodyPr>
          <a:lstStyle/>
          <a:p>
            <a:pPr algn="l"/>
            <a:r>
              <a:rPr sz="12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States publish the fees (Sch. IX), on-site and late fees (rule 16), validity (rule 27) and the certificate form (Sch. VIII).</a:t>
            </a:r>
          </a:p>
        </p:txBody>
      </p:sp>
      <p:cxnSp>
        <p:nvCxnSpPr>
          <p:cNvPr id="17419" name="Connector 17418"/>
          <p:cNvCxnSpPr/>
          <p:nvPr/>
        </p:nvCxnSpPr>
        <p:spPr>
          <a:xfrm>
            <a:off x="4059936" y="2816351"/>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Loaded as data; every fee, date and form cites and links its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DoCA is building a National Legal Metrology Portal with NIC for State services, incl. verification (Annual Report 2024-25, para 9.13).</a:t>
            </a:r>
          </a:p>
        </p:txBody>
      </p:sp>
      <p:cxnSp>
        <p:nvCxnSpPr>
          <p:cNvPr id="17423" name="Connector 17422"/>
          <p:cNvCxnSpPr/>
          <p:nvPr/>
        </p:nvCxnSpPr>
        <p:spPr>
          <a:xfrm>
            <a:off x="4059936" y="3566160"/>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TULA is a working prototype of that verification module, built to hand over</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DoCA publishes 10,360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Error limits are set by the LM (General) Rules 2011 (Seventh and Eighth Schedules), based on OIML R 76 and R 117.</a:t>
            </a:r>
          </a:p>
        </p:txBody>
      </p:sp>
      <p:cxnSp>
        <p:nvCxnSpPr>
          <p:cNvPr id="17431" name="Connector 17430"/>
          <p:cNvCxnSpPr/>
          <p:nvPr/>
        </p:nvCxnSpPr>
        <p:spPr>
          <a:xfrm>
            <a:off x="4059936" y="5065776"/>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Pass / fail computed from recorded readings against those limits,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r>
              <a:rPr sz="10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95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5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7438" name="TextBox 17437"/>
          <p:cNvSpPr txBox="1"/>
          <p:nvPr/>
        </p:nvSpPr>
        <p:spPr>
          <a:xfrm>
            <a:off x="7726680" y="1481328"/>
            <a:ext cx="3959352" cy="274320"/>
          </a:xfrm>
          <a:prstGeom prst="rect">
            <a:avLst/>
          </a:prstGeom>
          <a:noFill/>
        </p:spPr>
        <p:txBody>
          <a:bodyPr wrap="square" lIns="0" tIns="0" rIns="0" bIns="0" anchor="t">
            <a:spAutoFit/>
          </a:bodyPr>
          <a:lstStyle/>
          <a:p>
            <a:pPr algn="l"/>
            <a:r>
              <a:rPr sz="1050" b="1" i="0">
                <a:solidFill>
                  <a:srgbClr val="0070C0"/>
                </a:solidFill>
                <a:latin typeface="Calibri"/>
              </a:rPr>
              <a:t>References (official, click to open)</a:t>
            </a:r>
          </a:p>
        </p:txBody>
      </p:sp>
      <p:sp>
        <p:nvSpPr>
          <p:cNvPr id="17439" name="TextBox 17438"/>
          <p:cNvSpPr txBox="1"/>
          <p:nvPr/>
        </p:nvSpPr>
        <p:spPr>
          <a:xfrm>
            <a:off x="7726680" y="1755648"/>
            <a:ext cx="3959352" cy="1536192"/>
          </a:xfrm>
          <a:prstGeom prst="rect">
            <a:avLst/>
          </a:prstGeom>
          <a:noFill/>
        </p:spPr>
        <p:txBody>
          <a:bodyPr wrap="square">
            <a:spAutoFit/>
          </a:bodyPr>
          <a:lstStyle/>
          <a:p>
            <a:pPr>
              <a:spcAft>
                <a:spcPts val="150"/>
              </a:spcAft>
            </a:pPr>
            <a:r>
              <a:rPr sz="1050" b="1" i="0">
                <a:solidFill>
                  <a:srgbClr val="0070C0"/>
                </a:solidFill>
                <a:latin typeface="Calibri"/>
              </a:rPr>
              <a:t>1.  </a:t>
            </a:r>
            <a:r>
              <a:rPr sz="950" b="0" i="0" u="sng">
                <a:solidFill>
                  <a:srgbClr val="1F3F6E"/>
                </a:solidFill>
                <a:latin typeface="Calibri"/>
                <a:hlinkClick r:id="rId4"/>
              </a:rPr>
              <a:t>Legal Metrology Act, 2009</a:t>
            </a:r>
          </a:p>
          <a:p>
            <a:pPr>
              <a:spcAft>
                <a:spcPts val="150"/>
              </a:spcAft>
            </a:pPr>
            <a:r>
              <a:rPr sz="1050" b="1" i="0">
                <a:solidFill>
                  <a:srgbClr val="0070C0"/>
                </a:solidFill>
                <a:latin typeface="Calibri"/>
              </a:rPr>
              <a:t>2.  </a:t>
            </a:r>
            <a:r>
              <a:rPr sz="950" b="0" i="0" u="sng">
                <a:solidFill>
                  <a:srgbClr val="1F3F6E"/>
                </a:solidFill>
                <a:latin typeface="Calibri"/>
                <a:hlinkClick r:id="rId5"/>
              </a:rPr>
              <a:t>Delhi LM (Enforcement) Rules 2011: Sch. VIII, IX</a:t>
            </a:r>
            <a:r>
              <a:rPr sz="950" b="0" i="0">
                <a:solidFill>
                  <a:srgbClr val="1F3F6E"/>
                </a:solidFill>
                <a:latin typeface="Calibri"/>
              </a:rPr>
              <a:t>  ·  </a:t>
            </a:r>
            <a:r>
              <a:rPr sz="950" b="0" i="0" u="sng">
                <a:solidFill>
                  <a:srgbClr val="1F3F6E"/>
                </a:solidFill>
                <a:latin typeface="Calibri"/>
                <a:hlinkClick r:id="rId6"/>
              </a:rPr>
              <a:t>Sch. XI (2026)</a:t>
            </a:r>
          </a:p>
          <a:p>
            <a:pPr>
              <a:spcAft>
                <a:spcPts val="150"/>
              </a:spcAft>
            </a:pPr>
            <a:r>
              <a:rPr sz="1050" b="1" i="0">
                <a:solidFill>
                  <a:srgbClr val="0070C0"/>
                </a:solidFill>
                <a:latin typeface="Calibri"/>
              </a:rPr>
              <a:t>3.  </a:t>
            </a:r>
            <a:r>
              <a:rPr sz="950" b="0" i="0" u="sng">
                <a:solidFill>
                  <a:srgbClr val="1F3F6E"/>
                </a:solidFill>
                <a:latin typeface="Calibri"/>
                <a:hlinkClick r:id="rId7"/>
              </a:rPr>
              <a:t>Gujarat fee schedule (Schedule IX)</a:t>
            </a:r>
          </a:p>
          <a:p>
            <a:pPr>
              <a:spcAft>
                <a:spcPts val="150"/>
              </a:spcAft>
            </a:pPr>
            <a:r>
              <a:rPr sz="1050" b="1" i="0">
                <a:solidFill>
                  <a:srgbClr val="0070C0"/>
                </a:solidFill>
                <a:latin typeface="Calibri"/>
              </a:rPr>
              <a:t>4.  </a:t>
            </a:r>
            <a:r>
              <a:rPr sz="950" b="0" i="0" u="sng">
                <a:solidFill>
                  <a:srgbClr val="1F3F6E"/>
                </a:solidFill>
                <a:latin typeface="Calibri"/>
                <a:hlinkClick r:id="rId8"/>
              </a:rPr>
              <a:t>Rule 27 re-verification periods (Govt. of Assam)</a:t>
            </a:r>
          </a:p>
          <a:p>
            <a:pPr>
              <a:spcAft>
                <a:spcPts val="150"/>
              </a:spcAft>
            </a:pPr>
            <a:r>
              <a:rPr sz="1050" b="1" i="0">
                <a:solidFill>
                  <a:srgbClr val="0070C0"/>
                </a:solidFill>
                <a:latin typeface="Calibri"/>
              </a:rPr>
              <a:t>5.  </a:t>
            </a:r>
            <a:r>
              <a:rPr sz="950" b="0" i="0" u="sng">
                <a:solidFill>
                  <a:srgbClr val="1F3F6E"/>
                </a:solidFill>
                <a:latin typeface="Calibri"/>
                <a:hlinkClick r:id="rId9"/>
              </a:rPr>
              <a:t>DoCA Model Approval register (10,360 entries)</a:t>
            </a:r>
          </a:p>
          <a:p>
            <a:pPr>
              <a:spcAft>
                <a:spcPts val="150"/>
              </a:spcAft>
            </a:pPr>
            <a:r>
              <a:rPr sz="1050" b="1" i="0">
                <a:solidFill>
                  <a:srgbClr val="0070C0"/>
                </a:solidFill>
                <a:latin typeface="Calibri"/>
              </a:rPr>
              <a:t>6.  </a:t>
            </a:r>
            <a:r>
              <a:rPr sz="950" b="0" i="0" u="sng">
                <a:solidFill>
                  <a:srgbClr val="1F3F6E"/>
                </a:solidFill>
                <a:latin typeface="Calibri"/>
                <a:hlinkClick r:id="rId10"/>
              </a:rPr>
              <a:t>General Rules specs (DoCA)</a:t>
            </a:r>
            <a:r>
              <a:rPr sz="950" b="0" i="0">
                <a:solidFill>
                  <a:srgbClr val="1F3F6E"/>
                </a:solidFill>
                <a:latin typeface="Calibri"/>
              </a:rPr>
              <a:t>  ·  </a:t>
            </a:r>
            <a:r>
              <a:rPr sz="950" b="0" i="0" u="sng">
                <a:solidFill>
                  <a:srgbClr val="1F3F6E"/>
                </a:solidFill>
                <a:latin typeface="Calibri"/>
                <a:hlinkClick r:id="rId11"/>
              </a:rPr>
              <a:t>OIML R 76-1</a:t>
            </a:r>
            <a:r>
              <a:rPr sz="950" b="0" i="0">
                <a:solidFill>
                  <a:srgbClr val="1F3F6E"/>
                </a:solidFill>
                <a:latin typeface="Calibri"/>
              </a:rPr>
              <a:t>  ·  </a:t>
            </a:r>
            <a:r>
              <a:rPr sz="950" b="0" i="0" u="sng">
                <a:solidFill>
                  <a:srgbClr val="1F3F6E"/>
                </a:solidFill>
                <a:latin typeface="Calibri"/>
                <a:hlinkClick r:id="rId12"/>
              </a:rPr>
              <a:t>R 117-1</a:t>
            </a:r>
          </a:p>
          <a:p>
            <a:pPr>
              <a:spcAft>
                <a:spcPts val="150"/>
              </a:spcAft>
            </a:pPr>
            <a:r>
              <a:rPr sz="1050" b="1" i="0">
                <a:solidFill>
                  <a:srgbClr val="0070C0"/>
                </a:solidFill>
                <a:latin typeface="Calibri"/>
              </a:rPr>
              <a:t>7.  </a:t>
            </a:r>
            <a:r>
              <a:rPr sz="950" b="0" i="0" u="sng">
                <a:solidFill>
                  <a:srgbClr val="1F3F6E"/>
                </a:solidFill>
                <a:latin typeface="Calibri"/>
                <a:hlinkClick r:id="rId13"/>
              </a:rPr>
              <a:t>DoCA Annual Report 2024-25 (para 9.13)</a:t>
            </a:r>
          </a:p>
          <a:p>
            <a:pPr>
              <a:spcAft>
                <a:spcPts val="150"/>
              </a:spcAft>
            </a:pPr>
            <a:r>
              <a:rPr sz="1050" b="1" i="0">
                <a:solidFill>
                  <a:srgbClr val="0070C0"/>
                </a:solidFill>
                <a:latin typeface="Calibri"/>
              </a:rPr>
              <a:t>8.  </a:t>
            </a:r>
            <a:r>
              <a:rPr sz="950" b="0" i="0" u="sng">
                <a:solidFill>
                  <a:srgbClr val="1F3F6E"/>
                </a:solidFill>
                <a:latin typeface="Calibri"/>
                <a:hlinkClick r:id="rId14"/>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lIns="0" tIns="0" rIns="0" bIns="0" anchor="t">
            <a:spAutoFit/>
          </a:bodyPr>
          <a:lstStyle/>
          <a:p>
            <a:pPr algn="l"/>
            <a:r>
              <a:rPr sz="120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endParaRP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l"/>
            <a:r>
              <a:rPr sz="90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pic>
        <p:nvPicPr>
          <p:cNvPr id="17466" name="Picture 17465" descr="image.png">
            <a:hlinkClick r:id="rId15"/>
          </p:cNvPr>
          <p:cNvPicPr>
            <a:picLocks noChangeAspect="1"/>
          </p:cNvPicPr>
          <p:nvPr/>
        </p:nvPicPr>
        <p:blipFill>
          <a:blip r:embed="rId16"/>
          <a:stretch>
            <a:fillRect/>
          </a:stretch>
        </p:blipFill>
        <p:spPr>
          <a:xfrm>
            <a:off x="7680960" y="4965192"/>
            <a:ext cx="1188720" cy="1188720"/>
          </a:xfrm>
          <a:prstGeom prst="rect">
            <a:avLst/>
          </a:prstGeom>
        </p:spPr>
      </p:pic>
      <p:sp>
        <p:nvSpPr>
          <p:cNvPr id="17467" name="TextBox 17466"/>
          <p:cNvSpPr txBox="1"/>
          <p:nvPr/>
        </p:nvSpPr>
        <p:spPr>
          <a:xfrm>
            <a:off x="8961120" y="4983480"/>
            <a:ext cx="2770632" cy="882293"/>
          </a:xfrm>
          <a:prstGeom prst="rect">
            <a:avLst/>
          </a:prstGeom>
          <a:noFill/>
        </p:spPr>
        <p:txBody>
          <a:bodyPr wrap="square" lIns="0" tIns="0" rIns="0" bIns="0" anchor="t">
            <a:spAutoFit/>
          </a:bodyPr>
          <a:lstStyle/>
          <a:p>
            <a:pPr algn="l">
              <a:spcAft>
                <a:spcPts val="200"/>
              </a:spcAft>
            </a:pPr>
            <a:r>
              <a:rPr sz="1050" b="1" i="0">
                <a:solidFill>
                  <a:srgbClr val="1E7B4A"/>
                </a:solidFill>
                <a:latin typeface="Calibri"/>
              </a:rPr>
              <a:t>Scan: a live certificate</a:t>
            </a:r>
          </a:p>
          <a:p>
            <a:pPr algn="l">
              <a:spcAft>
                <a:spcPts val="200"/>
              </a:spcAft>
            </a:pPr>
            <a:r>
              <a:rPr sz="950" b="0" i="0">
                <a:solidFill>
                  <a:srgbClr val="1F2937"/>
                </a:solidFill>
                <a:latin typeface="Calibri"/>
              </a:rPr>
              <a:t>DL/LM/2026/08913, a demo certificate signed on the live system. Your phone checks the signature, then shows DoCA's real record for the model.</a:t>
            </a:r>
          </a:p>
          <a:p>
            <a:pPr algn="l">
              <a:spcAft>
                <a:spcPts val="200"/>
              </a:spcAft>
            </a:pPr>
            <a:r>
              <a:rPr sz="950" b="0" i="0">
                <a:solidFill>
                  <a:srgbClr val="5B6573"/>
                </a:solidFill>
                <a:latin typeface="Calibri"/>
              </a:rPr>
              <a:t>Code: </a:t>
            </a:r>
            <a:r>
              <a:rPr sz="950" b="0" i="0" u="sng">
                <a:solidFill>
                  <a:srgbClr val="5B6573"/>
                </a:solidFill>
                <a:latin typeface="Calibri"/>
                <a:hlinkClick r:id="rId17"/>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2336</Words>
  <Application>Microsoft Office PowerPoint</Application>
  <PresentationFormat>Widescreen</PresentationFormat>
  <Paragraphs>331</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Garamond</vt:lpstr>
      <vt:lpstr>Times New Roman</vt:lpstr>
      <vt:lpstr>TradeGothic</vt:lpstr>
      <vt:lpstr>Office Theme</vt:lpstr>
      <vt:lpstr>SMART INDIA HACKATHON 2026</vt:lpstr>
      <vt:lpstr>TULA: ONE INSTRUMENT, ONE DIGITAL ID </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Prerak Patadia</cp:lastModifiedBy>
  <cp:revision>149</cp:revision>
  <dcterms:created xsi:type="dcterms:W3CDTF">2013-12-12T18:46:50Z</dcterms:created>
  <dcterms:modified xsi:type="dcterms:W3CDTF">2026-10-02T03:17:38Z</dcterms:modified>
  <cp:category/>
</cp:coreProperties>
</file>