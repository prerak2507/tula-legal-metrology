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Walk the 8 steps left to right using one instrument, e.g. a 100-tonne weighbridge in Ahmedabad. Stress: every event lands on the same Digital ID, so history is never lost. Gemini only assists scrutiny; fees, MPE pass/fail and the final decision are deterministic or human. The green loop is the re-verification cycle.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Top to bottom: who uses it, how they get in, what processes the request, where it is stored. Point at the purple Edge Functions box: the Gemini key and the certificate signing key live only on the server. Then the purple lane: Gemini reads uploaded documents and nameplate photos and returns structured JSON; the rule engine cross-checks it; the officer accepts or rejects. Nothing AI-generated changes a record without a human click.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Be upfront: the prototype runs the whole lifecycle in the browser; the pilot build moves it to Supabase with real auth. The orange half-circles are honest partials. If asked about AI risk: Gemini output is a suggestion with a confidence score, never a decision, and every suggestion is audit-logged with the model version.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KPI numbers are pilot targets, not measured results; say so if asked. Baseline comes from the pilot district's current register. The consumer card is the emotional hook: anyone at a petrol pump can check the dispenser in three seconds.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Each design choice traces to a rule or a real-world constraint. If asked about MPE: we use the accuracy-class tables the General Rules adopt from OIML R 76 / R 117; the rule engine holds them as data.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 in one line: verification of scales, fuel pumps and weighbridges is still paper and siloed, and a shopper has no way to tell a genuine stamp from a fake. TULA gives every instrument one permanent digital ID and runs its whole verification life on it. Fill in the Team ID before exporting to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84048" y="1828800"/>
            <a:ext cx="5806440" cy="731520"/>
          </a:xfrm>
          <a:prstGeom prst="roundRect">
            <a:avLst>
              <a:gd name="adj" fmla="val 10000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TULA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Unified Digital Lifecycle Platform for Legal Metrology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274320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  <a:buFont typeface="Arial"/>
              <a:buChar char="•"/>
            </a:pPr>
            <a:r>
              <a:rPr sz="1700" b="1" i="0">
                <a:solidFill>
                  <a:srgbClr val="1F2937"/>
                </a:solidFill>
                <a:latin typeface="Calibri"/>
              </a:rPr>
              <a:t>Problem Statement ID –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26036</a:t>
            </a:r>
          </a:p>
          <a:p>
            <a:pPr marL="274320" indent="-274320">
              <a:spcAft>
                <a:spcPts val="500"/>
              </a:spcAft>
              <a:buFont typeface="Arial"/>
              <a:buChar char="•"/>
            </a:pPr>
            <a:r>
              <a:rPr sz="1700" b="1" i="0">
                <a:solidFill>
                  <a:srgbClr val="1F2937"/>
                </a:solidFill>
                <a:latin typeface="Calibri"/>
              </a:rPr>
              <a:t>Problem Statement Title –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Development of an Online Verification System for Weighing and Measuring Instruments</a:t>
            </a:r>
          </a:p>
          <a:p>
            <a:pPr marL="274320" indent="-274320">
              <a:spcAft>
                <a:spcPts val="500"/>
              </a:spcAft>
              <a:buFont typeface="Arial"/>
              <a:buChar char="•"/>
            </a:pPr>
            <a:r>
              <a:rPr sz="1700" b="1" i="0">
                <a:solidFill>
                  <a:srgbClr val="1F2937"/>
                </a:solidFill>
                <a:latin typeface="Calibri"/>
              </a:rPr>
              <a:t>Theme –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Miscellaneous</a:t>
            </a:r>
          </a:p>
          <a:p>
            <a:pPr marL="274320" indent="-274320">
              <a:spcAft>
                <a:spcPts val="500"/>
              </a:spcAft>
              <a:buFont typeface="Arial"/>
              <a:buChar char="•"/>
            </a:pPr>
            <a:r>
              <a:rPr sz="1700" b="1" i="0">
                <a:solidFill>
                  <a:srgbClr val="1F2937"/>
                </a:solidFill>
                <a:latin typeface="Calibri"/>
              </a:rPr>
              <a:t>PS Category –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Software</a:t>
            </a:r>
          </a:p>
          <a:p>
            <a:pPr marL="274320" indent="-274320">
              <a:spcAft>
                <a:spcPts val="500"/>
              </a:spcAft>
              <a:buFont typeface="Arial"/>
              <a:buChar char="•"/>
            </a:pPr>
            <a:r>
              <a:rPr sz="1700" b="1" i="0">
                <a:solidFill>
                  <a:srgbClr val="1F2937"/>
                </a:solidFill>
                <a:latin typeface="Calibri"/>
              </a:rPr>
              <a:t>Team ID –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_______</a:t>
            </a:r>
          </a:p>
          <a:p>
            <a:pPr marL="274320" indent="-274320">
              <a:spcAft>
                <a:spcPts val="500"/>
              </a:spcAft>
              <a:buFont typeface="Arial"/>
              <a:buChar char="•"/>
            </a:pPr>
            <a:r>
              <a:rPr sz="1700" b="1" i="0">
                <a:solidFill>
                  <a:srgbClr val="1F2937"/>
                </a:solidFill>
                <a:latin typeface="Calibri"/>
              </a:rPr>
              <a:t>Team Name –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FriendlyFire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8978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1">
                <a:solidFill>
                  <a:srgbClr val="0070C0"/>
                </a:solidFill>
                <a:latin typeface="Calibri"/>
              </a:rPr>
              <a:t>One instrument → one digital ID → one certificate anyone can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TULA: ONE INSTRUMENT, ONE DIGITAL ID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TULA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0" i="0">
                <a:solidFill>
                  <a:srgbClr val="1F3F6E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000" b="1" i="0">
                <a:solidFill>
                  <a:srgbClr val="1F3F6E"/>
                </a:solidFill>
                <a:latin typeface="Calibri"/>
              </a:rPr>
              <a:t>FriendlyFire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170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PROPOSED SOLUTION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65760" y="1444752"/>
            <a:ext cx="11457432" cy="475488"/>
          </a:xfrm>
          <a:prstGeom prst="roundRect">
            <a:avLst>
              <a:gd name="adj" fmla="val 11538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A web + mobile platform where every weighing and measuring instrument gets a permanent Digital ID.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Application, scrutiny, inspection, certificate, re-verification and enforcement all attach to that one ID.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20116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DETAILED EXPLANATION: the life of one instrument in TULA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2395728"/>
            <a:ext cx="126187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3F6E"/>
                </a:solidFill>
                <a:latin typeface="Calibri"/>
              </a:rPr>
              <a:t>Register</a:t>
            </a:r>
          </a:p>
          <a:p>
            <a:pPr algn="ctr"/>
            <a:r>
              <a:rPr sz="950" b="0" i="0">
                <a:solidFill>
                  <a:srgbClr val="5B6573"/>
                </a:solidFill>
                <a:latin typeface="Calibri"/>
              </a:rPr>
              <a:t>Digital ID issued</a:t>
            </a:r>
          </a:p>
        </p:txBody>
      </p:sp>
      <p:sp>
        <p:nvSpPr>
          <p:cNvPr id="15366" name="Oval 15365"/>
          <p:cNvSpPr/>
          <p:nvPr/>
        </p:nvSpPr>
        <p:spPr>
          <a:xfrm>
            <a:off x="274320" y="2276856"/>
            <a:ext cx="274320" cy="274320"/>
          </a:xfrm>
          <a:prstGeom prst="ellipse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5367" name="Connector 15366"/>
          <p:cNvCxnSpPr/>
          <p:nvPr/>
        </p:nvCxnSpPr>
        <p:spPr>
          <a:xfrm>
            <a:off x="1645919" y="2761488"/>
            <a:ext cx="158061" cy="0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8" name="Rounded Rectangle 15367"/>
          <p:cNvSpPr/>
          <p:nvPr/>
        </p:nvSpPr>
        <p:spPr>
          <a:xfrm>
            <a:off x="1822268" y="2395728"/>
            <a:ext cx="126187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3F6E"/>
                </a:solidFill>
                <a:latin typeface="Calibri"/>
              </a:rPr>
              <a:t>Apply</a:t>
            </a:r>
          </a:p>
          <a:p>
            <a:pPr algn="ctr"/>
            <a:r>
              <a:rPr sz="950" b="0" i="0">
                <a:solidFill>
                  <a:srgbClr val="5B6573"/>
                </a:solidFill>
                <a:latin typeface="Calibri"/>
              </a:rPr>
              <a:t>online, fee auto-calc</a:t>
            </a:r>
          </a:p>
        </p:txBody>
      </p:sp>
      <p:sp>
        <p:nvSpPr>
          <p:cNvPr id="15369" name="Oval 15368"/>
          <p:cNvSpPr/>
          <p:nvPr/>
        </p:nvSpPr>
        <p:spPr>
          <a:xfrm>
            <a:off x="1730828" y="2276856"/>
            <a:ext cx="274320" cy="274320"/>
          </a:xfrm>
          <a:prstGeom prst="ellipse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5370" name="Connector 15369"/>
          <p:cNvCxnSpPr/>
          <p:nvPr/>
        </p:nvCxnSpPr>
        <p:spPr>
          <a:xfrm>
            <a:off x="3102428" y="2761488"/>
            <a:ext cx="158061" cy="0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Rounded Rectangle 15370"/>
          <p:cNvSpPr/>
          <p:nvPr/>
        </p:nvSpPr>
        <p:spPr>
          <a:xfrm>
            <a:off x="3278777" y="2395728"/>
            <a:ext cx="1261872" cy="731520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Scrutiny</a:t>
            </a:r>
          </a:p>
          <a:p>
            <a:pPr algn="ctr"/>
            <a:r>
              <a:rPr sz="950" b="0" i="0">
                <a:solidFill>
                  <a:srgbClr val="5B6573"/>
                </a:solidFill>
                <a:latin typeface="Calibri"/>
              </a:rPr>
              <a:t>rules + AI copilot</a:t>
            </a:r>
          </a:p>
        </p:txBody>
      </p:sp>
      <p:sp>
        <p:nvSpPr>
          <p:cNvPr id="15372" name="Oval 15371"/>
          <p:cNvSpPr/>
          <p:nvPr/>
        </p:nvSpPr>
        <p:spPr>
          <a:xfrm>
            <a:off x="3187337" y="2276856"/>
            <a:ext cx="274320" cy="27432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5373" name="Connector 15372"/>
          <p:cNvCxnSpPr/>
          <p:nvPr/>
        </p:nvCxnSpPr>
        <p:spPr>
          <a:xfrm>
            <a:off x="4558937" y="2761488"/>
            <a:ext cx="158060" cy="0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4" name="Rounded Rectangle 15373"/>
          <p:cNvSpPr/>
          <p:nvPr/>
        </p:nvSpPr>
        <p:spPr>
          <a:xfrm>
            <a:off x="4735285" y="2395728"/>
            <a:ext cx="126187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3F6E"/>
                </a:solidFill>
                <a:latin typeface="Calibri"/>
              </a:rPr>
              <a:t>Assign</a:t>
            </a:r>
          </a:p>
          <a:p>
            <a:pPr algn="ctr"/>
            <a:r>
              <a:rPr sz="950" b="0" i="0">
                <a:solidFill>
                  <a:srgbClr val="5B6573"/>
                </a:solidFill>
                <a:latin typeface="Calibri"/>
              </a:rPr>
              <a:t>district LMO / GATC</a:t>
            </a:r>
          </a:p>
        </p:txBody>
      </p:sp>
      <p:sp>
        <p:nvSpPr>
          <p:cNvPr id="15375" name="Oval 15374"/>
          <p:cNvSpPr/>
          <p:nvPr/>
        </p:nvSpPr>
        <p:spPr>
          <a:xfrm>
            <a:off x="4643845" y="2276856"/>
            <a:ext cx="274320" cy="274320"/>
          </a:xfrm>
          <a:prstGeom prst="ellipse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15376" name="Connector 15375"/>
          <p:cNvCxnSpPr/>
          <p:nvPr/>
        </p:nvCxnSpPr>
        <p:spPr>
          <a:xfrm>
            <a:off x="6015445" y="2761488"/>
            <a:ext cx="158061" cy="0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7" name="Rounded Rectangle 15376"/>
          <p:cNvSpPr/>
          <p:nvPr/>
        </p:nvSpPr>
        <p:spPr>
          <a:xfrm>
            <a:off x="6191794" y="2395728"/>
            <a:ext cx="126187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F3F6E"/>
                </a:solidFill>
                <a:latin typeface="Calibri"/>
              </a:rPr>
              <a:t>Inspect</a:t>
            </a:r>
          </a:p>
          <a:p>
            <a:pPr algn="ctr"/>
            <a:r>
              <a:rPr sz="950" b="0" i="0">
                <a:solidFill>
                  <a:srgbClr val="5B6573"/>
                </a:solidFill>
                <a:latin typeface="Calibri"/>
              </a:rPr>
              <a:t>offline field app</a:t>
            </a:r>
          </a:p>
        </p:txBody>
      </p:sp>
      <p:sp>
        <p:nvSpPr>
          <p:cNvPr id="15378" name="Oval 15377"/>
          <p:cNvSpPr/>
          <p:nvPr/>
        </p:nvSpPr>
        <p:spPr>
          <a:xfrm>
            <a:off x="6100354" y="2276856"/>
            <a:ext cx="274320" cy="274320"/>
          </a:xfrm>
          <a:prstGeom prst="ellipse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15379" name="Connector 15378"/>
          <p:cNvCxnSpPr/>
          <p:nvPr/>
        </p:nvCxnSpPr>
        <p:spPr>
          <a:xfrm>
            <a:off x="7471954" y="2761488"/>
            <a:ext cx="158060" cy="0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0" name="Rounded Rectangle 15379"/>
          <p:cNvSpPr/>
          <p:nvPr/>
        </p:nvSpPr>
        <p:spPr>
          <a:xfrm>
            <a:off x="7648302" y="2395728"/>
            <a:ext cx="1261872" cy="731520"/>
          </a:xfrm>
          <a:prstGeom prst="roundRect">
            <a:avLst>
              <a:gd name="adj" fmla="val 10000"/>
            </a:avLst>
          </a:prstGeom>
          <a:solidFill>
            <a:srgbClr val="FCEFE5"/>
          </a:solidFill>
          <a:ln w="19050">
            <a:solidFill>
              <a:srgbClr val="D96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D9661F"/>
                </a:solidFill>
                <a:latin typeface="Calibri"/>
              </a:rPr>
              <a:t>Decide</a:t>
            </a:r>
          </a:p>
          <a:p>
            <a:pPr algn="ctr"/>
            <a:r>
              <a:rPr sz="950" b="0" i="0">
                <a:solidFill>
                  <a:srgbClr val="5B6573"/>
                </a:solidFill>
                <a:latin typeface="Calibri"/>
              </a:rPr>
              <a:t>readings vs MPE</a:t>
            </a:r>
          </a:p>
        </p:txBody>
      </p:sp>
      <p:sp>
        <p:nvSpPr>
          <p:cNvPr id="15381" name="Oval 15380"/>
          <p:cNvSpPr/>
          <p:nvPr/>
        </p:nvSpPr>
        <p:spPr>
          <a:xfrm>
            <a:off x="7556862" y="2276856"/>
            <a:ext cx="274320" cy="274320"/>
          </a:xfrm>
          <a:prstGeom prst="ellipse">
            <a:avLst/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15382" name="Connector 15381"/>
          <p:cNvCxnSpPr/>
          <p:nvPr/>
        </p:nvCxnSpPr>
        <p:spPr>
          <a:xfrm>
            <a:off x="8928462" y="2761488"/>
            <a:ext cx="158061" cy="0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3" name="Rounded Rectangle 15382"/>
          <p:cNvSpPr/>
          <p:nvPr/>
        </p:nvSpPr>
        <p:spPr>
          <a:xfrm>
            <a:off x="9104811" y="2395728"/>
            <a:ext cx="1261872" cy="73152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19050">
            <a:solidFill>
              <a:srgbClr val="1E7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E7B4A"/>
                </a:solidFill>
                <a:latin typeface="Calibri"/>
              </a:rPr>
              <a:t>Certificate</a:t>
            </a:r>
          </a:p>
          <a:p>
            <a:pPr algn="ctr"/>
            <a:r>
              <a:rPr sz="950" b="0" i="0">
                <a:solidFill>
                  <a:srgbClr val="5B6573"/>
                </a:solidFill>
                <a:latin typeface="Calibri"/>
              </a:rPr>
              <a:t>signed QR + PDF</a:t>
            </a:r>
          </a:p>
        </p:txBody>
      </p:sp>
      <p:sp>
        <p:nvSpPr>
          <p:cNvPr id="15384" name="Oval 15383"/>
          <p:cNvSpPr/>
          <p:nvPr/>
        </p:nvSpPr>
        <p:spPr>
          <a:xfrm>
            <a:off x="9013371" y="2276856"/>
            <a:ext cx="274320" cy="274320"/>
          </a:xfrm>
          <a:prstGeom prst="ellipse">
            <a:avLst/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cxnSp>
        <p:nvCxnSpPr>
          <p:cNvPr id="15385" name="Connector 15384"/>
          <p:cNvCxnSpPr/>
          <p:nvPr/>
        </p:nvCxnSpPr>
        <p:spPr>
          <a:xfrm>
            <a:off x="10384971" y="2761488"/>
            <a:ext cx="158061" cy="0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Rounded Rectangle 15385"/>
          <p:cNvSpPr/>
          <p:nvPr/>
        </p:nvSpPr>
        <p:spPr>
          <a:xfrm>
            <a:off x="10561319" y="2395728"/>
            <a:ext cx="1261872" cy="73152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19050">
            <a:solidFill>
              <a:srgbClr val="1E7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1E7B4A"/>
                </a:solidFill>
                <a:latin typeface="Calibri"/>
              </a:rPr>
              <a:t>Verify</a:t>
            </a:r>
          </a:p>
          <a:p>
            <a:pPr algn="ctr"/>
            <a:r>
              <a:rPr sz="950" b="0" i="0">
                <a:solidFill>
                  <a:srgbClr val="5B6573"/>
                </a:solidFill>
                <a:latin typeface="Calibri"/>
              </a:rPr>
              <a:t>anyone scans, no login</a:t>
            </a:r>
          </a:p>
        </p:txBody>
      </p:sp>
      <p:sp>
        <p:nvSpPr>
          <p:cNvPr id="15387" name="Oval 15386"/>
          <p:cNvSpPr/>
          <p:nvPr/>
        </p:nvSpPr>
        <p:spPr>
          <a:xfrm>
            <a:off x="10469880" y="2276856"/>
            <a:ext cx="274320" cy="274320"/>
          </a:xfrm>
          <a:prstGeom prst="ellipse">
            <a:avLst/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cxnSp>
        <p:nvCxnSpPr>
          <p:cNvPr id="15388" name="Connector 15387"/>
          <p:cNvCxnSpPr/>
          <p:nvPr/>
        </p:nvCxnSpPr>
        <p:spPr>
          <a:xfrm>
            <a:off x="9735747" y="3127248"/>
            <a:ext cx="0" cy="201168"/>
          </a:xfrm>
          <a:prstGeom prst="line">
            <a:avLst/>
          </a:prstGeom>
          <a:ln w="22225">
            <a:solidFill>
              <a:srgbClr val="1E7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9" name="Connector 15388"/>
          <p:cNvCxnSpPr/>
          <p:nvPr/>
        </p:nvCxnSpPr>
        <p:spPr>
          <a:xfrm flipH="1">
            <a:off x="2453204" y="3328416"/>
            <a:ext cx="7282543" cy="0"/>
          </a:xfrm>
          <a:prstGeom prst="line">
            <a:avLst/>
          </a:prstGeom>
          <a:ln w="22225">
            <a:solidFill>
              <a:srgbClr val="1E7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0" name="Connector 15389"/>
          <p:cNvCxnSpPr/>
          <p:nvPr/>
        </p:nvCxnSpPr>
        <p:spPr>
          <a:xfrm flipV="1">
            <a:off x="2453204" y="3145536"/>
            <a:ext cx="0" cy="182880"/>
          </a:xfrm>
          <a:prstGeom prst="line">
            <a:avLst/>
          </a:prstGeom>
          <a:ln w="22225">
            <a:solidFill>
              <a:srgbClr val="1E7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TextBox 15390"/>
          <p:cNvSpPr txBox="1"/>
          <p:nvPr/>
        </p:nvSpPr>
        <p:spPr>
          <a:xfrm>
            <a:off x="3001844" y="3346704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7B4A"/>
                </a:solidFill>
                <a:latin typeface="Calibri"/>
              </a:rPr>
              <a:t>Expiry alerts at 30 / 15 / 7 days  →  re-verification on the same Digital ID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8955894" y="3145536"/>
            <a:ext cx="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365760" y="3675887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365760" y="3950208"/>
            <a:ext cx="2727198" cy="822960"/>
          </a:xfrm>
          <a:prstGeom prst="roundRect">
            <a:avLst>
              <a:gd name="adj" fmla="val 6666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l"/>
            <a:r>
              <a:rPr sz="1050" b="0" i="0">
                <a:solidFill>
                  <a:srgbClr val="5B6573"/>
                </a:solidFill>
                <a:latin typeface="Calibri"/>
              </a:rPr>
              <a:t>Records on paper or isolated local systems</a:t>
            </a:r>
          </a:p>
          <a:p>
            <a:pPr algn="l"/>
            <a:r>
              <a:rPr sz="1200" b="1" i="0">
                <a:solidFill>
                  <a:srgbClr val="1F3F6E"/>
                </a:solidFill>
                <a:latin typeface="Calibri"/>
              </a:rPr>
              <a:t>→ One central record per instrument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3275838" y="3950208"/>
            <a:ext cx="2727198" cy="822960"/>
          </a:xfrm>
          <a:prstGeom prst="roundRect">
            <a:avLst>
              <a:gd name="adj" fmla="val 6666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l"/>
            <a:r>
              <a:rPr sz="1050" b="0" i="0">
                <a:solidFill>
                  <a:srgbClr val="5B6573"/>
                </a:solidFill>
                <a:latin typeface="Calibri"/>
              </a:rPr>
              <a:t>Manual scheduling and slow pendency</a:t>
            </a:r>
          </a:p>
          <a:p>
            <a:pPr algn="l"/>
            <a:r>
              <a:rPr sz="1200" b="1" i="0">
                <a:solidFill>
                  <a:srgbClr val="1F3F6E"/>
                </a:solidFill>
                <a:latin typeface="Calibri"/>
              </a:rPr>
              <a:t>→ Rule-based fee, routing and live queues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6185916" y="3950208"/>
            <a:ext cx="2727198" cy="822960"/>
          </a:xfrm>
          <a:prstGeom prst="roundRect">
            <a:avLst>
              <a:gd name="adj" fmla="val 6666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l"/>
            <a:r>
              <a:rPr sz="1050" b="0" i="0">
                <a:solidFill>
                  <a:srgbClr val="5B6573"/>
                </a:solidFill>
                <a:latin typeface="Calibri"/>
              </a:rPr>
              <a:t>Consumers can't check a stamp</a:t>
            </a:r>
          </a:p>
          <a:p>
            <a:pPr algn="l"/>
            <a:r>
              <a:rPr sz="1200" b="1" i="0">
                <a:solidFill>
                  <a:srgbClr val="1F3F6E"/>
                </a:solidFill>
                <a:latin typeface="Calibri"/>
              </a:rPr>
              <a:t>→ Scan the QR, see validity instantly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9095994" y="3950208"/>
            <a:ext cx="2727198" cy="822960"/>
          </a:xfrm>
          <a:prstGeom prst="roundRect">
            <a:avLst>
              <a:gd name="adj" fmla="val 6666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l"/>
            <a:r>
              <a:rPr sz="1050" b="0" i="0">
                <a:solidFill>
                  <a:srgbClr val="5B6573"/>
                </a:solidFill>
                <a:latin typeface="Calibri"/>
              </a:rPr>
              <a:t>Re-verification dates get missed</a:t>
            </a:r>
          </a:p>
          <a:p>
            <a:pPr algn="l"/>
            <a:r>
              <a:rPr sz="1200" b="1" i="0">
                <a:solidFill>
                  <a:srgbClr val="1F3F6E"/>
                </a:solidFill>
                <a:latin typeface="Calibri"/>
              </a:rPr>
              <a:t>→ Automatic reminders before expiry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365760" y="48737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INNOVATION AND UNIQUENESS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365760" y="5148072"/>
            <a:ext cx="2181758" cy="1069848"/>
          </a:xfrm>
          <a:prstGeom prst="roundRect">
            <a:avLst>
              <a:gd name="adj" fmla="val 5982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Instrument-centric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One ID carries the full history across owners and years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2684678" y="5148072"/>
            <a:ext cx="2181758" cy="1069848"/>
          </a:xfrm>
          <a:prstGeom prst="roundRect">
            <a:avLst>
              <a:gd name="adj" fmla="val 5982"/>
            </a:avLst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Signed QR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Ed25519 signature: a copied or edited certificate fails the scan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5003596" y="5148072"/>
            <a:ext cx="2181758" cy="1069848"/>
          </a:xfrm>
          <a:prstGeom prst="roundRect">
            <a:avLst>
              <a:gd name="adj" fmla="val 598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Rules as data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Each state sets fees, validity and checklists without code changes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7322515" y="5148072"/>
            <a:ext cx="2181758" cy="1069848"/>
          </a:xfrm>
          <a:prstGeom prst="roundRect">
            <a:avLst>
              <a:gd name="adj" fmla="val 5982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Gemini copilot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Reads documents and nameplates, flags mismatches. Officer decides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9641433" y="5148072"/>
            <a:ext cx="2181758" cy="1069848"/>
          </a:xfrm>
          <a:prstGeom prst="roundRect">
            <a:avLst>
              <a:gd name="adj" fmla="val 5982"/>
            </a:avLst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Citizen as auditor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Any shopper can scan and report a bad scale in two taps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TULA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0" i="0">
                <a:solidFill>
                  <a:srgbClr val="1F3F6E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000" b="1" i="0">
                <a:solidFill>
                  <a:srgbClr val="1F3F6E"/>
                </a:solidFill>
                <a:latin typeface="Calibri"/>
              </a:rPr>
              <a:t>FriendlyFire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METHODOLOGY AND PROCESS FOR IMPLEMENTATION (architecture)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81328"/>
            <a:ext cx="1024128" cy="566928"/>
          </a:xfrm>
          <a:prstGeom prst="roundRect">
            <a:avLst>
              <a:gd name="adj" fmla="val 8064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2304288"/>
            <a:ext cx="1024128" cy="475488"/>
          </a:xfrm>
          <a:prstGeom prst="roundRect">
            <a:avLst>
              <a:gd name="adj" fmla="val 9615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3054096"/>
            <a:ext cx="1024128" cy="868680"/>
          </a:xfrm>
          <a:prstGeom prst="roundRect">
            <a:avLst>
              <a:gd name="adj" fmla="val 5263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4133087"/>
            <a:ext cx="1024128" cy="502920"/>
          </a:xfrm>
          <a:prstGeom prst="roundRect">
            <a:avLst>
              <a:gd name="adj" fmla="val 9090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1508760" y="1481328"/>
            <a:ext cx="1201521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Business / Trader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apply, pay, renew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820009" y="1481328"/>
            <a:ext cx="1201521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LMO field app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offline PWA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31259" y="1481328"/>
            <a:ext cx="1201521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GATC lab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test + certify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442508" y="1481328"/>
            <a:ext cx="1201521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Controller / Admin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dashboards, rules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753758" y="1481328"/>
            <a:ext cx="1201521" cy="566928"/>
          </a:xfrm>
          <a:prstGeom prst="roundRect">
            <a:avLst>
              <a:gd name="adj" fmla="val 9677"/>
            </a:avLst>
          </a:prstGeom>
          <a:solidFill>
            <a:srgbClr val="E6F4EC"/>
          </a:solidFill>
          <a:ln w="12700">
            <a:solidFill>
              <a:srgbClr val="1E7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Citizen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scan QR, no login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508760" y="2304288"/>
            <a:ext cx="5074920" cy="475488"/>
          </a:xfrm>
          <a:prstGeom prst="roundRect">
            <a:avLst>
              <a:gd name="adj" fmla="val 9615"/>
            </a:avLst>
          </a:prstGeom>
          <a:solidFill>
            <a:srgbClr val="E6EEF8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F3F6E"/>
                </a:solidFill>
                <a:latin typeface="Calibri"/>
              </a:rPr>
              <a:t>React PWA on Vercel  ·  Supabase Auth (phone OTP, e-Pramaan SSO later)  ·  role + district claims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693408" y="2304288"/>
            <a:ext cx="1261872" cy="475488"/>
          </a:xfrm>
          <a:prstGeom prst="roundRect">
            <a:avLst>
              <a:gd name="adj" fmla="val 9615"/>
            </a:avLst>
          </a:prstGeom>
          <a:solidFill>
            <a:srgbClr val="E6F4EC"/>
          </a:solidFill>
          <a:ln w="12700">
            <a:solidFill>
              <a:srgbClr val="1E7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E7B4A"/>
                </a:solidFill>
                <a:latin typeface="Calibri"/>
              </a:rPr>
              <a:t>/verify/:id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public, cached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508760" y="3054096"/>
            <a:ext cx="1529334" cy="86868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Rule engine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fee · validity · checklist per state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147822" y="3054096"/>
            <a:ext cx="1529334" cy="86868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Workflow state machine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submitted → scrutiny → assigned → certified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786883" y="3054096"/>
            <a:ext cx="1529334" cy="86868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Assignment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district + category → LMO / GATC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425946" y="3054096"/>
            <a:ext cx="1529334" cy="868680"/>
          </a:xfrm>
          <a:prstGeom prst="roundRect">
            <a:avLst>
              <a:gd name="adj" fmla="val 6315"/>
            </a:avLst>
          </a:prstGeom>
          <a:solidFill>
            <a:srgbClr val="F0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6B3FA0"/>
                </a:solidFill>
                <a:latin typeface="Calibri"/>
              </a:rPr>
              <a:t>Edge Functions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sign-certificate · gemini-proxy · expiry-cron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1508760" y="4133087"/>
            <a:ext cx="2075688" cy="502920"/>
          </a:xfrm>
          <a:prstGeom prst="roundRect">
            <a:avLst>
              <a:gd name="adj" fmla="val 9090"/>
            </a:avLst>
          </a:prstGeom>
          <a:solidFill>
            <a:srgbClr val="F1F4F8"/>
          </a:solidFill>
          <a:ln w="12700">
            <a:solidFill>
              <a:srgbClr val="1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F3F6E"/>
                </a:solidFill>
                <a:latin typeface="Calibri"/>
              </a:rPr>
              <a:t>Postgres + Row-Level Security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isolation by state / district / owner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694176" y="4133087"/>
            <a:ext cx="2075688" cy="502920"/>
          </a:xfrm>
          <a:prstGeom prst="roundRect">
            <a:avLst>
              <a:gd name="adj" fmla="val 9090"/>
            </a:avLst>
          </a:prstGeom>
          <a:solidFill>
            <a:srgbClr val="F1F4F8"/>
          </a:solidFill>
          <a:ln w="12700">
            <a:solidFill>
              <a:srgbClr val="1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F3F6E"/>
                </a:solidFill>
                <a:latin typeface="Calibri"/>
              </a:rPr>
              <a:t>Storage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photos, documents, certificate PDFs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879592" y="4133087"/>
            <a:ext cx="2075688" cy="502920"/>
          </a:xfrm>
          <a:prstGeom prst="roundRect">
            <a:avLst>
              <a:gd name="adj" fmla="val 9090"/>
            </a:avLst>
          </a:prstGeom>
          <a:solidFill>
            <a:srgbClr val="F1F4F8"/>
          </a:solidFill>
          <a:ln w="12700">
            <a:solidFill>
              <a:srgbClr val="1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F3F6E"/>
                </a:solidFill>
                <a:latin typeface="Calibri"/>
              </a:rPr>
              <a:t>Append-only audit log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who · what · when, incl. AI output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2109520" y="2057400"/>
            <a:ext cx="0" cy="237744"/>
          </a:xfrm>
          <a:prstGeom prst="line">
            <a:avLst/>
          </a:prstGeom>
          <a:ln w="19050">
            <a:solidFill>
              <a:srgbClr val="0070C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>
            <a:off x="4732020" y="2057400"/>
            <a:ext cx="0" cy="237744"/>
          </a:xfrm>
          <a:prstGeom prst="line">
            <a:avLst/>
          </a:prstGeom>
          <a:ln w="19050">
            <a:solidFill>
              <a:srgbClr val="0070C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Connector 17430"/>
          <p:cNvCxnSpPr/>
          <p:nvPr/>
        </p:nvCxnSpPr>
        <p:spPr>
          <a:xfrm>
            <a:off x="6043269" y="2057400"/>
            <a:ext cx="0" cy="237744"/>
          </a:xfrm>
          <a:prstGeom prst="line">
            <a:avLst/>
          </a:prstGeom>
          <a:ln w="19050">
            <a:solidFill>
              <a:srgbClr val="0070C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2" name="Connector 17431"/>
          <p:cNvCxnSpPr/>
          <p:nvPr/>
        </p:nvCxnSpPr>
        <p:spPr>
          <a:xfrm>
            <a:off x="7354519" y="2057400"/>
            <a:ext cx="0" cy="237744"/>
          </a:xfrm>
          <a:prstGeom prst="line">
            <a:avLst/>
          </a:prstGeom>
          <a:ln w="19050">
            <a:solidFill>
              <a:srgbClr val="1E7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3" name="Connector 17432"/>
          <p:cNvCxnSpPr/>
          <p:nvPr/>
        </p:nvCxnSpPr>
        <p:spPr>
          <a:xfrm>
            <a:off x="2273427" y="2788920"/>
            <a:ext cx="0" cy="256032"/>
          </a:xfrm>
          <a:prstGeom prst="line">
            <a:avLst/>
          </a:prstGeom>
          <a:ln w="19050">
            <a:solidFill>
              <a:srgbClr val="0070C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4" name="Connector 17433"/>
          <p:cNvCxnSpPr/>
          <p:nvPr/>
        </p:nvCxnSpPr>
        <p:spPr>
          <a:xfrm>
            <a:off x="3912488" y="2788920"/>
            <a:ext cx="0" cy="256032"/>
          </a:xfrm>
          <a:prstGeom prst="line">
            <a:avLst/>
          </a:prstGeom>
          <a:ln w="19050">
            <a:solidFill>
              <a:srgbClr val="0070C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Connector 17434"/>
          <p:cNvCxnSpPr/>
          <p:nvPr/>
        </p:nvCxnSpPr>
        <p:spPr>
          <a:xfrm>
            <a:off x="5551550" y="2788920"/>
            <a:ext cx="0" cy="256032"/>
          </a:xfrm>
          <a:prstGeom prst="line">
            <a:avLst/>
          </a:prstGeom>
          <a:ln w="19050">
            <a:solidFill>
              <a:srgbClr val="0070C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>
            <a:off x="7190613" y="2788920"/>
            <a:ext cx="0" cy="256032"/>
          </a:xfrm>
          <a:prstGeom prst="line">
            <a:avLst/>
          </a:prstGeom>
          <a:ln w="19050">
            <a:solidFill>
              <a:srgbClr val="6B3F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 17436"/>
          <p:cNvCxnSpPr/>
          <p:nvPr/>
        </p:nvCxnSpPr>
        <p:spPr>
          <a:xfrm>
            <a:off x="2546604" y="3931920"/>
            <a:ext cx="0" cy="192024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Connector 17437"/>
          <p:cNvCxnSpPr/>
          <p:nvPr/>
        </p:nvCxnSpPr>
        <p:spPr>
          <a:xfrm>
            <a:off x="4732020" y="3931920"/>
            <a:ext cx="0" cy="192024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9" name="Connector 17438"/>
          <p:cNvCxnSpPr/>
          <p:nvPr/>
        </p:nvCxnSpPr>
        <p:spPr>
          <a:xfrm>
            <a:off x="6917436" y="3931920"/>
            <a:ext cx="0" cy="192024"/>
          </a:xfrm>
          <a:prstGeom prst="line">
            <a:avLst/>
          </a:prstGeom>
          <a:ln w="19050">
            <a:solidFill>
              <a:srgbClr val="1F3F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TextBox 17439"/>
          <p:cNvSpPr txBox="1"/>
          <p:nvPr/>
        </p:nvSpPr>
        <p:spPr>
          <a:xfrm>
            <a:off x="365760" y="4736592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B3FA0"/>
                </a:solidFill>
                <a:latin typeface="Calibri"/>
              </a:rPr>
              <a:t>WHERE GEMINI FITS: advisory only, the officer always decides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65760" y="5010912"/>
            <a:ext cx="13935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Upload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application doc or nameplate photo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1768449" y="5340096"/>
            <a:ext cx="137160" cy="0"/>
          </a:xfrm>
          <a:prstGeom prst="line">
            <a:avLst/>
          </a:prstGeom>
          <a:ln w="19050">
            <a:solidFill>
              <a:srgbClr val="6B3F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1914753" y="5010912"/>
            <a:ext cx="1393545" cy="658368"/>
          </a:xfrm>
          <a:prstGeom prst="roundRect">
            <a:avLst>
              <a:gd name="adj" fmla="val 8333"/>
            </a:avLst>
          </a:prstGeom>
          <a:solidFill>
            <a:srgbClr val="F0EAF8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6B3FA0"/>
                </a:solidFill>
                <a:latin typeface="Calibri"/>
              </a:rPr>
              <a:t>Gemini reads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returns JSON: model approval no., serial, capacity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3317443" y="5340096"/>
            <a:ext cx="137160" cy="0"/>
          </a:xfrm>
          <a:prstGeom prst="line">
            <a:avLst/>
          </a:prstGeom>
          <a:ln w="19050">
            <a:solidFill>
              <a:srgbClr val="6B3F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3463747" y="5010912"/>
            <a:ext cx="13935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Rule engine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cross-checks form, fee, class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4866436" y="5340096"/>
            <a:ext cx="137160" cy="0"/>
          </a:xfrm>
          <a:prstGeom prst="line">
            <a:avLst/>
          </a:prstGeom>
          <a:ln w="19050">
            <a:solidFill>
              <a:srgbClr val="6B3F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Rounded Rectangle 17446"/>
          <p:cNvSpPr/>
          <p:nvPr/>
        </p:nvSpPr>
        <p:spPr>
          <a:xfrm>
            <a:off x="5012740" y="5010912"/>
            <a:ext cx="13935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Officer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accepts or rejects each flag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6415430" y="5340096"/>
            <a:ext cx="137160" cy="0"/>
          </a:xfrm>
          <a:prstGeom prst="line">
            <a:avLst/>
          </a:prstGeom>
          <a:ln w="19050">
            <a:solidFill>
              <a:srgbClr val="6B3F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9" name="Rounded Rectangle 17448"/>
          <p:cNvSpPr/>
          <p:nvPr/>
        </p:nvSpPr>
        <p:spPr>
          <a:xfrm>
            <a:off x="6561734" y="5010912"/>
            <a:ext cx="13935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1F3F6E"/>
                </a:solidFill>
                <a:latin typeface="Calibri"/>
              </a:rPr>
              <a:t>Audit log</a:t>
            </a:r>
          </a:p>
          <a:p>
            <a:pPr algn="ctr"/>
            <a:r>
              <a:rPr sz="850" b="0" i="0">
                <a:solidFill>
                  <a:srgbClr val="5B6573"/>
                </a:solidFill>
                <a:latin typeface="Calibri"/>
              </a:rPr>
              <a:t>stores output + model version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365760" y="5760720"/>
            <a:ext cx="7589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3FA0"/>
                </a:solidFill>
                <a:latin typeface="Calibri"/>
              </a:rPr>
              <a:t>Also: 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help chat in Hindi / Gujarati / English grounded on the Act and Rules · citizen complaint triage · plain-language pendency summaries for Controllers. </a:t>
            </a:r>
            <a:r>
              <a:rPr sz="950" b="1" i="0">
                <a:solidFill>
                  <a:srgbClr val="1F2937"/>
                </a:solidFill>
                <a:latin typeface="Calibri"/>
              </a:rPr>
              <a:t>Gemini never computes fees, MPE or pass/fail.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183879" y="1170432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8183879" y="1463040"/>
            <a:ext cx="3639312" cy="384048"/>
          </a:xfrm>
          <a:prstGeom prst="roundRect">
            <a:avLst>
              <a:gd name="adj" fmla="val 1190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F3F6E"/>
                </a:solidFill>
                <a:latin typeface="Calibri"/>
              </a:rPr>
              <a:t>React 19 · TypeScript · Vite · Tailwind</a:t>
            </a:r>
            <a:r>
              <a:rPr sz="850" b="0" i="0">
                <a:solidFill>
                  <a:srgbClr val="5B6573"/>
                </a:solidFill>
                <a:latin typeface="Calibri"/>
              </a:rPr>
              <a:t>   role-based UI, installable PWA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183879" y="1892808"/>
            <a:ext cx="3639312" cy="384048"/>
          </a:xfrm>
          <a:prstGeom prst="roundRect">
            <a:avLst>
              <a:gd name="adj" fmla="val 1190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F3F6E"/>
                </a:solidFill>
                <a:latin typeface="Calibri"/>
              </a:rPr>
              <a:t>Workbox service worker · IndexedDB</a:t>
            </a:r>
            <a:r>
              <a:rPr sz="850" b="0" i="0">
                <a:solidFill>
                  <a:srgbClr val="5B6573"/>
                </a:solidFill>
                <a:latin typeface="Calibri"/>
              </a:rPr>
              <a:t>   offline inspections, sync on reconnect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8183879" y="2322576"/>
            <a:ext cx="3639312" cy="384048"/>
          </a:xfrm>
          <a:prstGeom prst="roundRect">
            <a:avLst>
              <a:gd name="adj" fmla="val 1190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F3F6E"/>
                </a:solidFill>
                <a:latin typeface="Calibri"/>
              </a:rPr>
              <a:t>Supabase Postgres + RLS</a:t>
            </a:r>
            <a:r>
              <a:rPr sz="850" b="0" i="0">
                <a:solidFill>
                  <a:srgbClr val="5B6573"/>
                </a:solidFill>
                <a:latin typeface="Calibri"/>
              </a:rPr>
              <a:t>   one database, isolated per state / district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183879" y="2752344"/>
            <a:ext cx="3639312" cy="384048"/>
          </a:xfrm>
          <a:prstGeom prst="roundRect">
            <a:avLst>
              <a:gd name="adj" fmla="val 1190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F3F6E"/>
                </a:solidFill>
                <a:latin typeface="Calibri"/>
              </a:rPr>
              <a:t>Supabase Auth · Storage · Realtime · pg_cron</a:t>
            </a:r>
            <a:r>
              <a:rPr sz="850" b="0" i="0">
                <a:solidFill>
                  <a:srgbClr val="5B6573"/>
                </a:solidFill>
                <a:latin typeface="Calibri"/>
              </a:rPr>
              <a:t>   OTP login, files, live dashboards, daily expiry job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8183879" y="3182112"/>
            <a:ext cx="3639312" cy="384048"/>
          </a:xfrm>
          <a:prstGeom prst="roundRect">
            <a:avLst>
              <a:gd name="adj" fmla="val 1190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F3F6E"/>
                </a:solidFill>
                <a:latin typeface="Calibri"/>
              </a:rPr>
              <a:t>Supabase Edge Functions</a:t>
            </a:r>
            <a:r>
              <a:rPr sz="850" b="0" i="0">
                <a:solidFill>
                  <a:srgbClr val="5B6573"/>
                </a:solidFill>
                <a:latin typeface="Calibri"/>
              </a:rPr>
              <a:t>   keys stay server-side, signing, Gemini proxy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183879" y="3611879"/>
            <a:ext cx="3639312" cy="384048"/>
          </a:xfrm>
          <a:prstGeom prst="roundRect">
            <a:avLst>
              <a:gd name="adj" fmla="val 11904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6B3FA0"/>
                </a:solidFill>
                <a:latin typeface="Calibri"/>
              </a:rPr>
              <a:t>Google Gemini (Flash)</a:t>
            </a:r>
            <a:r>
              <a:rPr sz="850" b="0" i="0">
                <a:solidFill>
                  <a:srgbClr val="5B6573"/>
                </a:solidFill>
                <a:latin typeface="Calibri"/>
              </a:rPr>
              <a:t>   document + photo extraction, multilingual help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8183879" y="4041648"/>
            <a:ext cx="3639312" cy="384048"/>
          </a:xfrm>
          <a:prstGeom prst="roundRect">
            <a:avLst>
              <a:gd name="adj" fmla="val 1190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F3F6E"/>
                </a:solidFill>
                <a:latin typeface="Calibri"/>
              </a:rPr>
              <a:t>Ed25519 + SHA-256 + QR</a:t>
            </a:r>
            <a:r>
              <a:rPr sz="850" b="0" i="0">
                <a:solidFill>
                  <a:srgbClr val="5B6573"/>
                </a:solidFill>
                <a:latin typeface="Calibri"/>
              </a:rPr>
              <a:t>   certificate verifiable even offline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183879" y="4471416"/>
            <a:ext cx="3639312" cy="384048"/>
          </a:xfrm>
          <a:prstGeom prst="roundRect">
            <a:avLst>
              <a:gd name="adj" fmla="val 1190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F3F6E"/>
                </a:solidFill>
                <a:latin typeface="Calibri"/>
              </a:rPr>
              <a:t>jsPDF · Recharts · Vercel</a:t>
            </a:r>
            <a:r>
              <a:rPr sz="850" b="0" i="0">
                <a:solidFill>
                  <a:srgbClr val="5B6573"/>
                </a:solidFill>
                <a:latin typeface="Calibri"/>
              </a:rPr>
              <a:t>   certificate PDF, reports, hosting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183879" y="4974336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IMPLEMENTATION PHASES</a:t>
            </a:r>
          </a:p>
        </p:txBody>
      </p:sp>
      <p:sp>
        <p:nvSpPr>
          <p:cNvPr id="17461" name="Oval 17460"/>
          <p:cNvSpPr/>
          <p:nvPr/>
        </p:nvSpPr>
        <p:spPr>
          <a:xfrm>
            <a:off x="8183879" y="5266944"/>
            <a:ext cx="210312" cy="210312"/>
          </a:xfrm>
          <a:prstGeom prst="ellipse">
            <a:avLst/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8476488" y="5248656"/>
            <a:ext cx="33467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Prototype (live): 6 roles, full lifecycle</a:t>
            </a:r>
          </a:p>
        </p:txBody>
      </p:sp>
      <p:sp>
        <p:nvSpPr>
          <p:cNvPr id="17463" name="Oval 17462"/>
          <p:cNvSpPr/>
          <p:nvPr/>
        </p:nvSpPr>
        <p:spPr>
          <a:xfrm>
            <a:off x="8183879" y="5513831"/>
            <a:ext cx="210312" cy="2103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8476488" y="5495544"/>
            <a:ext cx="33467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Supabase backend, real auth, RLS</a:t>
            </a:r>
          </a:p>
        </p:txBody>
      </p:sp>
      <p:sp>
        <p:nvSpPr>
          <p:cNvPr id="17465" name="Oval 17464"/>
          <p:cNvSpPr/>
          <p:nvPr/>
        </p:nvSpPr>
        <p:spPr>
          <a:xfrm>
            <a:off x="8183879" y="5760720"/>
            <a:ext cx="210312" cy="210312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8476488" y="5742432"/>
            <a:ext cx="33467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Signed QR, offline PWA, Gemini copilot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8183879" y="6007608"/>
            <a:ext cx="210312" cy="210312"/>
          </a:xfrm>
          <a:prstGeom prst="ellipse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8476488" y="5989320"/>
            <a:ext cx="33467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One-district pilot → state rollout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TULA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0" i="0">
                <a:solidFill>
                  <a:srgbClr val="1F3F6E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000" b="1" i="0">
                <a:solidFill>
                  <a:srgbClr val="1F3F6E"/>
                </a:solidFill>
                <a:latin typeface="Calibri"/>
              </a:rPr>
              <a:t>FriendlyFire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ANALYSIS OF THE FEASIBILITY OF THE IDEA: PS requirements vs build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65760" y="1463040"/>
            <a:ext cx="2514600" cy="315468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PS requirement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2880360" y="1463040"/>
            <a:ext cx="2194560" cy="315468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Live prototype today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5074920" y="1463040"/>
            <a:ext cx="2057400" cy="315468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Pilot build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65760" y="1778508"/>
            <a:ext cx="25146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Stakeholder registration &amp; profiles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880360" y="1778508"/>
            <a:ext cx="219456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D9661F"/>
                </a:solidFill>
                <a:latin typeface="Calibri"/>
              </a:rPr>
              <a:t>◐ 6 demo roles, profile view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5074920" y="1778508"/>
            <a:ext cx="20574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Phone OTP, e-Pramaan SSO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65760" y="2093976"/>
            <a:ext cx="25146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Apply: verification / re-verification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880360" y="2093976"/>
            <a:ext cx="219456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E7B4A"/>
                </a:solidFill>
                <a:latin typeface="Calibri"/>
              </a:rPr>
              <a:t>✔ 4 service types, auto fee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5074920" y="2093976"/>
            <a:ext cx="2057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Treasury / PayGov payment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65760" y="2409444"/>
            <a:ext cx="25146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Scheduling &amp; allocation to LMO / GATC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2880360" y="2409444"/>
            <a:ext cx="219456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E7B4A"/>
                </a:solidFill>
                <a:latin typeface="Calibri"/>
              </a:rPr>
              <a:t>✔ slots, LMO or GATC route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5074920" y="2409444"/>
            <a:ext cx="20574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District-aware auto-assign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365760" y="2724912"/>
            <a:ext cx="25146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Inspection observations recorded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2880360" y="2724912"/>
            <a:ext cx="219456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E7B4A"/>
                </a:solidFill>
                <a:latin typeface="Calibri"/>
              </a:rPr>
              <a:t>✔ checklist + MPE table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5074920" y="2724912"/>
            <a:ext cx="2057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Readings mandatory, auto verdict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65760" y="3040380"/>
            <a:ext cx="25146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QR digital certificate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2880360" y="3040380"/>
            <a:ext cx="219456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E7B4A"/>
                </a:solidFill>
                <a:latin typeface="Calibri"/>
              </a:rPr>
              <a:t>✔ PDF + QR + SHA-256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5074920" y="3040380"/>
            <a:ext cx="20574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Ed25519-signed, any device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65760" y="3355848"/>
            <a:ext cx="25146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Validity tracking &amp; expiry alerts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2880360" y="3355848"/>
            <a:ext cx="219456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E7B4A"/>
                </a:solidFill>
                <a:latin typeface="Calibri"/>
              </a:rPr>
              <a:t>✔ status + in-app alerts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5074920" y="3355848"/>
            <a:ext cx="2057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Daily job → SMS / email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365760" y="3671316"/>
            <a:ext cx="25146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Dashboards: status, pendency, enforcement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2880360" y="3671316"/>
            <a:ext cx="219456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E7B4A"/>
                </a:solidFill>
                <a:latin typeface="Calibri"/>
              </a:rPr>
              <a:t>✔ per-role dashboards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5074920" y="3671316"/>
            <a:ext cx="20574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Realtime, state-wide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65760" y="3986783"/>
            <a:ext cx="25146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Photo &amp; document upload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2880360" y="3986783"/>
            <a:ext cx="219456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D9661F"/>
                </a:solidFill>
                <a:latin typeface="Calibri"/>
              </a:rPr>
              <a:t>◐ simulated attachments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5074920" y="3986783"/>
            <a:ext cx="2057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Supabase Storage + Gemini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365760" y="4302252"/>
            <a:ext cx="25146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Export / print certificates &amp; reports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2880360" y="4302252"/>
            <a:ext cx="219456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E7B4A"/>
                </a:solidFill>
                <a:latin typeface="Calibri"/>
              </a:rPr>
              <a:t>✔ PDF, print, CSV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5074920" y="4302252"/>
            <a:ext cx="2057400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Bulk export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365760" y="4617720"/>
            <a:ext cx="25146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Mobile app for field officers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2880360" y="4617720"/>
            <a:ext cx="219456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D9661F"/>
                </a:solidFill>
                <a:latin typeface="Calibri"/>
              </a:rPr>
              <a:t>◐ web, GPS, camera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5074920" y="4617720"/>
            <a:ext cx="2057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3F6E"/>
                </a:solidFill>
                <a:latin typeface="Calibri"/>
              </a:rPr>
              <a:t>Installable offline PWA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365760" y="4960620"/>
            <a:ext cx="6766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Calibri"/>
              </a:rPr>
              <a:t>✔ working   ◐ partial in prototype, completed in pilot build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365760" y="5230368"/>
            <a:ext cx="1602486" cy="987552"/>
          </a:xfrm>
          <a:prstGeom prst="roundRect">
            <a:avLst>
              <a:gd name="adj" fmla="val 5555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/>
            <a:r>
              <a:rPr sz="1100" b="1" i="0">
                <a:solidFill>
                  <a:srgbClr val="1E7B4A"/>
                </a:solidFill>
                <a:latin typeface="Calibri"/>
              </a:rPr>
              <a:t>Technical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Open-source stack. Prototype already runs the full lifecycle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2087118" y="5230368"/>
            <a:ext cx="1602486" cy="987552"/>
          </a:xfrm>
          <a:prstGeom prst="roundRect">
            <a:avLst>
              <a:gd name="adj" fmla="val 5555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/>
            <a:r>
              <a:rPr sz="1100" b="1" i="0">
                <a:solidFill>
                  <a:srgbClr val="1E7B4A"/>
                </a:solidFill>
                <a:latin typeface="Calibri"/>
              </a:rPr>
              <a:t>Operational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Mirrors today's LMO / GATC process. No new roles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3808476" y="5230368"/>
            <a:ext cx="1602486" cy="987552"/>
          </a:xfrm>
          <a:prstGeom prst="roundRect">
            <a:avLst>
              <a:gd name="adj" fmla="val 5555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/>
            <a:r>
              <a:rPr sz="1100" b="1" i="0">
                <a:solidFill>
                  <a:srgbClr val="1E7B4A"/>
                </a:solidFill>
                <a:latin typeface="Calibri"/>
              </a:rPr>
              <a:t>Economic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Free tiers cover a one-district pilot. No licence fees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5529834" y="5230368"/>
            <a:ext cx="1602486" cy="987552"/>
          </a:xfrm>
          <a:prstGeom prst="roundRect">
            <a:avLst>
              <a:gd name="adj" fmla="val 5555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/>
            <a:r>
              <a:rPr sz="1100" b="1" i="0">
                <a:solidFill>
                  <a:srgbClr val="1E7B4A"/>
                </a:solidFill>
                <a:latin typeface="Calibri"/>
              </a:rPr>
              <a:t>Legal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LM Act 2009, General Rules 2011, GATC Rules 2013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360920" y="1170432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POTENTIAL CHALLENGES AND RISKS  →  STRATEGIES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7360920" y="1463040"/>
            <a:ext cx="1783080" cy="420624"/>
          </a:xfrm>
          <a:prstGeom prst="rect">
            <a:avLst/>
          </a:prstGeom>
          <a:solidFill>
            <a:srgbClr val="FC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D9661F"/>
                </a:solidFill>
                <a:latin typeface="Calibri"/>
              </a:rPr>
              <a:t>Weak network at field sites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9144000" y="1463040"/>
            <a:ext cx="2679191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Offline queue in the PWA. Signed QR verifies without internet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7360920" y="1938528"/>
            <a:ext cx="1783080" cy="420624"/>
          </a:xfrm>
          <a:prstGeom prst="rect">
            <a:avLst/>
          </a:prstGeom>
          <a:solidFill>
            <a:srgbClr val="FC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D9661F"/>
                </a:solidFill>
                <a:latin typeface="Calibri"/>
              </a:rPr>
              <a:t>Fees and validity differ by state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9144000" y="1938528"/>
            <a:ext cx="2679191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Rules stored as data per state. No redeploy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7360920" y="2414016"/>
            <a:ext cx="1783080" cy="420624"/>
          </a:xfrm>
          <a:prstGeom prst="rect">
            <a:avLst/>
          </a:prstGeom>
          <a:solidFill>
            <a:srgbClr val="FC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D9661F"/>
                </a:solidFill>
                <a:latin typeface="Calibri"/>
              </a:rPr>
              <a:t>Forged or copied certificates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9144000" y="2414016"/>
            <a:ext cx="2679191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Ed25519 signature, public scan, revocation list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7360920" y="2889504"/>
            <a:ext cx="1783080" cy="420624"/>
          </a:xfrm>
          <a:prstGeom prst="rect">
            <a:avLst/>
          </a:prstGeom>
          <a:solidFill>
            <a:srgbClr val="FC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D9661F"/>
                </a:solidFill>
                <a:latin typeface="Calibri"/>
              </a:rPr>
              <a:t>AI misreads a document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9144000" y="2889504"/>
            <a:ext cx="2679191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Gemini only suggests. Officer confirms. Every output logged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7360920" y="3364992"/>
            <a:ext cx="1783080" cy="420624"/>
          </a:xfrm>
          <a:prstGeom prst="rect">
            <a:avLst/>
          </a:prstGeom>
          <a:solidFill>
            <a:srgbClr val="FC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D9661F"/>
                </a:solidFill>
                <a:latin typeface="Calibri"/>
              </a:rPr>
              <a:t>Personal data (DPDP Act 2023)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9144000" y="3364992"/>
            <a:ext cx="2679191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RLS, minimal public fields, keys never in the browser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7360920" y="3840480"/>
            <a:ext cx="1783080" cy="420624"/>
          </a:xfrm>
          <a:prstGeom prst="rect">
            <a:avLst/>
          </a:prstGeom>
          <a:solidFill>
            <a:srgbClr val="FC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D9661F"/>
                </a:solidFill>
                <a:latin typeface="Calibri"/>
              </a:rPr>
              <a:t>Officer adoption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9144000" y="3840480"/>
            <a:ext cx="2679191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Few-tap mobile flow, local languages, one-district pilot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7360920" y="4315968"/>
            <a:ext cx="1783080" cy="420624"/>
          </a:xfrm>
          <a:prstGeom prst="rect">
            <a:avLst/>
          </a:prstGeom>
          <a:solidFill>
            <a:srgbClr val="FC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1" i="0">
                <a:solidFill>
                  <a:srgbClr val="D9661F"/>
                </a:solidFill>
                <a:latin typeface="Calibri"/>
              </a:rPr>
              <a:t>Payment / SMS outage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9144000" y="4315968"/>
            <a:ext cx="2679191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Manual receipt entry + in-app alerts as fallback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7360920" y="4892040"/>
            <a:ext cx="4462272" cy="1325880"/>
          </a:xfrm>
          <a:prstGeom prst="roundRect">
            <a:avLst>
              <a:gd name="adj" fmla="val 5517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pic>
        <p:nvPicPr>
          <p:cNvPr id="17465" name="Picture 1746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4974336"/>
            <a:ext cx="1161288" cy="1161288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8778240" y="5001768"/>
            <a:ext cx="29535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3F6E"/>
                </a:solidFill>
                <a:latin typeface="Calibri"/>
              </a:rPr>
              <a:t>Try the live prototype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Scan to open TULA. Pick any of the 6 roles and run apply → inspect → certificate → verify.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70C0"/>
                </a:solidFill>
                <a:latin typeface="Calibri"/>
              </a:rPr>
              <a:t>tula-legal-metrology.vercel.app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TULA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0" i="0">
                <a:solidFill>
                  <a:srgbClr val="1F3F6E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000" b="1" i="0">
                <a:solidFill>
                  <a:srgbClr val="1F3F6E"/>
                </a:solidFill>
                <a:latin typeface="Calibri"/>
              </a:rPr>
              <a:t>FriendlyFire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63040"/>
            <a:ext cx="2727198" cy="1572768"/>
          </a:xfrm>
          <a:prstGeom prst="roundRect">
            <a:avLst>
              <a:gd name="adj" fmla="val 4651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554480"/>
            <a:ext cx="19042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070C0"/>
                </a:solidFill>
                <a:latin typeface="Calibri"/>
              </a:rPr>
              <a:t>LMOs &amp; GATCs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2489453" y="153619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pic>
        <p:nvPicPr>
          <p:cNvPr id="17414" name="Picture 174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037" y="1636776"/>
            <a:ext cx="256032" cy="25603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502920" y="1956816"/>
            <a:ext cx="249859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Daily queue sorted by district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Readings and photos on the phone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Certificate issued on site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75838" y="1463040"/>
            <a:ext cx="2727198" cy="1572768"/>
          </a:xfrm>
          <a:prstGeom prst="roundRect">
            <a:avLst>
              <a:gd name="adj" fmla="val 4651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3412998" y="1554480"/>
            <a:ext cx="19042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7B4A"/>
                </a:solidFill>
                <a:latin typeface="Calibri"/>
              </a:rPr>
              <a:t>Businesses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5399531" y="1536192"/>
            <a:ext cx="457200" cy="457200"/>
          </a:xfrm>
          <a:prstGeom prst="ellipse">
            <a:avLst/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116" y="1636776"/>
            <a:ext cx="256032" cy="25603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3412998" y="1956816"/>
            <a:ext cx="249859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Apply and pay without a visit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Live status of every application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Reminder before a stamp expires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85916" y="1463040"/>
            <a:ext cx="2727198" cy="1572768"/>
          </a:xfrm>
          <a:prstGeom prst="roundRect">
            <a:avLst>
              <a:gd name="adj" fmla="val 4651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323076" y="1554480"/>
            <a:ext cx="19042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9661F"/>
                </a:solidFill>
                <a:latin typeface="Calibri"/>
              </a:rPr>
              <a:t>Consumers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8309610" y="1536192"/>
            <a:ext cx="457200" cy="457200"/>
          </a:xfrm>
          <a:prstGeom prst="ellipse">
            <a:avLst/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pic>
        <p:nvPicPr>
          <p:cNvPr id="17424" name="Picture 174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194" y="1636776"/>
            <a:ext cx="256032" cy="256032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323076" y="1956816"/>
            <a:ext cx="249859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Scan any scale or pump QR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See if it is valid right now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Report a problem in two taps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095994" y="1463040"/>
            <a:ext cx="2727198" cy="1572768"/>
          </a:xfrm>
          <a:prstGeom prst="roundRect">
            <a:avLst>
              <a:gd name="adj" fmla="val 4651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9233154" y="1554480"/>
            <a:ext cx="19042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F6E"/>
                </a:solidFill>
                <a:latin typeface="Calibri"/>
              </a:rPr>
              <a:t>Government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11219688" y="1536192"/>
            <a:ext cx="457200" cy="457200"/>
          </a:xfrm>
          <a:prstGeom prst="ellipse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pic>
        <p:nvPicPr>
          <p:cNvPr id="17429" name="Picture 174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0272" y="1636776"/>
            <a:ext cx="256032" cy="256032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9233154" y="1956816"/>
            <a:ext cx="249859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Pendency by district, live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Every action in one audit trail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Enforcement cases tracked to closure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65760" y="31546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PILOT KPIs: targets we will measure against today's baseline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65760" y="3429000"/>
            <a:ext cx="2727198" cy="1005840"/>
          </a:xfrm>
          <a:prstGeom prst="roundRect">
            <a:avLst>
              <a:gd name="adj" fmla="val 7272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≤ 7 days</a:t>
            </a:r>
          </a:p>
          <a:p>
            <a:pPr algn="ctr"/>
            <a:r>
              <a:rPr sz="1000" b="0" i="0">
                <a:solidFill>
                  <a:srgbClr val="D6E2F0"/>
                </a:solidFill>
                <a:latin typeface="Calibri"/>
              </a:rPr>
              <a:t>application → certificate (median)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275838" y="3429000"/>
            <a:ext cx="2727198" cy="1005840"/>
          </a:xfrm>
          <a:prstGeom prst="roundRect">
            <a:avLst>
              <a:gd name="adj" fmla="val 7272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&lt; 3 sec</a:t>
            </a:r>
          </a:p>
          <a:p>
            <a:pPr algn="ctr"/>
            <a:r>
              <a:rPr sz="1000" b="0" i="0">
                <a:solidFill>
                  <a:srgbClr val="D6E2F0"/>
                </a:solidFill>
                <a:latin typeface="Calibri"/>
              </a:rPr>
              <a:t>certificate check by QR scan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185916" y="3429000"/>
            <a:ext cx="2727198" cy="1005840"/>
          </a:xfrm>
          <a:prstGeom prst="roundRect">
            <a:avLst>
              <a:gd name="adj" fmla="val 7272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100%</a:t>
            </a:r>
          </a:p>
          <a:p>
            <a:pPr algn="ctr"/>
            <a:r>
              <a:rPr sz="1000" b="0" i="0">
                <a:solidFill>
                  <a:srgbClr val="D6E2F0"/>
                </a:solidFill>
                <a:latin typeface="Calibri"/>
              </a:rPr>
              <a:t>due instruments reminded 30 days early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095994" y="3429000"/>
            <a:ext cx="2727198" cy="1005840"/>
          </a:xfrm>
          <a:prstGeom prst="roundRect">
            <a:avLst>
              <a:gd name="adj" fmla="val 7272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ctr"/>
            <a:r>
              <a:rPr sz="1000" b="0" i="0">
                <a:solidFill>
                  <a:srgbClr val="D6E2F0"/>
                </a:solidFill>
                <a:latin typeface="Calibri"/>
              </a:rPr>
              <a:t>paper certificates issued in pilot district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365760" y="45720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BENEFITS OF THE SOLUTION (SOCIAL, ECONOMIC, ENVIRONMENTAL, ETC.)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365760" y="484632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1508760" y="4846320"/>
            <a:ext cx="1584198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Fair weight at ration shops, fuel pumps and mandis. Shoppers can check for themselves.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275838" y="484632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418838" y="4846320"/>
            <a:ext cx="1584198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Less pendency, fewer office visits and faster renewals for traders and MSMEs.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6185916" y="484632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7328916" y="4846320"/>
            <a:ext cx="1584198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Paperless applications, certificates and records. Fewer trips to the office.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9095994" y="484632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10238994" y="4846320"/>
            <a:ext cx="1584198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Transparent, auditable trail from application to enforcement for every instrument.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TULA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0" i="0">
                <a:solidFill>
                  <a:srgbClr val="1F3F6E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000" b="1" i="0">
                <a:solidFill>
                  <a:srgbClr val="1F3F6E"/>
                </a:solidFill>
                <a:latin typeface="Calibri"/>
              </a:rPr>
              <a:t>FriendlyFire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F6E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868680" y="146304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B6573"/>
                </a:solidFill>
                <a:latin typeface="Calibri"/>
              </a:rPr>
              <a:t>RESEARCH FINDING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15968" y="146304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7B4A"/>
                </a:solidFill>
                <a:latin typeface="Calibri"/>
              </a:rPr>
              <a:t>DESIGN DECISION IN TULA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365760" y="1984248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68680" y="1755648"/>
            <a:ext cx="3154680" cy="777240"/>
          </a:xfrm>
          <a:prstGeom prst="roundRect">
            <a:avLst>
              <a:gd name="adj" fmla="val 705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Sec. 24 of the Act needs verification and stamping. GATC Rules 2013 add approved test centres as a second route.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4059936" y="2139696"/>
            <a:ext cx="219456" cy="0"/>
          </a:xfrm>
          <a:prstGeom prst="line">
            <a:avLst/>
          </a:prstGeom>
          <a:ln w="25400">
            <a:solidFill>
              <a:srgbClr val="1E7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315968" y="1755648"/>
            <a:ext cx="3017520" cy="777240"/>
          </a:xfrm>
          <a:prstGeom prst="roundRect">
            <a:avLst>
              <a:gd name="adj" fmla="val 7058"/>
            </a:avLst>
          </a:prstGeom>
          <a:solidFill>
            <a:srgbClr val="E6F4EC"/>
          </a:solidFill>
          <a:ln w="12700">
            <a:solidFill>
              <a:srgbClr val="1E7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E7B4A"/>
                </a:solidFill>
                <a:latin typeface="Calibri"/>
              </a:rPr>
              <a:t>One workflow for LMO and GATC, supervised by the Controller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365760" y="2871215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68680" y="2642615"/>
            <a:ext cx="3154680" cy="777240"/>
          </a:xfrm>
          <a:prstGeom prst="roundRect">
            <a:avLst>
              <a:gd name="adj" fmla="val 705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Fees and validity periods differ across State Enforcement Rules.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4059936" y="3026663"/>
            <a:ext cx="219456" cy="0"/>
          </a:xfrm>
          <a:prstGeom prst="line">
            <a:avLst/>
          </a:prstGeom>
          <a:ln w="25400">
            <a:solidFill>
              <a:srgbClr val="1E7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4315968" y="2642615"/>
            <a:ext cx="3017520" cy="777240"/>
          </a:xfrm>
          <a:prstGeom prst="roundRect">
            <a:avLst>
              <a:gd name="adj" fmla="val 7058"/>
            </a:avLst>
          </a:prstGeom>
          <a:solidFill>
            <a:srgbClr val="E6F4EC"/>
          </a:solidFill>
          <a:ln w="12700">
            <a:solidFill>
              <a:srgbClr val="1E7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E7B4A"/>
                </a:solidFill>
                <a:latin typeface="Calibri"/>
              </a:rPr>
              <a:t>Fee, validity and checklist stored as data per state + RLS</a:t>
            </a:r>
          </a:p>
        </p:txBody>
      </p:sp>
      <p:sp>
        <p:nvSpPr>
          <p:cNvPr id="17421" name="Oval 17420"/>
          <p:cNvSpPr/>
          <p:nvPr/>
        </p:nvSpPr>
        <p:spPr>
          <a:xfrm>
            <a:off x="365760" y="3758183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68680" y="3529584"/>
            <a:ext cx="3154680" cy="777240"/>
          </a:xfrm>
          <a:prstGeom prst="roundRect">
            <a:avLst>
              <a:gd name="adj" fmla="val 705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Instruments are re-verified every 1–2 years for their whole working life.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059936" y="3913632"/>
            <a:ext cx="219456" cy="0"/>
          </a:xfrm>
          <a:prstGeom prst="line">
            <a:avLst/>
          </a:prstGeom>
          <a:ln w="25400">
            <a:solidFill>
              <a:srgbClr val="1E7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4315968" y="3529584"/>
            <a:ext cx="3017520" cy="777240"/>
          </a:xfrm>
          <a:prstGeom prst="roundRect">
            <a:avLst>
              <a:gd name="adj" fmla="val 7058"/>
            </a:avLst>
          </a:prstGeom>
          <a:solidFill>
            <a:srgbClr val="E6F4EC"/>
          </a:solidFill>
          <a:ln w="12700">
            <a:solidFill>
              <a:srgbClr val="1E7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E7B4A"/>
                </a:solidFill>
                <a:latin typeface="Calibri"/>
              </a:rPr>
              <a:t>Permanent Digital ID with full history and expiry alerts</a:t>
            </a:r>
          </a:p>
        </p:txBody>
      </p:sp>
      <p:sp>
        <p:nvSpPr>
          <p:cNvPr id="17425" name="Oval 17424"/>
          <p:cNvSpPr/>
          <p:nvPr/>
        </p:nvSpPr>
        <p:spPr>
          <a:xfrm>
            <a:off x="365760" y="464515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68680" y="4416552"/>
            <a:ext cx="3154680" cy="777240"/>
          </a:xfrm>
          <a:prstGeom prst="roundRect">
            <a:avLst>
              <a:gd name="adj" fmla="val 705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MPE limits come from OIML R 76 (scales) and R 117 (fuel dispensers), adopted in the Rules.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4059936" y="4800600"/>
            <a:ext cx="219456" cy="0"/>
          </a:xfrm>
          <a:prstGeom prst="line">
            <a:avLst/>
          </a:prstGeom>
          <a:ln w="25400">
            <a:solidFill>
              <a:srgbClr val="1E7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4315968" y="4416552"/>
            <a:ext cx="3017520" cy="777240"/>
          </a:xfrm>
          <a:prstGeom prst="roundRect">
            <a:avLst>
              <a:gd name="adj" fmla="val 7058"/>
            </a:avLst>
          </a:prstGeom>
          <a:solidFill>
            <a:srgbClr val="E6F4EC"/>
          </a:solidFill>
          <a:ln w="12700">
            <a:solidFill>
              <a:srgbClr val="1E7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E7B4A"/>
                </a:solidFill>
                <a:latin typeface="Calibri"/>
              </a:rPr>
              <a:t>Pass / fail computed from recorded readings vs class MPE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365760" y="553212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68680" y="5303520"/>
            <a:ext cx="3154680" cy="777240"/>
          </a:xfrm>
          <a:prstGeom prst="roundRect">
            <a:avLst>
              <a:gd name="adj" fmla="val 705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 shopper cannot tell a genuine stamp from a fake one.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4059936" y="5687568"/>
            <a:ext cx="219456" cy="0"/>
          </a:xfrm>
          <a:prstGeom prst="line">
            <a:avLst/>
          </a:prstGeom>
          <a:ln w="25400">
            <a:solidFill>
              <a:srgbClr val="1E7B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4315968" y="5303520"/>
            <a:ext cx="3017520" cy="777240"/>
          </a:xfrm>
          <a:prstGeom prst="roundRect">
            <a:avLst>
              <a:gd name="adj" fmla="val 7058"/>
            </a:avLst>
          </a:prstGeom>
          <a:solidFill>
            <a:srgbClr val="E6F4EC"/>
          </a:solidFill>
          <a:ln w="12700">
            <a:solidFill>
              <a:srgbClr val="1E7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 i="0">
                <a:solidFill>
                  <a:srgbClr val="1E7B4A"/>
                </a:solidFill>
                <a:latin typeface="Calibri"/>
              </a:rPr>
              <a:t>Signed QR anyone can scan without login, plus complaint button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589520" y="1463040"/>
            <a:ext cx="4233672" cy="4754880"/>
          </a:xfrm>
          <a:prstGeom prst="roundRect">
            <a:avLst>
              <a:gd name="adj" fmla="val 129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726680" y="1536192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70C0"/>
                </a:solidFill>
                <a:latin typeface="Calibri"/>
              </a:rPr>
              <a:t>References &amp; Links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726680" y="1901952"/>
            <a:ext cx="3959352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1.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The Legal Metrology Act, 2009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 · consumeraffairs.gov.in/pages/legal-metrology-act</a:t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2.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Legal Metrology (General) Rules, 2011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 &amp; amendments</a:t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3.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Legal Metrology (Government Approved Test Centre) Rules, 2013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 &amp; amendments</a:t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4.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State Legal Metrology (Enforcement) Rules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5.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OIML R 76-1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 Non-automatic weighing instruments · oiml.org</a:t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6.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OIML R 117-1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 Dynamic measuring systems for liquids other than water</a:t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7.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IT Act, 2000 &amp; DPDP Act, 2023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 electronic records, signatures, personal data</a:t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8.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Supabase docs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 Row Level Security, Edge Functions · supabase.com/docs</a:t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9.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Google Gemini API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 structured JSON output · ai.google.dev</a:t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10.  </a:t>
            </a:r>
            <a:r>
              <a:rPr sz="1100" b="1" i="0">
                <a:solidFill>
                  <a:srgbClr val="1F3F6E"/>
                </a:solidFill>
                <a:latin typeface="Calibri"/>
              </a:rPr>
              <a:t>Working prototype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 tula-legal-metrology.vercel.app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